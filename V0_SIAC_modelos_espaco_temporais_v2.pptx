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original fornecido pelo usuário: V0_SIAC (1).pptx.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original fornecido pelo usuário: V0_SIAC (1).pptx.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original fornecido pelo usuário: V0_SIAC (1).pptx.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conceitual baseado no artigo SpaceTime2026(2).pdf e na estrutura de apresentação fornecida pelo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Estrutura do SP-NB e interpretação de dependência dinâmica baseada em SpaceTime2026(2).pdf.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Fórmula e decomposição baseada na especificação SP-NB do artigo SpaceTime2026(2).pdf.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 e variáveis conforme construção definida na conversa e no arquivo base_tratada_v3.csv.
- Estrutura de risk groups e agregação espacial inspiradas no artigo SpaceTime2026(2).pdf.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Métricas de comparação alinhadas ao artigo SpaceTime2026(2).pdf e ao R Markdown preparado para os três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0_SIAC (1)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0_SIAC (1)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0_SIAC (1)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778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mudança no perfil de risco desafia modelos baseados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predominantemente no histórico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893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0" name="Image 0" descr="/mnt/data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4" y="6272784"/>
            <a:ext cx="384048" cy="30175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6928" y="941832"/>
            <a:ext cx="95554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1200" b="1">
                <a:solidFill>
                  <a:srgbClr val="145F74"/>
                </a:solidFill>
                <a:latin typeface="Arial"/>
              </a:rPr>
              <a:t>Modelos tradicionais estimam frequência a partir de exposição, covariáveis e histórico — mas tratam espaço e tempo de forma limitada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417320"/>
            <a:ext cx="3090672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" y="1536192"/>
            <a:ext cx="287121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1100" b="1">
                <a:solidFill>
                  <a:srgbClr val="145F74"/>
                </a:solidFill>
                <a:latin typeface="Arial"/>
              </a:rPr>
              <a:t>GLM / Negative Binomial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1984248"/>
            <a:ext cx="2871215" cy="713232"/>
          </a:xfrm>
          <a:prstGeom prst="roundRect">
            <a:avLst/>
          </a:prstGeom>
          <a:solidFill>
            <a:srgbClr val="EBF6F9"/>
          </a:solidFill>
          <a:ln w="8890">
            <a:solidFill>
              <a:srgbClr val="C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83740"/>
                </a:solidFill>
                <a:latin typeface="Cambria Math"/>
              </a:rPr>
              <a:t>Yᵢ,ₜ ~ NB(λᵢ,ₜ, φ)
λᵢ,ₜ = Eᵢ,ₜ · exp(βᵀXᵢ,ₜ)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2834640"/>
            <a:ext cx="2871215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30" b="0">
                <a:solidFill>
                  <a:srgbClr val="183740"/>
                </a:solidFill>
                <a:latin typeface="Arial"/>
              </a:rPr>
              <a:t>Captura: exposição e rating factors do risco.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" y="3410712"/>
            <a:ext cx="2871215" cy="9144"/>
          </a:xfrm>
          <a:prstGeom prst="rect">
            <a:avLst/>
          </a:prstGeom>
          <a:solidFill>
            <a:srgbClr val="CD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6656" y="3520439"/>
            <a:ext cx="2871215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10" b="0">
                <a:solidFill>
                  <a:srgbClr val="183740"/>
                </a:solidFill>
                <a:latin typeface="Arial"/>
              </a:rPr>
              <a:t>Onde perde sinal: Falta: não usa vizinhança A nem shocks recentes; regiões ficam condicionalmente independentes.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1417320"/>
            <a:ext cx="3090672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95928" y="1536192"/>
            <a:ext cx="287121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1100" b="1">
                <a:solidFill>
                  <a:srgbClr val="145F74"/>
                </a:solidFill>
                <a:latin typeface="Arial"/>
              </a:rPr>
              <a:t>Credibilidade / experience rating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95928" y="1984248"/>
            <a:ext cx="2871215" cy="713232"/>
          </a:xfrm>
          <a:prstGeom prst="roundRect">
            <a:avLst/>
          </a:prstGeom>
          <a:solidFill>
            <a:srgbClr val="EBF6F9"/>
          </a:solidFill>
          <a:ln w="8890">
            <a:solidFill>
              <a:srgbClr val="C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83740"/>
                </a:solidFill>
                <a:latin typeface="Cambria Math"/>
              </a:rPr>
              <a:t>λ̂ᵢ,ₜ = (1−Z)·λ̂ tarifa + Z·(Yᵢ,≤ₜ / Eᵢ,≤ₜ)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95928" y="2834640"/>
            <a:ext cx="2871215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30" b="0">
                <a:solidFill>
                  <a:srgbClr val="183740"/>
                </a:solidFill>
                <a:latin typeface="Arial"/>
              </a:rPr>
              <a:t>Captura: experiência própria do risco ou carteira.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3410712"/>
            <a:ext cx="2871215" cy="9144"/>
          </a:xfrm>
          <a:prstGeom prst="rect">
            <a:avLst/>
          </a:prstGeom>
          <a:solidFill>
            <a:srgbClr val="CD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95928" y="3520439"/>
            <a:ext cx="2871215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10" b="0">
                <a:solidFill>
                  <a:srgbClr val="183740"/>
                </a:solidFill>
                <a:latin typeface="Arial"/>
              </a:rPr>
              <a:t>Onde perde sinal: Falta: reage depois do evento; depende fortemente do histórico recente.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05472" y="1417320"/>
            <a:ext cx="3090672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1536192"/>
            <a:ext cx="287121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1100" b="1">
                <a:solidFill>
                  <a:srgbClr val="145F74"/>
                </a:solidFill>
                <a:latin typeface="Arial"/>
              </a:rPr>
              <a:t>Cat models / mapas estáticos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984248"/>
            <a:ext cx="2871215" cy="713232"/>
          </a:xfrm>
          <a:prstGeom prst="roundRect">
            <a:avLst/>
          </a:prstGeom>
          <a:solidFill>
            <a:srgbClr val="EBF6F9"/>
          </a:solidFill>
          <a:ln w="8890">
            <a:solidFill>
              <a:srgbClr val="C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83740"/>
                </a:solidFill>
                <a:latin typeface="Cambria Math"/>
              </a:rPr>
              <a:t>λₛ = f(Hₛ × Expₛ × Vulnₛ)
Perda = Σc p_c · dano_c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834640"/>
            <a:ext cx="2871215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30" b="0">
                <a:solidFill>
                  <a:srgbClr val="183740"/>
                </a:solidFill>
                <a:latin typeface="Arial"/>
              </a:rPr>
              <a:t>Captura: hazard, exposição e vulnerabilidade por local/cenário.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410712"/>
            <a:ext cx="2871215" cy="9144"/>
          </a:xfrm>
          <a:prstGeom prst="rect">
            <a:avLst/>
          </a:prstGeom>
          <a:solidFill>
            <a:srgbClr val="CD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3520439"/>
            <a:ext cx="2871215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/>
            <a:r>
              <a:rPr sz="910" b="0">
                <a:solidFill>
                  <a:srgbClr val="183740"/>
                </a:solidFill>
                <a:latin typeface="Arial"/>
              </a:rPr>
              <a:t>Onde perde sinal: Falta: mapas podem ser estáticos; não aprendem propagação dinâmica entre vizinhos.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663440"/>
            <a:ext cx="9555480" cy="292608"/>
          </a:xfrm>
          <a:prstGeom prst="rect">
            <a:avLst/>
          </a:prstGeom>
          <a:solidFill>
            <a:srgbClr val="14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Limitação comum quando o clima muda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974336"/>
            <a:ext cx="9555480" cy="868680"/>
          </a:xfrm>
          <a:prstGeom prst="rect">
            <a:avLst/>
          </a:prstGeom>
          <a:solidFill>
            <a:srgbClr val="E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73152"/>
          <a:lstStyle/>
          <a:p>
            <a:pPr algn="ctr"/>
            <a:r>
              <a:rPr sz="1200" b="1">
                <a:solidFill>
                  <a:srgbClr val="183740"/>
                </a:solidFill>
                <a:latin typeface="Arial"/>
              </a:rPr>
              <a:t>O sinal relevante passa a combinar: </a:t>
            </a:r>
            <a:r>
              <a:rPr sz="1200" b="1">
                <a:solidFill>
                  <a:srgbClr val="183740"/>
                </a:solidFill>
                <a:latin typeface="Arial"/>
              </a:rPr>
              <a:t>condições climáticas atuais + perfil segurado + dependência temporal + propagação espacial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145F74"/>
                </a:solidFill>
                <a:latin typeface="Cambria Math"/>
              </a:rPr>
              <a:t>Por isso o estudo testa λ = E × [ exp(βᵀX) + ψg·(AȲₜ₋₁)g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778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espaço-temporais permitem incorporar simultaneamente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 quando o risco ocorre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3504" y="10515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268"/>
                </a:solidFill>
              </a:rPr>
              <a:t>A frequência esperada passa a depender de três camadas de informação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28216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0392" y="2084832"/>
            <a:ext cx="223113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grade ou região onde o risco está localizado.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adjacência define quem é vizinho de quem.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584448" y="1572768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728216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2084832"/>
            <a:ext cx="223113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mês atual e o mês anterior.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recentes nos vizinhos podem carregar sinal para o período seguinte.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483096" y="1572768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28216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características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47688" y="2084832"/>
            <a:ext cx="223113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Exposição, perfil do imóvel e variáveis climáticas do grid.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não depende apenas de localização.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46120" y="2240280"/>
            <a:ext cx="320040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44768" y="2240280"/>
            <a:ext cx="320040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176D88"/>
          </a:solidFill>
          <a:ln w="12700">
            <a:solidFill>
              <a:srgbClr val="176D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776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Sinistros esperados = exposição × [risco próprio + efeito espaço-temporal]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074920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11111"/>
                </a:solidFill>
              </a:rPr>
              <a:t>A pergunta deixa de ser apenas “quanto aconteceu aqui?” e passa a ser “o que aconteceu aqui, nos vizinhos e no mês anterior?”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59893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9" name="Image 0" descr="/mnt/data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4" y="6272784"/>
            <a:ext cx="384048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778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combina dependências temporais, geográficas e variáveis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climáticas para estimar sinistros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5138928" cy="1234440"/>
          </a:xfrm>
          <a:prstGeom prst="roundRect">
            <a:avLst>
              <a:gd name="adj" fmla="val 4444"/>
            </a:avLst>
          </a:prstGeom>
          <a:solidFill>
            <a:srgbClr val="DDEBF0"/>
          </a:solidFill>
          <a:ln w="12700">
            <a:solidFill>
              <a:srgbClr val="DDEB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55448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λᵣ,₍g,t₎ = Eᵣ,₍g,t₎ × [ exp(βᵀXᵣ,₍g,t₎) + ψg · (AȲₜ₋₁)g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D6DDE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944368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Risco próprio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300984"/>
            <a:ext cx="2002536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exp(βᵀX) combina: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chuva atual e defasada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dias extremos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perfil do imóvel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exposição segurada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108960" y="2788920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D6DDE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2944368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Shock passado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73552" y="3300984"/>
            <a:ext cx="2002536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Ȳg,t = 1 quando a contagem agregada de sinistros do grid excede o threshold esperado pela exposição.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650992" y="2788920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D6DDE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15584" y="2944368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Efeito dos vizinhos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15584" y="3300984"/>
            <a:ext cx="2002536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AȲₜ₋₁ soma quantos vizinhos tiveram shock no mês anterior.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ψg mede o quanto isso importa para o grid g.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719072" y="2606040"/>
            <a:ext cx="0" cy="228600"/>
          </a:xfrm>
          <a:prstGeom prst="line">
            <a:avLst/>
          </a:prstGeom>
          <a:noFill/>
          <a:ln w="17780">
            <a:solidFill>
              <a:srgbClr val="0E52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70248" y="2606040"/>
            <a:ext cx="0" cy="228600"/>
          </a:xfrm>
          <a:prstGeom prst="line">
            <a:avLst/>
          </a:prstGeom>
          <a:noFill/>
          <a:ln w="17780">
            <a:solidFill>
              <a:srgbClr val="0E52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2606040"/>
            <a:ext cx="0" cy="228600"/>
          </a:xfrm>
          <a:prstGeom prst="line">
            <a:avLst/>
          </a:prstGeom>
          <a:noFill/>
          <a:ln w="17780">
            <a:solidFill>
              <a:srgbClr val="0E526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13648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5268"/>
                </a:solidFill>
              </a:rPr>
              <a:t>Rook vs. Queen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58784" y="1645920"/>
            <a:ext cx="292608" cy="292608"/>
          </a:xfrm>
          <a:prstGeom prst="rect">
            <a:avLst/>
          </a:prstGeom>
          <a:solidFill>
            <a:srgbClr val="DDEB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645920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1645920"/>
            <a:ext cx="292608" cy="292608"/>
          </a:xfrm>
          <a:prstGeom prst="rect">
            <a:avLst/>
          </a:prstGeom>
          <a:solidFill>
            <a:srgbClr val="DDEB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58784" y="1956816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1956816"/>
            <a:ext cx="292608" cy="292608"/>
          </a:xfrm>
          <a:prstGeom prst="rect">
            <a:avLst/>
          </a:prstGeom>
          <a:solidFill>
            <a:srgbClr val="0E526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1956816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58784" y="2267712"/>
            <a:ext cx="292608" cy="292608"/>
          </a:xfrm>
          <a:prstGeom prst="rect">
            <a:avLst/>
          </a:prstGeom>
          <a:solidFill>
            <a:srgbClr val="DDEB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2267712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0576" y="2267712"/>
            <a:ext cx="292608" cy="292608"/>
          </a:xfrm>
          <a:prstGeom prst="rect">
            <a:avLst/>
          </a:prstGeom>
          <a:solidFill>
            <a:srgbClr val="DDEB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1645920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86416" y="1645920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97312" y="1645920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956816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6416" y="1956816"/>
            <a:ext cx="292608" cy="292608"/>
          </a:xfrm>
          <a:prstGeom prst="rect">
            <a:avLst/>
          </a:prstGeom>
          <a:solidFill>
            <a:srgbClr val="0E526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97312" y="1956816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2267712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6416" y="2267712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7312" y="2267712"/>
            <a:ext cx="292608" cy="292608"/>
          </a:xfrm>
          <a:prstGeom prst="rect">
            <a:avLst/>
          </a:prstGeom>
          <a:solidFill>
            <a:srgbClr val="8FB5C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2724912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</a:rPr>
              <a:t>Rook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</a:rPr>
              <a:t>lados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692640" y="27249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</a:rPr>
              <a:t>Queen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</a:rPr>
              <a:t>lados + diagonais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366760" y="3703320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0E5268"/>
          </a:solidFill>
          <a:ln w="12700">
            <a:solidFill>
              <a:srgbClr val="0E52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3904488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Comparação no estudo: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NB vs. SP-NB Rook vs. SP-NB Queen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59893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41" name="Image 0" descr="/mnt/data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4" y="6272784"/>
            <a:ext cx="384048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778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Aplicamos a abordagem ao município de Taquari (RS) para avaliar seu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previsão de sinistros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268"/>
                </a:solidFill>
              </a:rPr>
              <a:t>Construção da base sintética em formato risk group × grid × mês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0992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CHIRPS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2066544"/>
            <a:ext cx="15453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grades × 300 meses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precipitação mensal, máxima diária e dias extremos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551176" y="2034540"/>
            <a:ext cx="173736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5544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5224" y="170992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35224" y="2066544"/>
            <a:ext cx="15453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15.000 domicílios segurados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distribuídos entre as grades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681728" y="2034540"/>
            <a:ext cx="173736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01184" y="15544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170992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groups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65776" y="2066544"/>
            <a:ext cx="15453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grupos: pisos × qualidade × idade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= nº de casas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812280" y="2034540"/>
            <a:ext cx="173736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31736" y="15544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170992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96328" y="2066544"/>
            <a:ext cx="15453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simulado via Negative Binomial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sequencialmente no tempo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942832" y="2034540"/>
            <a:ext cx="173736" cy="0"/>
          </a:xfrm>
          <a:prstGeom prst="line">
            <a:avLst/>
          </a:prstGeom>
          <a:noFill/>
          <a:ln w="20320">
            <a:solidFill>
              <a:srgbClr val="0E526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62288" y="15544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DDEBF0"/>
          </a:solidFill>
          <a:ln w="11430">
            <a:solidFill>
              <a:srgbClr val="D6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70992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5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lag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0" y="2066544"/>
            <a:ext cx="15453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Ȳ agregado por grid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AȲ(t-1) com Rook e Queen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10012680" cy="329184"/>
          </a:xfrm>
          <a:prstGeom prst="rect">
            <a:avLst/>
          </a:prstGeom>
          <a:solidFill>
            <a:srgbClr val="0E5268"/>
          </a:solidFill>
          <a:ln w="12700">
            <a:solidFill>
              <a:srgbClr val="0E52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4612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Estrutura final da base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1828800" cy="1207008"/>
          </a:xfrm>
          <a:prstGeom prst="roundRect">
            <a:avLst>
              <a:gd name="adj" fmla="val 3788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770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5268"/>
                </a:solidFill>
              </a:rPr>
              <a:t>Identificação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49808" y="418795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risk_group_id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id_celula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ano / mês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2642616" y="3749040"/>
            <a:ext cx="1828800" cy="1207008"/>
          </a:xfrm>
          <a:prstGeom prst="roundRect">
            <a:avLst>
              <a:gd name="adj" fmla="val 3788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8770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5268"/>
                </a:solidFill>
              </a:rPr>
              <a:t>Exposição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2752344" y="418795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nº de domicílios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segurados no grupo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645152" y="3749040"/>
            <a:ext cx="1828800" cy="1207008"/>
          </a:xfrm>
          <a:prstGeom prst="roundRect">
            <a:avLst>
              <a:gd name="adj" fmla="val 3788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770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5268"/>
                </a:solidFill>
              </a:rPr>
              <a:t>Perfil do risco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4754880" y="418795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pisos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qualidade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faixa de idade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6647688" y="3749040"/>
            <a:ext cx="1828800" cy="1207008"/>
          </a:xfrm>
          <a:prstGeom prst="roundRect">
            <a:avLst>
              <a:gd name="adj" fmla="val 3788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8770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5268"/>
                </a:solidFill>
              </a:rPr>
              <a:t>Clima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6757416" y="418795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chuva atual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chuva t-1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dias extremos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8650224" y="3749040"/>
            <a:ext cx="1828800" cy="1207008"/>
          </a:xfrm>
          <a:prstGeom prst="roundRect">
            <a:avLst>
              <a:gd name="adj" fmla="val 3788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59952" y="38770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5268"/>
                </a:solidFill>
              </a:rPr>
              <a:t>Resposta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8759952" y="418795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sinistros simulados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Yᵣ,₍g,t₎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914400" y="535838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Por que risk groups? Mantém a lógica de rating factors do artigo sem criar milhões de linhas de apólice-mês.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893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42" name="Image 0" descr="/mnt/data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4" y="6272784"/>
            <a:ext cx="384048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778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 três especificações para medir o ganho do componente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espaço-temporal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268"/>
                </a:solidFill>
              </a:rPr>
              <a:t>A diferença entre Rook e Queen está apenas na matriz de vizinhança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9784080" cy="347472"/>
          </a:xfrm>
          <a:prstGeom prst="rect">
            <a:avLst/>
          </a:prstGeom>
          <a:solidFill>
            <a:srgbClr val="0E5268"/>
          </a:solidFill>
          <a:ln w="12700">
            <a:solidFill>
              <a:srgbClr val="0E52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134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60320" y="1641348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Componente próprio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0" y="1641348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Componente espacial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1641348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Pergunta que responde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883664"/>
            <a:ext cx="9784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482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NB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560320" y="20482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exp(βᵀX)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303520" y="20482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Não usa A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772400" y="20482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Clima e perfil do imóvel já explicam a frequência?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58368" y="2542032"/>
            <a:ext cx="9784080" cy="658368"/>
          </a:xfrm>
          <a:prstGeom prst="rect">
            <a:avLst/>
          </a:prstGeom>
          <a:solidFill>
            <a:srgbClr val="DDEBF0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066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SP-NB Rook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exp(βᵀX)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303520" y="270662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ψg·(ArookȲt-1)g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7772400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Vizinhos por lado acrescentam sinal?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58368" y="3200400"/>
            <a:ext cx="9784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649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SP-NB Queen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60320" y="33649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exp(βᵀX)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303520" y="33649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ψg·(AqueenȲt-1)g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772400" y="33649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</a:rPr>
              <a:t>Diagonais também carregam dependência espacial?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58368" y="4160520"/>
            <a:ext cx="9784080" cy="256032"/>
          </a:xfrm>
          <a:prstGeom prst="rect">
            <a:avLst/>
          </a:prstGeom>
          <a:solidFill>
            <a:srgbClr val="0E5268"/>
          </a:solidFill>
          <a:ln w="12700">
            <a:solidFill>
              <a:srgbClr val="0E52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29100"/>
            <a:ext cx="9601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que o HTML deve trazer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4672" y="4617720"/>
            <a:ext cx="2084832" cy="804672"/>
          </a:xfrm>
          <a:prstGeom prst="roundRect">
            <a:avLst>
              <a:gd name="adj" fmla="val 5682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548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5268"/>
                </a:solidFill>
              </a:rPr>
              <a:t>Ajuste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914400" y="50109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11111"/>
                </a:solidFill>
              </a:rPr>
              <a:t>logLik, -2logLik, AIC, BIC, balance R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163824" y="4617720"/>
            <a:ext cx="2084832" cy="804672"/>
          </a:xfrm>
          <a:prstGeom prst="roundRect">
            <a:avLst>
              <a:gd name="adj" fmla="val 5682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47548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5268"/>
                </a:solidFill>
              </a:rPr>
              <a:t>Previsão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3273552" y="50109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11111"/>
                </a:solidFill>
              </a:rPr>
              <a:t>MAE, RMSE, log-score e Brier no teste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5522976" y="4617720"/>
            <a:ext cx="2084832" cy="804672"/>
          </a:xfrm>
          <a:prstGeom prst="roundRect">
            <a:avLst>
              <a:gd name="adj" fmla="val 5682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47548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5268"/>
                </a:solidFill>
              </a:rPr>
              <a:t>Interpretação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632704" y="50109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11111"/>
                </a:solidFill>
              </a:rPr>
              <a:t>β dos fatores de risco, φ global e ψg por grid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7882128" y="4617720"/>
            <a:ext cx="2084832" cy="804672"/>
          </a:xfrm>
          <a:prstGeom prst="roundRect">
            <a:avLst>
              <a:gd name="adj" fmla="val 5682"/>
            </a:avLst>
          </a:prstGeom>
          <a:solidFill>
            <a:srgbClr val="F1F4F6"/>
          </a:solidFill>
          <a:ln w="12700">
            <a:solidFill>
              <a:srgbClr val="D6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91856" y="47548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5268"/>
                </a:solidFill>
              </a:rPr>
              <a:t>Recuperação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991856" y="50109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11111"/>
                </a:solidFill>
              </a:rPr>
              <a:t>comparação contra parâmetros verdadeiros da simulação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59893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39" name="Image 0" descr="/mnt/data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4" y="6272784"/>
            <a:ext cx="384048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V0_SIAC preenchido</dc:title>
  <dc:subject>Modelos espaço-temporais para sinistros climáticos</dc:subject>
  <dc:creator>OpenAI</dc:creator>
  <cp:lastModifiedBy>OpenAI</cp:lastModifiedBy>
  <cp:revision>1</cp:revision>
  <dcterms:created xsi:type="dcterms:W3CDTF">2026-10-02T04:50:52Z</dcterms:created>
  <dcterms:modified xsi:type="dcterms:W3CDTF">2026-10-02T04:50:52Z</dcterms:modified>
</cp:coreProperties>
</file>