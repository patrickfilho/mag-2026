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82" r:id="rId4"/>
    <p:sldId id="287" r:id="rId5"/>
    <p:sldId id="288" r:id="rId6"/>
    <p:sldId id="258" r:id="rId7"/>
    <p:sldId id="259" r:id="rId8"/>
    <p:sldId id="260" r:id="rId9"/>
    <p:sldId id="261" r:id="rId10"/>
    <p:sldId id="262" r:id="rId11"/>
    <p:sldId id="290" r:id="rId12"/>
    <p:sldId id="291" r:id="rId13"/>
    <p:sldId id="292" r:id="rId14"/>
    <p:sldId id="263" r:id="rId15"/>
    <p:sldId id="289" r:id="rId16"/>
    <p:sldId id="264" r:id="rId17"/>
    <p:sldId id="265" r:id="rId18"/>
    <p:sldId id="266" r:id="rId19"/>
    <p:sldId id="284" r:id="rId20"/>
    <p:sldId id="267" r:id="rId21"/>
    <p:sldId id="268" r:id="rId22"/>
    <p:sldId id="293" r:id="rId23"/>
    <p:sldId id="269" r:id="rId24"/>
    <p:sldId id="285" r:id="rId25"/>
    <p:sldId id="270" r:id="rId26"/>
    <p:sldId id="286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io Alvim Faustino Ramos" initials="KF" lastIdx="1" clrIdx="0">
    <p:extLst>
      <p:ext uri="{19B8F6BF-5375-455C-9EA6-DF929625EA0E}">
        <p15:presenceInfo xmlns:p15="http://schemas.microsoft.com/office/powerpoint/2012/main" userId="7a936b464f1f892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01T15:55:01.062" idx="1">
    <p:pos x="4178" y="905"/>
    <p:text>Mudar as cores do gráfico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97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00:00–00:40 | Abrir pelo problema geral, não pelo caso: 'seguradoras precisam de tábuas por perfil de risco, e o gargalo é definir os perfis'. Anunciar desde já que serão dois estudos de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00:40–01:50 | A figura é a ilustração do problema, não do estudo 1. Frase-chave: 'o dado bruto não entrega os grupos prontos, e cada candidato a grupo é pequeno demais para ser estimado sozinho'.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01:50–02:20 | Slide novo: aterrissar o problema abstrato em algo concreto antes da proposta. CBO e CID sao os dois vocabularios que vao carregar os dois estudos de caso. Nao entrar em detalhe metodologico aqui, so estabelecer que sao listas grandes, sem hierarquia de risco declarada.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B2C3D4-1387-4CA6-816F-3879F97B5C01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02:20–03:10 | Esses três adjetivos são o fio condutor da apresentação inteira. Voltar a eles no slide de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03:10–04:10 | Slide-âncora da apresentação. Deixar explícito que a contribuição está em mostrar que o mesmo maquinário de estimação atende a dois problemas de estratificação bem diferentes. Voltar a ele antes de cada estudo de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04:10–04:20 | Transição rápida. Anunciar: aqui o estrato é APRENDIDO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04:20–05:30 | Ponto técnico: a escolha da representação define os clusters. Agregar em 4 faixas reduz o ruído das idades individuais e fixa a dimensão do espaço em 4. Escala usada é a taxa bruta — backup 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05:30–06:30 | Ward.D2 em uma frase: funde o par que menos aumenta a soma de quadrados intragrupo, favorecendo grupos compactos e de tamanho comparável — que é o que uma tábua por grupo exige. Dendrograma se lê de baixo para cima.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profissão, identificada pelo código CBO, é representada pelas taxas brutas de mortalidade nas quatro faixas etárias: óbitos sobre exposição. Empilhando as n profissões, temos a matriz X, com n linhas e 4 colunas. A dissimilaridade entre duas profissões é a distância euclidiana entre seus vetores de taxas.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cada grupo A, definimos o centroide e a soma de quadrados intragrupo. O algoritmo começa com cada profissão isolada. A cada passo, calcula quanto a SSE aumentaria para cada fusão possível e une o par que menos aumenta, ou seja, o par mais homogêneo. Repetindo até restar um único grupo, obtemos o dendrograma, que depois cortamos em K = 3 grupos pelo método do cotovelo. Detalhe técnico: no R, hclust com ward.D2 registra como altura a raiz de 2 vezes Delta, que é monótona em Delta.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06:45–07:45 | O segundo bloco é o achado de método mais interessante do estudo 1: a clusterização mostrou que a taxonomia de entrada estava agregando demais. O pipeline não só descreve, ele corrige o insumo.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26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06:45–07:45 | O segundo bloco é o achado de método mais interessante do estudo 1: a clusterização mostrou que a taxonomia de entrada estava agregando demais. O pipeline não só descreve, ele corrige o insumo.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06:45–07:45 | O segundo bloco é o achado de método mais interessante do estudo 1: a clusterização mostrou que a taxonomia de entrada estava agregando demais. O pipeline não só descreve, ele corrige o insumo.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99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07:45–08:35 | Insistir na monotonicidade: sem cruzamento entre as curvas, faz sentido chamar os grupos de baixo, médio e alto risco. Se houvesse cruzamento, a ordenação perderia significado atuarial.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08:35–08:45 | Transição. Anunciar a diferença central: aqui o estrato NÃO é aprendido dos dados, é derivado de uma regra de cobertura — e o desafio passa a ser a incerteza dessa regra.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08:45–09:45 | A dificuldade é que o Premium não tem experiência própria — precisa ser reconstruído a partir dos sinistros negados do Comum. É por isso que o estrato aqui não pode ser aprendido: ele ainda não existe nos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09:45–10:10 | Slide novo: pipeline completo do mapeamento de CIDs (fluxograma proprio). Destacar: LLM le os documentos de cobertura e sugere o status de cada CID; toda sugestao passa por validacao cruzada com o desfecho real dos sinistros antes de entrar na regra do proximo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B2C3D4-1387-4CA6-816F-3879F97B5C29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10:10–11:10 | Aqui está o paralelo com o estudo 1: nos dois casos o estrato vem de um critério declarado que roda sobre a base toda, não de julgamento processo a processo. Muda a natureza do critério, não o princípio.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11:10–12:10 | Argumento importante: o cenário Amplo é o mais prudente do ponto de vista de reserva, porque maximiza a incidência estimada — não confundir 'amplo' com 'permissivo'. As duas curvas são os limites da faixa de incerteza que a seguradora precisa precificar.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11:10–12:10 | Argumento importante: o cenário Amplo é o mais prudente do ponto de vista de reserva, porque maximiza a incidência estimada — não confundir 'amplo' com 'permissivo'. As duas curvas são os limites da faixa de incerteza que a seguradora precisa precificar.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46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12:10–13:25 | Momento mais técnico. Pronto para escrever no quadro se pedirem: y_t = F'θ_t + v_t; θ_t = Gθ_{t-1} + w_t, com W_t definido pelo fator de desconto. Ajuste com o pacote BayesMortalityPlus. Detalhes em B5. Mencionar que no estudo 2 as idades iniciais de algumas séries vêm de extrapolação, e não do ajuste — o que tem consequência no teste (próximo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13:25–13:40 | Slide novo: especificacao formal do DLM em LaTeX. Mesma logica do slide anterior -- nao ler termo a termo, apontar a estrutura (observacao / evolucao / variancia via desconto).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B2C3D4-1387-4CA6-816F-3879F97B5C30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13:40–14:40 | Não esconder o resultado negativo — ele é o argumento. As tábuas de mercado são comparadas após desagravo (reescalonamento ótimo), senão a comparação seria de nível e não de forma. Ver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14:40–14:55 | Slide novo: as duas estatisticas por extenso. Reforcar que G2 e a deviance de Poisson, nao o qui-quadrado de Pearson -- ponto de honestidade tecnica ja presente no backup B3, agora explicito na apresentacao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B2C3D4-1387-4CA6-816F-3879F97B5C31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14:55–15:55 | Slide de fechamento conceitual — é a resposta à pergunta 'o que os dois estudos têm a ver um com o outro'. As duas últimas linhas destacadas são a convergência. Se sobrar pouco tempo, este slide não pode ser cortado.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15:55–16:40 | Vale 2 pontos na menção honrosa. Falar em primeira pessoa e sem inflar: o que fiz, sob qual orientação. Encerrar deixando o slide de referências no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exibido durante a arguição.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avançar até aqui durante os 15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mais provável da banca sobre o estudo 1. Resposta honesta: a escala escolhida é aquela em que o risco é economicamente relevante, mas a análise de sensibilidade em log é o próximo passo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pressionarem: reconhecer que silhueta e gap statistic não foram calculados e que seriam a validação formal do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implementação é 2·Σ[D·log(D/D̂) − (D − D̂)], a deviance de Poisson — não o qui-quadrado de Pearson. Saber a diferença se perguntarem.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Validação a posteriori do corte de exposição no estudo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Escrever no quadro se pedirem: y_t = F'θ_t + v_t, v_t ~ N(0,V); θ_t = Gθ_{t-1} + w_t, w_t ~ N(0,W_t), com W_t definido pelo desconto 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honestidade metodológica: não se testa o modelo em idades que ele não viu.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entrar aqui se perguntarem por que a apresentação principal usa a população agregada.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Segregação de carteiras por perfil de risco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2286000"/>
            <a:ext cx="94583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>
                <a:solidFill>
                  <a:srgbClr val="56B4E9"/>
                </a:solidFill>
                <a:latin typeface="Arial" pitchFamily="34" charset="0"/>
                <a:cs typeface="Arial" pitchFamily="34" charset="-120"/>
              </a:rPr>
              <a:t>Segregação de segurados por perfil de risco: uma abordagem de clusterização hierárquica aplicada ao seguro de vida</a:t>
            </a:r>
            <a:r>
              <a:rPr lang="pt-BR" sz="2400" b="0" i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sz="2400">
                <a:solidFill>
                  <a:srgbClr val="56B4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dois estudos de caso em seguros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3520440"/>
            <a:ext cx="1463040" cy="41148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79476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Kaio Alvim Faustino Ramos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425196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Orientação: Viviana G. R. Lobo e Thais C. O. Fonseca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4645152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de Matemática Aplicada — LabMA / UFRJ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57607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15ª Semana de Integração Acadêmica — SIAc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Comum a qualquer carteira grande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prêmio deve refletir o risco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carteira </a:t>
            </a:r>
            <a:r>
              <a:rPr lang="en-US" sz="28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centenas ou milhares de categorias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>
                <a:solidFill>
                  <a:srgbClr val="1B1B1B"/>
                </a:solidFill>
                <a:latin typeface="Arial" pitchFamily="34" charset="0"/>
                <a:cs typeface="Arial" pitchFamily="34" charset="-120"/>
              </a:rPr>
              <a:t>Agrupamento das categorias é necessário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Agrupar categorias </a:t>
            </a:r>
            <a:r>
              <a:rPr lang="en-US" sz="2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julgamento </a:t>
            </a:r>
            <a:r>
              <a:rPr lang="en-US" sz="28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caro</a:t>
            </a:r>
            <a:r>
              <a:rPr lang="en-US" sz="2800"/>
              <a:t>,</a:t>
            </a:r>
            <a:r>
              <a:rPr lang="en-US" sz="2800" dirty="0"/>
              <a:t> </a:t>
            </a:r>
            <a:r>
              <a:rPr lang="en-US" sz="28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</a:t>
            </a:r>
            <a:r>
              <a:rPr lang="en-US" sz="28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auditar e reproduzir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BA3A27-BF59-F05A-8159-295EBF4FA1AD}"/>
              </a:ext>
            </a:extLst>
          </p:cNvPr>
          <p:cNvSpPr txBox="1"/>
          <p:nvPr/>
        </p:nvSpPr>
        <p:spPr>
          <a:xfrm>
            <a:off x="7956613" y="2590740"/>
            <a:ext cx="2390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Inserir alguma ilustração do problema, a pensar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ESTUDOS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438275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4F8FB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75435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2078355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Brasileira de Ocupações</a:t>
            </a:r>
            <a:endParaRPr lang="en-US" sz="1500" i="1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Milhares </a:t>
            </a: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profissões —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motorista a mergulhador.</a:t>
            </a:r>
            <a:endParaRPr lang="en-US" sz="1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uma com sua própria taxa de mortalidade.</a:t>
            </a:r>
            <a:endParaRPr lang="en-US" sz="1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1: qual grupo de risco cada uma integra?</a:t>
            </a:r>
            <a:endParaRPr lang="en-US" sz="1800" b="1" dirty="0"/>
          </a:p>
        </p:txBody>
      </p:sp>
      <p:sp>
        <p:nvSpPr>
          <p:cNvPr id="7" name="Shape 5"/>
          <p:cNvSpPr/>
          <p:nvPr/>
        </p:nvSpPr>
        <p:spPr>
          <a:xfrm>
            <a:off x="6263640" y="1438275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FF7EC"/>
          </a:solidFill>
          <a:ln w="15240">
            <a:solidFill>
              <a:srgbClr val="E69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575435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37960" y="2078355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Internacional de Doenças</a:t>
            </a:r>
            <a:endParaRPr lang="en-US" sz="1500" i="1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 de 400 diagnósticos avaliados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cobertura de Doenças Graves.</a:t>
            </a:r>
            <a:endParaRPr lang="en-US" sz="1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um infarto a um câncer, cada código pesa sozinho.</a:t>
            </a:r>
            <a:endParaRPr lang="en-US" sz="1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8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2: quais entram numa cobertura ampliada?</a:t>
            </a:r>
            <a:endParaRPr lang="en-US" sz="1800" b="1" dirty="0"/>
          </a:p>
        </p:txBody>
      </p:sp>
      <p:sp>
        <p:nvSpPr>
          <p:cNvPr id="12" name="Text 10"/>
          <p:cNvSpPr/>
          <p:nvPr/>
        </p:nvSpPr>
        <p:spPr>
          <a:xfrm>
            <a:off x="685800" y="5191125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Cetenas de categorias distintas, sem hierarquia </a:t>
            </a:r>
            <a:r>
              <a:rPr lang="en-US" sz="1800" i="1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risco pronta.</a:t>
            </a:r>
            <a:endParaRPr lang="en-US" sz="1800" i="1" dirty="0"/>
          </a:p>
        </p:txBody>
      </p:sp>
      <p:sp>
        <p:nvSpPr>
          <p:cNvPr id="10" name="Text 8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6BBB7B9-6B5F-E8F7-93BB-2DB273A23F5C}"/>
              </a:ext>
            </a:extLst>
          </p:cNvPr>
          <p:cNvSpPr/>
          <p:nvPr/>
        </p:nvSpPr>
        <p:spPr>
          <a:xfrm>
            <a:off x="685800" y="523875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consideradas em dois estudos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>
            <a:extLst>
              <a:ext uri="{FF2B5EF4-FFF2-40B4-BE49-F238E27FC236}">
                <a16:creationId xmlns:a16="http://schemas.microsoft.com/office/drawing/2014/main" id="{149F9CF7-6D35-66CC-6421-BC627246A89D}"/>
              </a:ext>
            </a:extLst>
          </p:cNvPr>
          <p:cNvSpPr/>
          <p:nvPr/>
        </p:nvSpPr>
        <p:spPr>
          <a:xfrm>
            <a:off x="581026" y="1507361"/>
            <a:ext cx="5000624" cy="3685669"/>
          </a:xfrm>
          <a:prstGeom prst="roundRect">
            <a:avLst>
              <a:gd name="adj" fmla="val 2000"/>
            </a:avLst>
          </a:prstGeom>
          <a:solidFill>
            <a:srgbClr val="F4F8FB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profissão, uma categoria de risco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7326" y="1574475"/>
            <a:ext cx="47133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</a:t>
            </a:r>
            <a:r>
              <a:rPr lang="en-US" sz="2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Brasileira de Ocupações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7325" y="2187885"/>
            <a:ext cx="4894325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CBO organiza profissões em 5 níveis</a:t>
            </a: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mais amplo ao mais específico.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900">
              <a:solidFill>
                <a:srgbClr val="1B1B1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</a:t>
            </a:r>
            <a:r>
              <a:rPr lang="en-US" sz="1900" b="1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Atuário</a:t>
            </a:r>
            <a:r>
              <a:rPr lang="en-US" sz="1900" b="1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(CBO 2111-05)</a:t>
            </a:r>
            <a:endParaRPr lang="en-US" sz="1900">
              <a:solidFill>
                <a:srgbClr val="1B1B1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 </a:t>
            </a: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</a:t>
            </a:r>
            <a:r>
              <a:rPr lang="en-US" sz="19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(Ciências e artes) </a:t>
            </a: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subgrupo </a:t>
            </a:r>
            <a:r>
              <a:rPr lang="en-US" sz="19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(Ciências exatas) </a:t>
            </a: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</a:t>
            </a:r>
            <a:r>
              <a:rPr lang="en-US" sz="19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2111</a:t>
            </a: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(Profissionais da matemática) </a:t>
            </a: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ocupação </a:t>
            </a:r>
            <a:r>
              <a:rPr lang="en-US" sz="19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2111-05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5580000"/>
            <a:ext cx="1081735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Milhares </a:t>
            </a:r>
            <a:r>
              <a:rPr lang="en-US" sz="2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categorias </a:t>
            </a:r>
            <a:r>
              <a:rPr lang="en-US" sz="2000" b="1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necessidade de agrupá-las pelo perfil de risco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43849F-D642-0DE6-9156-BFF8A8E1F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50" y="1468571"/>
            <a:ext cx="6099819" cy="3933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5">
            <a:extLst>
              <a:ext uri="{FF2B5EF4-FFF2-40B4-BE49-F238E27FC236}">
                <a16:creationId xmlns:a16="http://schemas.microsoft.com/office/drawing/2014/main" id="{908E4709-C28E-69E4-5CCD-FB8EBA16CC1A}"/>
              </a:ext>
            </a:extLst>
          </p:cNvPr>
          <p:cNvSpPr/>
          <p:nvPr/>
        </p:nvSpPr>
        <p:spPr>
          <a:xfrm>
            <a:off x="605790" y="1463040"/>
            <a:ext cx="5124452" cy="3839780"/>
          </a:xfrm>
          <a:prstGeom prst="roundRect">
            <a:avLst>
              <a:gd name="adj" fmla="val 2000"/>
            </a:avLst>
          </a:prstGeom>
          <a:solidFill>
            <a:srgbClr val="FFF7EC"/>
          </a:solidFill>
          <a:ln w="15240">
            <a:solidFill>
              <a:srgbClr val="E69F00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diagnóstico</a:t>
            </a:r>
            <a:r>
              <a:rPr lang="en-US" sz="3600" b="1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uma categoria de cobertura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555180"/>
            <a:ext cx="49149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</a:t>
            </a:r>
            <a:r>
              <a:rPr lang="en-US" sz="20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Internacional </a:t>
            </a:r>
            <a:r>
              <a:rPr lang="en-US" sz="2000" b="1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Doenças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1" y="2377338"/>
            <a:ext cx="5044440" cy="2465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CID organiza diagnósticos </a:t>
            </a:r>
            <a:r>
              <a:rPr lang="en-US" sz="19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4 níveis, </a:t>
            </a:r>
            <a:r>
              <a:rPr lang="pt-BR" sz="2000"/>
              <a:t>do mais amplo ao mais específico.</a:t>
            </a:r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r>
              <a:rPr lang="pt-BR" sz="2000"/>
              <a:t>Exemplo: </a:t>
            </a:r>
            <a:r>
              <a:rPr lang="pt-BR" b="1">
                <a:solidFill>
                  <a:srgbClr val="D55E00"/>
                </a:solidFill>
                <a:latin typeface="Arial" pitchFamily="34" charset="0"/>
                <a:cs typeface="Arial" pitchFamily="34" charset="-120"/>
              </a:rPr>
              <a:t>Infarto agudo do miocárdio (CID I21.9)</a:t>
            </a:r>
          </a:p>
          <a:p>
            <a:pPr marL="0" indent="0">
              <a:buNone/>
            </a:pPr>
            <a:r>
              <a:rPr lang="pt-BR" sz="2000"/>
              <a:t>capítulo </a:t>
            </a:r>
            <a:r>
              <a:rPr lang="pt-BR" sz="2000" b="1"/>
              <a:t>IX</a:t>
            </a:r>
            <a:r>
              <a:rPr lang="pt-BR" sz="2000"/>
              <a:t> (Doenças do aparelho circulatório) → </a:t>
            </a:r>
          </a:p>
          <a:p>
            <a:pPr marL="0" indent="0">
              <a:buNone/>
            </a:pPr>
            <a:r>
              <a:rPr lang="pt-BR" sz="2000"/>
              <a:t>grupo </a:t>
            </a:r>
            <a:r>
              <a:rPr lang="pt-BR" sz="2000" b="1"/>
              <a:t>I20-I25</a:t>
            </a:r>
            <a:r>
              <a:rPr lang="pt-BR" sz="2000"/>
              <a:t> (Doenças isquêmicas coração) → categoria </a:t>
            </a:r>
            <a:r>
              <a:rPr lang="pt-BR" sz="2000" b="1"/>
              <a:t>I21</a:t>
            </a:r>
            <a:r>
              <a:rPr lang="pt-BR" sz="2000"/>
              <a:t> (Infarto agudo do miocárdio) → subcategoria </a:t>
            </a:r>
            <a:r>
              <a:rPr lang="pt-BR" sz="2000" b="1"/>
              <a:t>I21.9</a:t>
            </a:r>
            <a:r>
              <a:rPr lang="pt-BR" sz="2000"/>
              <a:t> (não especificado).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5600000"/>
            <a:ext cx="1081735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Centenas de categorias </a:t>
            </a:r>
            <a:r>
              <a:rPr lang="en-US" sz="2000" b="1">
                <a:solidFill>
                  <a:srgbClr val="D55E00"/>
                </a:solidFill>
                <a:latin typeface="Arial" pitchFamily="34" charset="0"/>
                <a:cs typeface="Arial" pitchFamily="34" charset="-120"/>
              </a:rPr>
              <a:t>— necessidade de agrupar e comparar os perfis demográficos</a:t>
            </a:r>
            <a:endParaRPr lang="en-US" sz="2000" b="1" dirty="0">
              <a:solidFill>
                <a:srgbClr val="D55E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698C43-2CA3-990C-72C3-4BE2B6E4E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2" y="1463040"/>
            <a:ext cx="5894068" cy="36837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1081735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783080"/>
            <a:ext cx="10085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os estratos por critério explícito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derivado </a:t>
            </a:r>
            <a:r>
              <a:rPr lang="en-US" sz="3000" b="1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dados.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3337560"/>
            <a:ext cx="548640" cy="54864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3291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36576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vale para a carteira toda, sem revisão individual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4251960"/>
            <a:ext cx="548640" cy="54864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42062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Auditável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45720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decisão metodológica é declarada e reproduzível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85800" y="5166360"/>
            <a:ext cx="548640" cy="548640"/>
          </a:xfrm>
          <a:prstGeom prst="ellipse">
            <a:avLst/>
          </a:prstGeom>
          <a:solidFill>
            <a:srgbClr val="0072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5120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Utilizável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54864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saída é uma tábua por estrato, com incerteza quantificada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pipeline comum aos dois estudos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3A2C14"/>
          </a:solidFill>
          <a:ln w="25400">
            <a:solidFill>
              <a:srgbClr val="E69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35608" y="1965960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5" name="Text 3"/>
          <p:cNvSpPr/>
          <p:nvPr/>
        </p:nvSpPr>
        <p:spPr>
          <a:xfrm>
            <a:off x="143560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estrato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os estudos divergem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80360" y="169164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1D3A57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0168" y="1965960"/>
            <a:ext cx="548640" cy="548640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71800" y="26974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eventos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71800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estrato e idade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74920" y="169164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1D3A57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24728" y="1965960"/>
            <a:ext cx="548640" cy="548640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15" name="Text 13"/>
          <p:cNvSpPr/>
          <p:nvPr/>
        </p:nvSpPr>
        <p:spPr>
          <a:xfrm>
            <a:off x="582472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66360" y="26974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Graduação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DLM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66360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suavização bayesiana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69480" y="169164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1D3A57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9288" y="1965960"/>
            <a:ext cx="548640" cy="548640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20" name="Text 18"/>
          <p:cNvSpPr/>
          <p:nvPr/>
        </p:nvSpPr>
        <p:spPr>
          <a:xfrm>
            <a:off x="801928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60920" y="26974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Aderência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60920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qui-quadrado e EQM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464040" y="1691640"/>
            <a:ext cx="2048256" cy="2743200"/>
          </a:xfrm>
          <a:prstGeom prst="roundRect">
            <a:avLst>
              <a:gd name="adj" fmla="val 3571"/>
            </a:avLst>
          </a:prstGeom>
          <a:solidFill>
            <a:srgbClr val="1D3A57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13848" y="1965960"/>
            <a:ext cx="548640" cy="548640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25" name="Text 23"/>
          <p:cNvSpPr/>
          <p:nvPr/>
        </p:nvSpPr>
        <p:spPr>
          <a:xfrm>
            <a:off x="1021384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55480" y="269748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Tábua final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55480" y="361188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incerteza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" y="480060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400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</a:t>
            </a:r>
            <a:r>
              <a:rPr lang="en-US" sz="240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distingue </a:t>
            </a:r>
            <a:r>
              <a:rPr lang="en-US" sz="2400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casos.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83DE19-3CB5-D1F7-58D8-151F6E9DB5A1}"/>
              </a:ext>
            </a:extLst>
          </p:cNvPr>
          <p:cNvSpPr txBox="1"/>
          <p:nvPr/>
        </p:nvSpPr>
        <p:spPr>
          <a:xfrm>
            <a:off x="7031735" y="5267325"/>
            <a:ext cx="3055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Resumir em duas linhas a distinção dos estudos, esse ponto precisa ficar claro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7744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6B4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" y="288036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Agrupamento de profissões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4114800"/>
            <a:ext cx="1463040" cy="41148"/>
          </a:xfrm>
          <a:prstGeom prst="rect">
            <a:avLst/>
          </a:prstGeom>
          <a:solidFill>
            <a:srgbClr val="56B4E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dado bruto à matriz de perfis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389888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por profissão, uma coluna por faixa etária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F4F8FB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48840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[18, 30)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0" y="2148840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Jovens adultos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862072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F4F8FB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86207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[30, 40)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286207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Adultos maduros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5800" y="3575304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F4F8FB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575304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[40, 50)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357530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Meia-idade inicial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85800" y="4288536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F4F8FB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288536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[50, 70)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60320" y="4288536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Meia-idade tardia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8580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corte por exposição mínima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desagregação dos subgrupos grandes.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E73F6D2-A2D4-AD97-69F5-68923EA40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2137220"/>
            <a:ext cx="5696712" cy="33735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Clusterização hierárquica aglomerativa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ponto começa sozinho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Funde-se sempre o par mais próximo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Distância euclidiana entre perfis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 de Ward.D2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fixar k de antemão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F531F9-9AFE-F639-63A2-C02E28CBB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795" y="1965960"/>
            <a:ext cx="5724525" cy="3782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Formalização: dados e distância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241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Insumos e hiperparâmetros da clusterização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3736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Dados:</a:t>
            </a:r>
            <a:r>
              <a:rPr lang="en-US" sz="200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 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profissão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1, …,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(código CBO) é descrita por suas taxas brutas de mortalidade em 4 faixas etárias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pic>
        <p:nvPicPr>
          <p:cNvPr id="5" name="Image 0" descr="mu chapéu i g igual a D i g sobre E i 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271" y="2630775"/>
            <a:ext cx="1605664" cy="864931"/>
          </a:xfrm>
          <a:prstGeom prst="rect">
            <a:avLst/>
          </a:prstGeom>
        </p:spPr>
      </p:pic>
      <p:pic>
        <p:nvPicPr>
          <p:cNvPr id="6" name="Image 1" descr="x i igual ao vetor das quatro taxas etári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775" y="2821718"/>
            <a:ext cx="4595649" cy="48304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374904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2000" i="1" baseline="-40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o número de óbitos e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000" i="1" baseline="-40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exposição ao risco da profissão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 </a:t>
            </a:r>
            <a:r>
              <a:rPr lang="en-US" sz="200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etária </a:t>
            </a:r>
            <a:r>
              <a:rPr lang="en-US" sz="2000" i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Empilhando as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profissões, obtém-se a matriz de dados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 dimensão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4.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46634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Distância:</a:t>
            </a:r>
            <a:r>
              <a:rPr lang="en-US" sz="200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dissimilaridade entre duas profissões é a distância euclidiana entre seus vetores:</a:t>
            </a:r>
            <a:endParaRPr lang="en-US" sz="2000" dirty="0"/>
          </a:p>
        </p:txBody>
      </p:sp>
      <p:pic>
        <p:nvPicPr>
          <p:cNvPr id="9" name="Image 2" descr="distância euclidiana entre x i e x j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3183" y="5320825"/>
            <a:ext cx="6885329" cy="6969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Formalização: critério de Ward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241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grupos de risco são formados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um grupo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|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profissões, o centroide e a soma de quadrados intragrupo são:</a:t>
            </a:r>
            <a:endParaRPr lang="en-US" sz="2000" dirty="0"/>
          </a:p>
        </p:txBody>
      </p:sp>
      <p:pic>
        <p:nvPicPr>
          <p:cNvPr id="5" name="Image 0" descr="centroide do grupo A e SSE de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181" y="2240280"/>
            <a:ext cx="6117333" cy="834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33832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1. 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 com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grupos unitários: {1}, {2}, …, {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8862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2. 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todos os pares de grupos, funde o par (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que minimiza o aumento de SSE:</a:t>
            </a:r>
            <a:endParaRPr lang="en-US" sz="2000" dirty="0"/>
          </a:p>
        </p:txBody>
      </p:sp>
      <p:pic>
        <p:nvPicPr>
          <p:cNvPr id="8" name="Image 1" descr="Delta de A B igual ao aumento de SSE ao fundir A e 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313" y="4389120"/>
            <a:ext cx="5683068" cy="132771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59436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3. 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Repete o passo 2 até restar um único grupo; as </a:t>
            </a:r>
            <a:r>
              <a:rPr lang="en-US" sz="2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− 1 fusões formam o dendrograma.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FB38901-BD73-FFDE-2941-55D10CC5824A}"/>
              </a:ext>
            </a:extLst>
          </p:cNvPr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Dendograma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BE0228-7D0A-6FDD-5680-66ED4F958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6557962" cy="4333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0500B1-36EE-AE4A-14A6-A707B00EC444}"/>
              </a:ext>
            </a:extLst>
          </p:cNvPr>
          <p:cNvSpPr txBox="1"/>
          <p:nvPr/>
        </p:nvSpPr>
        <p:spPr>
          <a:xfrm>
            <a:off x="8385238" y="2617470"/>
            <a:ext cx="23907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Inserir gráfico de cotovelo que ilustra como a escolha da quantidade de grupos pode ser feita</a:t>
            </a:r>
          </a:p>
        </p:txBody>
      </p:sp>
    </p:spTree>
    <p:extLst>
      <p:ext uri="{BB962C8B-B14F-4D97-AF65-F5344CB8AC3E}">
        <p14:creationId xmlns:p14="http://schemas.microsoft.com/office/powerpoint/2010/main" val="875848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EBF86B-B522-2713-8EF4-F4FC36A74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472" y="1712388"/>
            <a:ext cx="6202528" cy="3949838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BFB38901-BD73-FFDE-2941-55D10CC5824A}"/>
              </a:ext>
            </a:extLst>
          </p:cNvPr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3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FD4A504-7DC2-7178-4923-1A2D59F23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48" y="1478846"/>
            <a:ext cx="5789724" cy="4183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720215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4F8FB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03095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grupos?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451735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cotovelo indica k = 3.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carteira já operava com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faixas de risco.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coincidência é resultado,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conveniência.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1720215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FFF7EC"/>
          </a:solidFill>
          <a:ln w="15240">
            <a:solidFill>
              <a:srgbClr val="E69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903095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Heterogeneidade interna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0" y="2451735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código agregava ocupações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riscos muito diferentes.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Clusterização aplicada dentro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próprio código.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Ocupações destoantes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foram realocadas.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85754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grupos, ordenados por risco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498080" y="201168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2240280"/>
            <a:ext cx="365760" cy="365760"/>
          </a:xfrm>
          <a:prstGeom prst="ellipse">
            <a:avLst/>
          </a:prstGeom>
          <a:solidFill>
            <a:srgbClr val="56B4E9"/>
          </a:solidFill>
          <a:ln/>
        </p:spPr>
      </p:sp>
      <p:sp>
        <p:nvSpPr>
          <p:cNvPr id="9" name="Text 7"/>
          <p:cNvSpPr/>
          <p:nvPr/>
        </p:nvSpPr>
        <p:spPr>
          <a:xfrm>
            <a:off x="8247888" y="2057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47888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</a:t>
            </a:r>
            <a:r>
              <a:rPr lang="en-US" sz="17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0" y="297180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3200400"/>
            <a:ext cx="365760" cy="3657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47888" y="3017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47888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intermediário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0" y="3931920"/>
            <a:ext cx="402336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4160520"/>
            <a:ext cx="365760" cy="36576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3977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47888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</a:t>
            </a:r>
            <a:r>
              <a:rPr lang="en-US" sz="17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562356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Separação monótona na idade: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rótulo de risco não é ambíguo.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F773F72-AE09-55E7-421F-2F23A9CD0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" y="1437247"/>
            <a:ext cx="5796915" cy="39796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7744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" y="288036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Doenças graves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4114800"/>
            <a:ext cx="1463040" cy="41148"/>
          </a:xfrm>
          <a:prstGeom prst="rect">
            <a:avLst/>
          </a:prstGeom>
          <a:solidFill>
            <a:srgbClr val="E69F0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produtos, uma mesma carteira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389888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estrato de risco é a própria cobertura contratada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285232" cy="2377440"/>
          </a:xfrm>
          <a:prstGeom prst="roundRect">
            <a:avLst>
              <a:gd name="adj" fmla="val 3077"/>
            </a:avLst>
          </a:prstGeom>
          <a:solidFill>
            <a:srgbClr val="F4F8FB"/>
          </a:solidFill>
          <a:ln w="15240">
            <a:solidFill>
              <a:srgbClr val="0072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Vigente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 atual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Sinistros efetivamente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5285232" cy="2377440"/>
          </a:xfrm>
          <a:prstGeom prst="roundRect">
            <a:avLst>
              <a:gd name="adj" fmla="val 3077"/>
            </a:avLst>
          </a:prstGeom>
          <a:solidFill>
            <a:srgbClr val="FFF7EC"/>
          </a:solidFill>
          <a:ln w="15240">
            <a:solidFill>
              <a:srgbClr val="D55E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Ampliada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Situação proposta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32918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Acrescenta doenças hoje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cobertas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480060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pergunta: qual seria a incidência da cobertura ampliada,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ela já estivesse em vigor?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Pipeline C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798154"/>
            <a:ext cx="7038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mapa de CID’s foi </a:t>
            </a:r>
            <a:r>
              <a:rPr lang="en-US" sz="3200" b="1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construído e </a:t>
            </a:r>
            <a:r>
              <a:rPr lang="en-US" sz="32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6011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→ LLM → validação de coerência</a:t>
            </a:r>
            <a:endParaRPr lang="en-US" sz="2000" dirty="0"/>
          </a:p>
        </p:txBody>
      </p:sp>
      <p:pic>
        <p:nvPicPr>
          <p:cNvPr id="5" name="Fluxograma CI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81" y="594360"/>
            <a:ext cx="4289874" cy="5861634"/>
          </a:xfrm>
          <a:prstGeom prst="rect">
            <a:avLst/>
          </a:prstGeom>
          <a:ln w="9525">
            <a:solidFill>
              <a:srgbClr val="D5DCE3"/>
            </a:solidFill>
          </a:ln>
        </p:spPr>
      </p:pic>
      <p:sp>
        <p:nvSpPr>
          <p:cNvPr id="6" name="Text 4"/>
          <p:cNvSpPr/>
          <p:nvPr/>
        </p:nvSpPr>
        <p:spPr>
          <a:xfrm>
            <a:off x="685800" y="2103120"/>
            <a:ext cx="7620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LLM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652760"/>
            <a:ext cx="68865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LLM lê os documentos de cobertura (Vigente e Ampliada) e sugere, para cada um dos ~400 CID’s, se ele está coberto em cada uma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troca a leitura manual de centenas de códigos por um mapa inicial revisável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4337160"/>
            <a:ext cx="7620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do mapeamento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4886800"/>
            <a:ext cx="667702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mapa é cruzado com o desfecho real de cada sinistro: aprovado deveria estar coberto, negado por risco excluído não deveria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CID recebe um score de coerência; só os mapeados de forma satisfatória entram na regra do próximo slide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estrato é construído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389888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sinistro negado vira ganho da cobertura ampliada quando: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7EC"/>
          </a:solidFill>
          <a:ln w="15240">
            <a:solidFill>
              <a:srgbClr val="E69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395728"/>
            <a:ext cx="502920" cy="5029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1832" y="30175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da negativa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1832" y="3493008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caracterização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risco excluído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34256" y="21945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7EC"/>
          </a:solidFill>
          <a:ln w="15240">
            <a:solidFill>
              <a:srgbClr val="E69F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395728"/>
            <a:ext cx="502920" cy="5029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90288" y="30175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atual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0288" y="3493008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CID não é coberto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Vigente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82712" y="21945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7EC"/>
          </a:solidFill>
          <a:ln w="15240">
            <a:solidFill>
              <a:srgbClr val="E69F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38744" y="2395728"/>
            <a:ext cx="502920" cy="5029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744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38744" y="301752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nova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38744" y="3493008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CID é coberto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Ampliada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" y="47548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regra sobre centenas de códigos de CID —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explícita, revisável e aplicada à base inteira.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incerteza vira cenário, não suposição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799" y="2057400"/>
            <a:ext cx="106584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Alguns CIDs dependem de julgamento médico-pericial.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arbitrar, delimita-se a faixa.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71800" y="3360421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FF7EC"/>
          </a:solidFill>
          <a:ln w="15240">
            <a:solidFill>
              <a:srgbClr val="D55E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347014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46120" y="3927349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superior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06440" y="3360421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 os condicionais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71800" y="4594861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 w="15240">
            <a:solidFill>
              <a:srgbClr val="0072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4704589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Estrito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46120" y="5161789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inferior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06440" y="4594861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exclui os condicionais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5CF00-5A1D-6EDA-E21C-CBCDD0BDAE38}"/>
              </a:ext>
            </a:extLst>
          </p:cNvPr>
          <p:cNvSpPr txBox="1"/>
          <p:nvPr/>
        </p:nvSpPr>
        <p:spPr>
          <a:xfrm>
            <a:off x="3905250" y="2714625"/>
            <a:ext cx="3648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Adicionar gráficos e a tábua realizada no estudo</a:t>
            </a:r>
          </a:p>
        </p:txBody>
      </p:sp>
    </p:spTree>
    <p:extLst>
      <p:ext uri="{BB962C8B-B14F-4D97-AF65-F5344CB8AC3E}">
        <p14:creationId xmlns:p14="http://schemas.microsoft.com/office/powerpoint/2010/main" val="3404047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ESTUDOS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Graduação via DLM bayesiano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389888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daqui, o tratamento é o mesmo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idade é uma trajetória suave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idade usa também as vizinhas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de desconto controla o peso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desconto onde a exposição é frágil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Extrapolação nas idades sem dado estável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74929-55FB-B396-E8B1-63377D7B611D}"/>
              </a:ext>
            </a:extLst>
          </p:cNvPr>
          <p:cNvSpPr txBox="1"/>
          <p:nvPr/>
        </p:nvSpPr>
        <p:spPr>
          <a:xfrm>
            <a:off x="7629525" y="2571750"/>
            <a:ext cx="2066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Adicionar figura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Especificacao DL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ESTUDOS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Especificação do DLM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espaço de estados, forma padrão de West &amp; Harrison</a:t>
            </a:r>
            <a:endParaRPr lang="en-US" sz="2000" dirty="0"/>
          </a:p>
        </p:txBody>
      </p:sp>
      <p:pic>
        <p:nvPicPr>
          <p:cNvPr id="5" name="Equation DL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620" y="2000000"/>
            <a:ext cx="6398760" cy="28430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1371600" y="4950000"/>
            <a:ext cx="944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∈ (0,1] é o fator de desconto — quanto menor, mais peso nas idades vizinhas</a:t>
            </a:r>
            <a:endParaRPr lang="en-US" sz="1700" i="1" dirty="0"/>
          </a:p>
        </p:txBody>
      </p:sp>
      <p:sp>
        <p:nvSpPr>
          <p:cNvPr id="8" name="Text 6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ESTUDOS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Aderência: a tábua ajustada se sustenta?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5800" y="141732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um teste único: qui-quadrado, EQM e o desvio de Poisson, em conjunto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8FB"/>
          </a:solidFill>
          <a:ln w="15240">
            <a:solidFill>
              <a:srgbClr val="0072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2860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41832" y="274320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Qui-quadrado sobre óbitos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observados e esperados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334256" y="21031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8FB"/>
          </a:solidFill>
          <a:ln w="15240">
            <a:solidFill>
              <a:srgbClr val="0072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22860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auxiliar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90288" y="274320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quadrático médio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escala logarítmica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982712" y="21031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7EC"/>
          </a:solidFill>
          <a:ln w="15240">
            <a:solidFill>
              <a:srgbClr val="E69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8744" y="22860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38744" y="274320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se testa a faixa etária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modelo de fato viu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5800" y="4480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estudo 1, um dos grupos não encontrou tábua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mercado aderente — daí a tábua de experiência.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 negativo é o que justifica a tábua própria.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Formalizacao Adere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ESTUDOS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 de Teste e métrica de avaliação</a:t>
            </a:r>
            <a:endParaRPr lang="en-US" sz="3600" dirty="0"/>
          </a:p>
        </p:txBody>
      </p:sp>
      <p:pic>
        <p:nvPicPr>
          <p:cNvPr id="5" name="Equation Aderen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130" y="2200000"/>
            <a:ext cx="7315200" cy="243528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1371600" y="4850000"/>
            <a:ext cx="944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Oₓ = óbitos observados, Eₓ = esperados sob a tábua; ν graus de liberdade</a:t>
            </a:r>
            <a:endParaRPr lang="en-US" sz="1700" i="1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EQM compara a forma da curva ajustada; G² testa o nível</a:t>
            </a:r>
            <a:endParaRPr lang="en-US" sz="1700" i="1" dirty="0"/>
          </a:p>
        </p:txBody>
      </p:sp>
      <p:sp>
        <p:nvSpPr>
          <p:cNvPr id="8" name="Text 6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generaliza os dois casos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519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173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risco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51960" y="1783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Profissão (CBO)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0" y="1783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contratada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2295144"/>
            <a:ext cx="108173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951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do estrato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51960" y="22951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Aprendido dos dados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63840" y="22951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Derivado de uma regra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800" y="2807208"/>
            <a:ext cx="108173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807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51960" y="28072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Clusterização hierárquica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863840" y="28072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de CIDs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85800" y="3319272"/>
            <a:ext cx="108173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3192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Incerteza principal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251960" y="33192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de agrupamento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63840" y="331927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Julgamento pericial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85800" y="3831336"/>
            <a:ext cx="108173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8313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é tratada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251960" y="38313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fino e sensibilidade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63840" y="38313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limitantes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85800" y="4343400"/>
            <a:ext cx="10817352" cy="457200"/>
          </a:xfrm>
          <a:prstGeom prst="rect">
            <a:avLst/>
          </a:prstGeom>
          <a:solidFill>
            <a:srgbClr val="E7F1F8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Estimação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251960" y="4343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DLM bayesiano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863840" y="4343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DLM bayesiano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5800" y="4855464"/>
            <a:ext cx="10817352" cy="457200"/>
          </a:xfrm>
          <a:prstGeom prst="rect">
            <a:avLst/>
          </a:prstGeom>
          <a:solidFill>
            <a:srgbClr val="E7F1F8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8554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251960" y="485546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Qui-quadrado e EQM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863840" y="485546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Qui-quadrado e EQM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atuação e considerações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002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 e preparação dos dados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85800" y="2313432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2199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dos algoritmos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85800" y="2935224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4378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do mapeamento de CIDs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3557016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6557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dos modelos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08736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 dos resultados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8580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1D3A57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6B4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132320" y="21945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Pequenas decisões metodológicas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têm grandes consequências.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alinhamento contínuo com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do domínio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 parte do método,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uma etapa de validação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5800" y="5029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011680"/>
            <a:ext cx="10817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JAMES, G. et al. An Introduction to Statistical Learning. New York: Springer, 2013.</a:t>
            </a:r>
            <a:endParaRPr lang="en-US" sz="22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WEST, M.; HARRISON, J. Bayesian Forecasting and Dynamic Models. 2. ed. New York: Springer, 1997.</a:t>
            </a:r>
            <a:endParaRPr lang="en-US" sz="22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2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Ministério do Trabalho. Classificação Brasileira de Ocupações (CBO 2002). Brasília, 2002.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45720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realizados com o pacote BayesMortalityPlus.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512064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Agradecemos à seguradora </a:t>
            </a:r>
            <a:r>
              <a:rPr lang="en-US" sz="190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parceira pela </a:t>
            </a:r>
            <a:r>
              <a:rPr lang="en-US" sz="19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colaboração ao longo do estudo.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de apoio</a:t>
            </a:r>
            <a:endParaRPr lang="en-US" sz="4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taxa bruta e não log da taxa?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173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taxa cresce muito com a idade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faixa [50,70) domina a distância euclidiana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prática, os grupos se formam pelos mais velhos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Alternativa: log da taxa ou padronização por coluna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se a partição em três se mantém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Outras formas de escolher 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1735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Cotovelo é heurístico e visual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Silhueta mede coesão e separação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statistic compara com uma referência nula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 o cotovelo coincidiu com a estrutura da carteira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 do teste de aderência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173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 construída sobre o desvio de Poisson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qui-quadrado assintótica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Tábuas de mercado são desagravadas antes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fator minimiza o desvio ponderado pela exposição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EQM compara a forma, não apenas o nível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Estratos com pouca exposição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1735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Profissões abaixo do corte saem do treino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Precisam ser classificadas mesmo assim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Analisadas de forma agregada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observado aderente aos grupos de menor risco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DLM em detalhe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173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Observação: log da taxa em torno de um nível latente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Evolução: nível e tendência locais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Variância de evolução via fator de desconto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menor onde a exposição é frágil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Idades extremas obtidas por previsão do próprio modelo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Extrapolação nas idades iniciais (estudo 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173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idades mais jovens há poucos sinistros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ajuste direto ficaria instável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Essas idades vêm de previsão do mesmo modelo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teste de aderência roda só na faixa ajustada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faixa testada é declarada explicitamente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Diferenciação por sexo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81735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estudos foram replicados por sexo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 de estratos não é idêntica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exposição feminina é menor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 entre granularidade e estabilidade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SIAc 2026 — LabMA/UFRJ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3475</Words>
  <Application>Microsoft Office PowerPoint</Application>
  <PresentationFormat>Widescreen</PresentationFormat>
  <Paragraphs>469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Segregacao por perfil de risco - SIAc 2026</dc:title>
  <dc:subject>PptxGenJS Presentation</dc:subject>
  <dc:creator>Kaio Alvim Faustino Ramos</dc:creator>
  <cp:lastModifiedBy>Kaio Alvim Faustino Ramos</cp:lastModifiedBy>
  <cp:revision>6</cp:revision>
  <dcterms:created xsi:type="dcterms:W3CDTF">2026-08-10T15:16:09Z</dcterms:created>
  <dcterms:modified xsi:type="dcterms:W3CDTF">2026-10-01T19:09:49Z</dcterms:modified>
</cp:coreProperties>
</file>