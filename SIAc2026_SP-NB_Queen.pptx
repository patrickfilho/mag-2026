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o Alvim Faustino Ramos" initials="KF" lastIdx="1" clrIdx="0">
    <p:extLst>
      <p:ext uri="{19B8F6BF-5375-455C-9EA6-DF929625EA0E}">
        <p15:presenceInfo xmlns:p15="http://schemas.microsoft.com/office/powerpoint/2012/main" userId="7a936b464f1f89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9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02"/>
          <c:y val="0.1"/>
          <c:w val="0.96"/>
          <c:h val="0.7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Hidrológicos</c:v>
                </c:pt>
              </c:strCache>
            </c:strRef>
          </c:tx>
          <c:spPr>
            <a:solidFill>
              <a:srgbClr val="12263A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1046</c:v>
                </c:pt>
                <c:pt idx="2">
                  <c:v>808</c:v>
                </c:pt>
                <c:pt idx="3">
                  <c:v>905</c:v>
                </c:pt>
                <c:pt idx="4">
                  <c:v>930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Meteorológicos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673</c:v>
                </c:pt>
                <c:pt idx="1">
                  <c:v>580</c:v>
                </c:pt>
                <c:pt idx="2">
                  <c:v>610</c:v>
                </c:pt>
                <c:pt idx="3">
                  <c:v>618</c:v>
                </c:pt>
                <c:pt idx="4">
                  <c:v>847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Climatológicos</c:v>
                </c:pt>
              </c:strCache>
            </c:strRef>
          </c:tx>
          <c:spPr>
            <a:solidFill>
              <a:srgbClr val="56B4E9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100">
                    <a:solidFill>
                      <a:srgbClr val="12263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161</c:v>
                </c:pt>
                <c:pt idx="1">
                  <c:v>119</c:v>
                </c:pt>
                <c:pt idx="2">
                  <c:v>134</c:v>
                </c:pt>
                <c:pt idx="3">
                  <c:v>126</c:v>
                </c:pt>
                <c:pt idx="4">
                  <c:v>182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3"/>
            </a:solidFill>
          </a:ln>
        </c:spPr>
        <c:txPr>
          <a:bodyPr/>
          <a:lstStyle/>
          <a:p>
            <a:pPr>
              <a:defRPr sz="1200">
                <a:solidFill>
                  <a:srgbClr val="5A667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5A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97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pelo dado: o número de desastres climáticos (hidrológicos, meteorológicos e climatológicos) no último quinquênio é o maior da série. O gráfico mostra frequência, não severidade; não afirmar aumento de severidade. Eventos geofísicos (terremotos) foram excluídos por não serem climáticos.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 entre clima e seguro. A mensagem não é que o risco subiu, e sim que ficou menos estável: meses atípicos concentram sinistros e a média histórica não antecipa esses picos. O gráfico é esquemático, sem dados reais.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o grid: o evento não respeita a fronteira das células. Vários grids vizinhos são atingidos no mesmo mês. Intuição de dependência espacial, sem fórmula.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NB: modelo de contagem com sobredispersão e exposição como offset. RF: flexível, captura não linearidades e interações. O que falta nos dois é o mesmo: nenhum usa a informação do que aconteceu nos vizinhos.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Ler como uma soma: risco próprio (o que a NB já faz) mais um termo que só liga quando algum vizinho teve choque no mês anterior. Se nenhum vizinho estava em choque, o SP-NB vira a própria NB.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ler termo a termo. Apontar as quatro peças pelas cores. O termo espacial entra somando à taxa (forma aditiva, como no artigo de referência), não dentro da exponencial. ψ_g é restrito a valores não negativos. Estimação por máxima verossimilhança via algoritmo 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a rainha no xadrez: lados e diagonais. Grid interno tem 8 vizinhos, borda 5, canto 3. Na área de estudo: 9 internos, 12 de borda, 4 de canto.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choque é binário: liga (1) quando o grid teve sinistros acima do esperado para a sua exposição, desliga (0) caso contrário. No artigo de referência, o limiar é o quantil de 80% de uma Poisson com média igual à frequência global vezes a exposição. Confirmar se o código usa o mesmo limiar.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Taquari foi fortemente afetado pelas enchentes recentes no RS. Unidade de observação: grid × mês. 25 grids em 300 meses dão 7.500 observações.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linha da base por grid e mês. Covariáveis padronizadas (z-score) antes do ajuste. O termo de vizinhança só entra no SP-NB.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Divisão temporal: treina até 2020, testa em 2021–2025 sem reestimar. As métricas olham duas coisas diferentes: o erro em cada grid-mês e se o modelo distribui bem o total acumulado entre os grids.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tabelas 12, 13, 19 e 21 do HTML. Ser honesto: no nível grid-mês o ganho sobre a NB é pequeno (0,4% no RMSE, 1,2% no MAE). A diferença fica maior quando se olha o total por grid (RMSE por grid 7,3% menor). O RF fica bem atrás e subestima o total de sinistros.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Mesma escala de cor nos três mapas. Verde mais escuro = previsão acumulada mais próxima do observado. Honestidade: o RF acerta melhor alguns grids individuais (por exemplo, a borda superior direita), mas erra mais no agregado. O SP-NB tem a maior mediana e o menor RMSE por grid.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Leitura por atributos: o SP-NB é o único que combina estrutura de contagem, exposição como escala e dependência espaço-temporal. Cuidado com causalidade: o resultado é preditivo. E o ψ de cada grid foi mal recuperado (correlação 0,16 com o verdadeiro), então o ganho vem do termo espacial em conjunto, não de leituras grid a grid.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Três mensagens e uma limitação. Não vender como prova definitiva: base com componente simulado, uma única área, um único período de teste.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Deixar exibido durante a arguição.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Desastres climáticos atingiram em 2021–2025 o maior número das últimas duas décadas, elevando a incerteza sobre o risco segurado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Número de desastres climáticos no mundo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# de eventos por período de 5 anos</a:t>
            </a:r>
          </a:p>
        </p:txBody>
      </p:sp>
      <p:graphicFrame>
        <p:nvGraphicFramePr>
          <p:cNvPr id="8" name="Chart: desastres climáticos"/>
          <p:cNvGraphicFramePr>
            <a:graphicFrameLocks noGrp="1"/>
          </p:cNvGraphicFramePr>
          <p:nvPr/>
        </p:nvGraphicFramePr>
        <p:xfrm>
          <a:off x="685800" y="2194560"/>
          <a:ext cx="690372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otal 2001–2005"/>
          <p:cNvSpPr txBox="1"/>
          <p:nvPr/>
        </p:nvSpPr>
        <p:spPr>
          <a:xfrm>
            <a:off x="937991" y="2978813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1.712</a:t>
            </a:r>
          </a:p>
        </p:txBody>
      </p:sp>
      <p:sp>
        <p:nvSpPr>
          <p:cNvPr id="10" name="Total 2006–2010"/>
          <p:cNvSpPr txBox="1"/>
          <p:nvPr/>
        </p:nvSpPr>
        <p:spPr>
          <a:xfrm>
            <a:off x="2263505" y="29407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1.745</a:t>
            </a:r>
          </a:p>
        </p:txBody>
      </p:sp>
      <p:sp>
        <p:nvSpPr>
          <p:cNvPr id="11" name="Total 2011–2015"/>
          <p:cNvSpPr txBox="1"/>
          <p:nvPr/>
        </p:nvSpPr>
        <p:spPr>
          <a:xfrm>
            <a:off x="3589020" y="3163601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1.552</a:t>
            </a:r>
          </a:p>
        </p:txBody>
      </p:sp>
      <p:sp>
        <p:nvSpPr>
          <p:cNvPr id="12" name="Total 2016–2020"/>
          <p:cNvSpPr txBox="1"/>
          <p:nvPr/>
        </p:nvSpPr>
        <p:spPr>
          <a:xfrm>
            <a:off x="4914534" y="3051573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1.649</a:t>
            </a:r>
          </a:p>
        </p:txBody>
      </p:sp>
      <p:sp>
        <p:nvSpPr>
          <p:cNvPr id="13" name="Total 2021–2025"/>
          <p:cNvSpPr txBox="1"/>
          <p:nvPr/>
        </p:nvSpPr>
        <p:spPr>
          <a:xfrm>
            <a:off x="6240048" y="269354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1.959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463174" y="2464946"/>
            <a:ext cx="0" cy="550051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63174" y="2464946"/>
            <a:ext cx="1325514" cy="0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88688" y="2464946"/>
            <a:ext cx="0" cy="164592"/>
          </a:xfrm>
          <a:prstGeom prst="line">
            <a:avLst/>
          </a:prstGeom>
          <a:ln w="15875">
            <a:solidFill>
              <a:srgbClr val="D55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lta +19%"/>
          <p:cNvSpPr/>
          <p:nvPr/>
        </p:nvSpPr>
        <p:spPr>
          <a:xfrm>
            <a:off x="5741883" y="231864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D55E00"/>
                </a:solidFill>
                <a:latin typeface="Arial"/>
              </a:rPr>
              <a:t>+19%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6672"/>
                </a:solidFill>
                <a:latin typeface="Arial"/>
              </a:rPr>
              <a:t>Fonte: EM-DAT (CRED/UCLouvain). Exclui desastres geofísicos.</a:t>
            </a:r>
          </a:p>
        </p:txBody>
      </p:sp>
      <p:sp>
        <p:nvSpPr>
          <p:cNvPr id="19" name="Painel implicação"/>
          <p:cNvSpPr/>
          <p:nvPr/>
        </p:nvSpPr>
        <p:spPr>
          <a:xfrm>
            <a:off x="8001000" y="16916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87451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O que o dado mostra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40280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2263A"/>
                </a:solidFill>
                <a:latin typeface="Arial"/>
              </a:rPr>
              <a:t>1.959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desastres climáticos em 2021–2025, o maior valor da série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75320" y="3611880"/>
            <a:ext cx="29535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75320" y="37490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Implicação para seguros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11480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1B1B"/>
                </a:solidFill>
                <a:latin typeface="Arial"/>
              </a:rPr>
              <a:t>Com eventos mais frequentes, o histórico médio passa a refletir menos o risco atual, e a frequência de sinistros fica mais incerta.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5961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672"/>
                </a:solidFill>
                <a:latin typeface="Arial"/>
              </a:rPr>
              <a:t>O gráfico mede frequência; a severidade não é avaliada aqui.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Eventos climáticos extremos podem tornar a frequência de sinistros mais volátil e menos previsível pela média histórica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6" name="Etapa Clima"/>
          <p:cNvSpPr/>
          <p:nvPr/>
        </p:nvSpPr>
        <p:spPr>
          <a:xfrm>
            <a:off x="685800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92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834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Chuva extrema e eventos concentrados em poucos dias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59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tapa Sinistros"/>
          <p:cNvSpPr/>
          <p:nvPr/>
        </p:nvSpPr>
        <p:spPr>
          <a:xfrm>
            <a:off x="4471416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0016" y="1920240"/>
            <a:ext cx="438912" cy="43891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1892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Sinistros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441448"/>
            <a:ext cx="2834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Picos de frequência em meses e regiões específicos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08975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tapa Precificação"/>
          <p:cNvSpPr/>
          <p:nvPr/>
        </p:nvSpPr>
        <p:spPr>
          <a:xfrm>
            <a:off x="8257031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85632" y="1920240"/>
            <a:ext cx="438912" cy="438912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189280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Arial"/>
              </a:rPr>
              <a:t>Precificação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441448"/>
            <a:ext cx="28346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A média histórica deixa de antecipar o mês seguinte</a:t>
            </a:r>
          </a:p>
        </p:txBody>
      </p:sp>
      <p:sp>
        <p:nvSpPr>
          <p:cNvPr id="20" name="Painel esquema"/>
          <p:cNvSpPr/>
          <p:nvPr/>
        </p:nvSpPr>
        <p:spPr>
          <a:xfrm>
            <a:off x="685800" y="3337560"/>
            <a:ext cx="10817352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02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Sinistros mensais em uma região</a:t>
            </a:r>
          </a:p>
        </p:txBody>
      </p:sp>
      <p:sp>
        <p:nvSpPr>
          <p:cNvPr id="22" name="Tag ilustrativo"/>
          <p:cNvSpPr/>
          <p:nvPr/>
        </p:nvSpPr>
        <p:spPr>
          <a:xfrm>
            <a:off x="9354312" y="3502152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5715000"/>
            <a:ext cx="77541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érie esquemática"/>
          <p:cNvSpPr/>
          <p:nvPr/>
        </p:nvSpPr>
        <p:spPr>
          <a:xfrm>
            <a:off x="1097280" y="4107942"/>
            <a:ext cx="7754112" cy="1268730"/>
          </a:xfrm>
          <a:custGeom>
            <a:avLst/>
            <a:gdLst/>
            <a:ahLst/>
            <a:cxnLst/>
            <a:rect l="l" t="t" r="r" b="b"/>
            <a:pathLst>
              <a:path w="7754112" h="1268730">
                <a:moveTo>
                  <a:pt x="0" y="1234897"/>
                </a:moveTo>
                <a:lnTo>
                  <a:pt x="408111" y="1133398"/>
                </a:lnTo>
                <a:lnTo>
                  <a:pt x="816222" y="1268730"/>
                </a:lnTo>
                <a:lnTo>
                  <a:pt x="1224333" y="1099566"/>
                </a:lnTo>
                <a:lnTo>
                  <a:pt x="1632444" y="1184148"/>
                </a:lnTo>
                <a:lnTo>
                  <a:pt x="2040555" y="1048816"/>
                </a:lnTo>
                <a:lnTo>
                  <a:pt x="2448666" y="1201064"/>
                </a:lnTo>
                <a:lnTo>
                  <a:pt x="2856778" y="1099566"/>
                </a:lnTo>
                <a:lnTo>
                  <a:pt x="3264889" y="0"/>
                </a:lnTo>
                <a:lnTo>
                  <a:pt x="3673000" y="558241"/>
                </a:lnTo>
                <a:lnTo>
                  <a:pt x="4081111" y="1150315"/>
                </a:lnTo>
                <a:lnTo>
                  <a:pt x="4489222" y="1234897"/>
                </a:lnTo>
                <a:lnTo>
                  <a:pt x="4897333" y="1082649"/>
                </a:lnTo>
                <a:lnTo>
                  <a:pt x="5305445" y="1167231"/>
                </a:lnTo>
                <a:lnTo>
                  <a:pt x="5713556" y="253746"/>
                </a:lnTo>
                <a:lnTo>
                  <a:pt x="6121667" y="1014984"/>
                </a:lnTo>
                <a:lnTo>
                  <a:pt x="6529778" y="1184148"/>
                </a:lnTo>
                <a:lnTo>
                  <a:pt x="6937889" y="1116482"/>
                </a:lnTo>
                <a:lnTo>
                  <a:pt x="7346000" y="1217980"/>
                </a:lnTo>
                <a:lnTo>
                  <a:pt x="7754112" y="1099566"/>
                </a:lnTo>
              </a:path>
            </a:pathLst>
          </a:custGeom>
          <a:noFill/>
          <a:ln w="285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Média histórica"/>
          <p:cNvCxnSpPr/>
          <p:nvPr/>
        </p:nvCxnSpPr>
        <p:spPr>
          <a:xfrm>
            <a:off x="1097280" y="5125463"/>
            <a:ext cx="7754112" cy="0"/>
          </a:xfrm>
          <a:prstGeom prst="line">
            <a:avLst/>
          </a:prstGeom>
          <a:ln w="19050">
            <a:solidFill>
              <a:srgbClr val="5A66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61119" y="4988303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5A6672"/>
                </a:solidFill>
                <a:latin typeface="Arial"/>
              </a:rPr>
              <a:t>Média histórica</a:t>
            </a:r>
          </a:p>
        </p:txBody>
      </p:sp>
      <p:sp>
        <p:nvSpPr>
          <p:cNvPr id="27" name="Pico"/>
          <p:cNvSpPr/>
          <p:nvPr/>
        </p:nvSpPr>
        <p:spPr>
          <a:xfrm>
            <a:off x="4261585" y="4007358"/>
            <a:ext cx="201168" cy="201168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769" y="399821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55E00"/>
                </a:solidFill>
                <a:latin typeface="Arial"/>
              </a:rPr>
              <a:t>Evento extremo: pico não antecipado pela média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40690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263A"/>
                </a:solidFill>
                <a:latin typeface="Arial"/>
              </a:rPr>
              <a:t>O risco fica menos estável, não apenas maior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O PROBLEMA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Quando o mesmo evento atinge áreas próximas, os sinistros deixam de ser independentes entre regiões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3</a:t>
            </a:r>
          </a:p>
        </p:txBody>
      </p:sp>
      <p:sp>
        <p:nvSpPr>
          <p:cNvPr id="6" name="Grid evento r0c0"/>
          <p:cNvSpPr/>
          <p:nvPr/>
        </p:nvSpPr>
        <p:spPr>
          <a:xfrm>
            <a:off x="960120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Grid evento r0c1"/>
          <p:cNvSpPr/>
          <p:nvPr/>
        </p:nvSpPr>
        <p:spPr>
          <a:xfrm>
            <a:off x="1709928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Grid evento r0c2"/>
          <p:cNvSpPr/>
          <p:nvPr/>
        </p:nvSpPr>
        <p:spPr>
          <a:xfrm>
            <a:off x="2459736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Grid evento r0c3"/>
          <p:cNvSpPr/>
          <p:nvPr/>
        </p:nvSpPr>
        <p:spPr>
          <a:xfrm>
            <a:off x="3209544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Grid evento r0c4"/>
          <p:cNvSpPr/>
          <p:nvPr/>
        </p:nvSpPr>
        <p:spPr>
          <a:xfrm>
            <a:off x="3959352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Grid evento r1c0"/>
          <p:cNvSpPr/>
          <p:nvPr/>
        </p:nvSpPr>
        <p:spPr>
          <a:xfrm>
            <a:off x="960120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Grid evento r1c1"/>
          <p:cNvSpPr/>
          <p:nvPr/>
        </p:nvSpPr>
        <p:spPr>
          <a:xfrm>
            <a:off x="1709928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Grid evento r1c2"/>
          <p:cNvSpPr/>
          <p:nvPr/>
        </p:nvSpPr>
        <p:spPr>
          <a:xfrm>
            <a:off x="2459736" y="2532888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Grid evento r1c3"/>
          <p:cNvSpPr/>
          <p:nvPr/>
        </p:nvSpPr>
        <p:spPr>
          <a:xfrm>
            <a:off x="3209544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Grid evento r1c4"/>
          <p:cNvSpPr/>
          <p:nvPr/>
        </p:nvSpPr>
        <p:spPr>
          <a:xfrm>
            <a:off x="3959352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Grid evento r2c0"/>
          <p:cNvSpPr/>
          <p:nvPr/>
        </p:nvSpPr>
        <p:spPr>
          <a:xfrm>
            <a:off x="960120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Grid evento r2c1"/>
          <p:cNvSpPr/>
          <p:nvPr/>
        </p:nvSpPr>
        <p:spPr>
          <a:xfrm>
            <a:off x="1709928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Grid evento r2c2"/>
          <p:cNvSpPr/>
          <p:nvPr/>
        </p:nvSpPr>
        <p:spPr>
          <a:xfrm>
            <a:off x="2459736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Grid evento r2c3"/>
          <p:cNvSpPr/>
          <p:nvPr/>
        </p:nvSpPr>
        <p:spPr>
          <a:xfrm>
            <a:off x="3209544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Grid evento r2c4"/>
          <p:cNvSpPr/>
          <p:nvPr/>
        </p:nvSpPr>
        <p:spPr>
          <a:xfrm>
            <a:off x="3959352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Grid evento r3c0"/>
          <p:cNvSpPr/>
          <p:nvPr/>
        </p:nvSpPr>
        <p:spPr>
          <a:xfrm>
            <a:off x="960120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Grid evento r3c1"/>
          <p:cNvSpPr/>
          <p:nvPr/>
        </p:nvSpPr>
        <p:spPr>
          <a:xfrm>
            <a:off x="1709928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Grid evento r3c2"/>
          <p:cNvSpPr/>
          <p:nvPr/>
        </p:nvSpPr>
        <p:spPr>
          <a:xfrm>
            <a:off x="2459736" y="4032504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Grid evento r3c3"/>
          <p:cNvSpPr/>
          <p:nvPr/>
        </p:nvSpPr>
        <p:spPr>
          <a:xfrm>
            <a:off x="3209544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Grid evento r3c4"/>
          <p:cNvSpPr/>
          <p:nvPr/>
        </p:nvSpPr>
        <p:spPr>
          <a:xfrm>
            <a:off x="3959352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Grid evento r4c0"/>
          <p:cNvSpPr/>
          <p:nvPr/>
        </p:nvSpPr>
        <p:spPr>
          <a:xfrm>
            <a:off x="960120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Grid evento r4c1"/>
          <p:cNvSpPr/>
          <p:nvPr/>
        </p:nvSpPr>
        <p:spPr>
          <a:xfrm>
            <a:off x="1709928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Grid evento r4c2"/>
          <p:cNvSpPr/>
          <p:nvPr/>
        </p:nvSpPr>
        <p:spPr>
          <a:xfrm>
            <a:off x="2459736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Grid evento r4c3"/>
          <p:cNvSpPr/>
          <p:nvPr/>
        </p:nvSpPr>
        <p:spPr>
          <a:xfrm>
            <a:off x="3209544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Grid evento r4c4"/>
          <p:cNvSpPr/>
          <p:nvPr/>
        </p:nvSpPr>
        <p:spPr>
          <a:xfrm>
            <a:off x="3959352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Área do evento"/>
          <p:cNvSpPr/>
          <p:nvPr/>
        </p:nvSpPr>
        <p:spPr>
          <a:xfrm>
            <a:off x="1579168" y="2402128"/>
            <a:ext cx="2474366" cy="2474366"/>
          </a:xfrm>
          <a:prstGeom prst="ellipse">
            <a:avLst/>
          </a:prstGeom>
          <a:solidFill>
            <a:srgbClr val="D55E00">
              <a:alpha val="12000"/>
            </a:srgbClr>
          </a:solidFill>
          <a:ln w="1905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41848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Arial"/>
              </a:rPr>
              <a:t>Área atingida por um mesmo evento climático</a:t>
            </a:r>
          </a:p>
        </p:txBody>
      </p:sp>
      <p:sp>
        <p:nvSpPr>
          <p:cNvPr id="33" name="Oval 32"/>
          <p:cNvSpPr/>
          <p:nvPr/>
        </p:nvSpPr>
        <p:spPr>
          <a:xfrm>
            <a:off x="5806440" y="1874519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8470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Um evento, vários grids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240279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672"/>
                </a:solidFill>
                <a:latin typeface="Arial"/>
              </a:rPr>
              <a:t>A mesma chuva intensa atinge células vizinhas no mesmo mês</a:t>
            </a:r>
          </a:p>
        </p:txBody>
      </p:sp>
      <p:sp>
        <p:nvSpPr>
          <p:cNvPr id="36" name="Oval 35"/>
          <p:cNvSpPr/>
          <p:nvPr/>
        </p:nvSpPr>
        <p:spPr>
          <a:xfrm>
            <a:off x="5806440" y="3200400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Sinistros sobem juntos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661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672"/>
                </a:solidFill>
                <a:latin typeface="Arial"/>
              </a:rPr>
              <a:t>Grids próximos tendem a registrar picos ao mesmo tempo</a:t>
            </a:r>
          </a:p>
        </p:txBody>
      </p:sp>
      <p:sp>
        <p:nvSpPr>
          <p:cNvPr id="39" name="Oval 38"/>
          <p:cNvSpPr/>
          <p:nvPr/>
        </p:nvSpPr>
        <p:spPr>
          <a:xfrm>
            <a:off x="5806440" y="4526279"/>
            <a:ext cx="502920" cy="5029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9884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Independência deixa de valer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A6672"/>
                </a:solidFill>
                <a:latin typeface="Arial"/>
              </a:rPr>
              <a:t>Tratar cada grid isoladamente ignora essa co-ocorrência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MODELOS CONVENCIONAIS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Modelos convencionais captam exposição, risco e clima, mas não representam explicitamente a dependência espacial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4</a:t>
            </a:r>
          </a:p>
        </p:txBody>
      </p:sp>
      <p:sp>
        <p:nvSpPr>
          <p:cNvPr id="6" name="Header Negative Binomial (NB)"/>
          <p:cNvSpPr/>
          <p:nvPr/>
        </p:nvSpPr>
        <p:spPr>
          <a:xfrm>
            <a:off x="246888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Negative Binomial (NB)</a:t>
            </a:r>
          </a:p>
        </p:txBody>
      </p:sp>
      <p:sp>
        <p:nvSpPr>
          <p:cNvPr id="7" name="Header Random Forest (RF)"/>
          <p:cNvSpPr/>
          <p:nvPr/>
        </p:nvSpPr>
        <p:spPr>
          <a:xfrm>
            <a:off x="708660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Random Forest (RF)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600200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Estrutura</a:t>
            </a:r>
          </a:p>
        </p:txBody>
      </p:sp>
      <p:sp>
        <p:nvSpPr>
          <p:cNvPr id="9" name="Célula Estrutura"/>
          <p:cNvSpPr/>
          <p:nvPr/>
        </p:nvSpPr>
        <p:spPr>
          <a:xfrm>
            <a:off x="246888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Célula Estrutura"/>
          <p:cNvSpPr/>
          <p:nvPr/>
        </p:nvSpPr>
        <p:spPr>
          <a:xfrm>
            <a:off x="708660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6002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Captura</a:t>
            </a:r>
          </a:p>
        </p:txBody>
      </p:sp>
      <p:sp>
        <p:nvSpPr>
          <p:cNvPr id="12" name="Célula Captura"/>
          <p:cNvSpPr/>
          <p:nvPr/>
        </p:nvSpPr>
        <p:spPr>
          <a:xfrm>
            <a:off x="246888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Célula Captura"/>
          <p:cNvSpPr/>
          <p:nvPr/>
        </p:nvSpPr>
        <p:spPr>
          <a:xfrm>
            <a:off x="708660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600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Fica faltando</a:t>
            </a:r>
          </a:p>
        </p:txBody>
      </p:sp>
      <p:sp>
        <p:nvSpPr>
          <p:cNvPr id="15" name="Célula Fica faltando"/>
          <p:cNvSpPr/>
          <p:nvPr/>
        </p:nvSpPr>
        <p:spPr>
          <a:xfrm>
            <a:off x="246888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Célula Fica faltando"/>
          <p:cNvSpPr/>
          <p:nvPr/>
        </p:nvSpPr>
        <p:spPr>
          <a:xfrm>
            <a:off x="708660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331720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61488"/>
            <a:ext cx="39593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log 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= log 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E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</a:t>
            </a:r>
            <a:r>
              <a:rPr sz="1900" b="0" i="0" baseline="-25000">
                <a:solidFill>
                  <a:srgbClr val="12263A"/>
                </a:solidFill>
                <a:latin typeface="Cambria"/>
              </a:rPr>
              <a:t>0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β′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X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91839"/>
            <a:ext cx="38679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Y</a:t>
            </a:r>
            <a:r>
              <a:rPr sz="1200" b="1" i="0" baseline="-25000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>
                <a:solidFill>
                  <a:srgbClr val="5A6672"/>
                </a:solidFill>
                <a:latin typeface="Arial"/>
              </a:rPr>
              <a:t>  sinistros no grid g, mês t</a:t>
            </a:r>
          </a:p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E</a:t>
            </a:r>
            <a:r>
              <a:rPr sz="1200" b="1" i="0" baseline="-25000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>
                <a:solidFill>
                  <a:srgbClr val="5A6672"/>
                </a:solidFill>
                <a:latin typeface="Arial"/>
              </a:rPr>
              <a:t>  exposição (domicílios segurados)</a:t>
            </a:r>
          </a:p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X</a:t>
            </a:r>
            <a:r>
              <a:rPr sz="1200" b="1" i="0" baseline="-25000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>
                <a:solidFill>
                  <a:srgbClr val="5A6672"/>
                </a:solidFill>
                <a:latin typeface="Arial"/>
              </a:rPr>
              <a:t>  covariáveis de clima e carteira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62671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395728"/>
            <a:ext cx="292609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498079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62671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882127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19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7473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24927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54111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862279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1540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5820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2279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4224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4964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3485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8504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71423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>
            <a:off x="958291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7552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41832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8291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80236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0976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9497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4516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7435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844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69F00"/>
                </a:solidFill>
                <a:latin typeface="Arial"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3291839"/>
            <a:ext cx="38679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Média de muitas árvores de decisão,</a:t>
            </a:r>
          </a:p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cada uma treinada numa amostra dos dados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251959"/>
            <a:ext cx="3867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Contagens com sobredispersão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Exposição como escala do risco (offset)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251959"/>
            <a:ext cx="38679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Relações não lineares e interações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Sem forma funcional imposta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212079"/>
            <a:ext cx="3867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Dadas as covariáveis, cada grid é tratado como independente dos vizinhos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5212079"/>
            <a:ext cx="3867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Nenhuma estrutura espacial explícita; exposição entra como variável comum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O SP-NB adiciona ao risco próprio de cada grid a informação de ocorrência anormal de sinistros nos vizinhos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5</a:t>
            </a:r>
          </a:p>
        </p:txBody>
      </p:sp>
      <p:sp>
        <p:nvSpPr>
          <p:cNvPr id="6" name="Bloco risco próprio"/>
          <p:cNvSpPr/>
          <p:nvPr/>
        </p:nvSpPr>
        <p:spPr>
          <a:xfrm>
            <a:off x="68580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Arial"/>
              </a:rPr>
              <a:t>Risco próprio do grid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670048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0604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Exposição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nº de domicílios segurados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328416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26440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Clima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chuva no mês e no mês anterior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86784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922776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Carteira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pisos, qualidade e idade dos imóveis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188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o que a NB já 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8036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+</a:t>
            </a:r>
          </a:p>
        </p:txBody>
      </p:sp>
      <p:sp>
        <p:nvSpPr>
          <p:cNvPr id="16" name="Bloco vizinhos"/>
          <p:cNvSpPr/>
          <p:nvPr/>
        </p:nvSpPr>
        <p:spPr>
          <a:xfrm>
            <a:off x="452628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Choque nos vizinhos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7548" y="2560320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11596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5644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7548" y="2944368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11596" y="2944368"/>
            <a:ext cx="347472" cy="34747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5644" y="2944368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27548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1596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5644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849624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B1B1B"/>
                </a:solidFill>
                <a:latin typeface="Arial"/>
              </a:rPr>
              <a:t>Vizinhos com sinistros acima do esperado no mês anterior elevam a expectativa do grid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188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D55E00"/>
                </a:solidFill>
                <a:latin typeface="Arial"/>
              </a:rPr>
              <a:t>o que o SP-NB acrescenta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880360"/>
            <a:ext cx="66751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=</a:t>
            </a:r>
          </a:p>
        </p:txBody>
      </p:sp>
      <p:sp>
        <p:nvSpPr>
          <p:cNvPr id="30" name="Bloco resultado"/>
          <p:cNvSpPr/>
          <p:nvPr/>
        </p:nvSpPr>
        <p:spPr>
          <a:xfrm>
            <a:off x="8348472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2792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Sinistros esperados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2560320"/>
            <a:ext cx="26060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C9D6E2"/>
                </a:solidFill>
                <a:latin typeface="Arial"/>
              </a:rPr>
              <a:t>no grid </a:t>
            </a:r>
            <a:r>
              <a:rPr sz="1500" b="0" i="1">
                <a:solidFill>
                  <a:srgbClr val="C9D6E2"/>
                </a:solidFill>
                <a:latin typeface="Cambria"/>
              </a:rPr>
              <a:t>g</a:t>
            </a:r>
            <a:r>
              <a:rPr sz="1500" b="0" i="0">
                <a:solidFill>
                  <a:srgbClr val="C9D6E2"/>
                </a:solidFill>
                <a:latin typeface="Arial"/>
              </a:rPr>
              <a:t> no mês </a:t>
            </a:r>
            <a:r>
              <a:rPr sz="1500" b="0" i="1">
                <a:solidFill>
                  <a:srgbClr val="C9D6E2"/>
                </a:solidFill>
                <a:latin typeface="Cambria"/>
              </a:rPr>
              <a:t>t</a:t>
            </a:r>
          </a:p>
          <a:p>
            <a:pPr algn="l"/>
          </a:p>
          <a:p>
            <a:pPr algn="l"/>
            <a:r>
              <a:rPr sz="1500" b="0" i="0">
                <a:solidFill>
                  <a:srgbClr val="C9D6E2"/>
                </a:solidFill>
                <a:latin typeface="Arial"/>
              </a:rPr>
              <a:t>Sobe quando o próprio risco é alto </a:t>
            </a:r>
            <a:r>
              <a:rPr sz="1500" b="1" i="0">
                <a:solidFill>
                  <a:srgbClr val="E69F00"/>
                </a:solidFill>
                <a:latin typeface="Arial"/>
              </a:rPr>
              <a:t>ou</a:t>
            </a:r>
            <a:r>
              <a:rPr sz="1500" b="0" i="0">
                <a:solidFill>
                  <a:srgbClr val="C9D6E2"/>
                </a:solidFill>
                <a:latin typeface="Arial"/>
              </a:rPr>
              <a:t> quando a vizinhança acabou de sofrer um choque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Sem vizinhos em choque no mês anterior, o SP-NB reduz-se à própria NB.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A intensidade esperada combina exposição, características do risco e propagação espaço-temporal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6</a:t>
            </a:r>
          </a:p>
        </p:txBody>
      </p:sp>
      <p:sp>
        <p:nvSpPr>
          <p:cNvPr id="6" name="Equações SP-NB"/>
          <p:cNvSpPr/>
          <p:nvPr/>
        </p:nvSpPr>
        <p:spPr>
          <a:xfrm>
            <a:off x="685800" y="1691640"/>
            <a:ext cx="10817352" cy="16916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26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1045159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8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= </a:t>
            </a:r>
            <a:r>
              <a:rPr sz="28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2800" b="1" i="1" baseline="-25000">
                <a:solidFill>
                  <a:srgbClr val="5A6672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[ 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28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)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 +  </a:t>
            </a:r>
            <a:r>
              <a:rPr sz="28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2800" b="1" i="1" baseline="-25000">
                <a:solidFill>
                  <a:srgbClr val="D55E00"/>
                </a:solidFill>
                <a:latin typeface="Cambria"/>
              </a:rPr>
              <a:t>g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j,t−1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]</a:t>
            </a:r>
          </a:p>
        </p:txBody>
      </p:sp>
      <p:sp>
        <p:nvSpPr>
          <p:cNvPr id="9" name="Termo Exposição"/>
          <p:cNvSpPr/>
          <p:nvPr/>
        </p:nvSpPr>
        <p:spPr>
          <a:xfrm>
            <a:off x="685800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1900" b="1" i="1" baseline="-25000">
                <a:solidFill>
                  <a:srgbClr val="5A6672"/>
                </a:solidFill>
                <a:latin typeface="Cambria"/>
              </a:rPr>
              <a:t>g,t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2167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Exposição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2167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Escala a taxa pelo nº de domicílios segurados</a:t>
            </a:r>
          </a:p>
        </p:txBody>
      </p:sp>
      <p:sp>
        <p:nvSpPr>
          <p:cNvPr id="13" name="Termo Risco próprio"/>
          <p:cNvSpPr/>
          <p:nvPr/>
        </p:nvSpPr>
        <p:spPr>
          <a:xfrm>
            <a:off x="3447288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379476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19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1900" b="1" i="1">
                <a:solidFill>
                  <a:srgbClr val="0072B2"/>
                </a:solidFill>
                <a:latin typeface="Cambria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315968"/>
            <a:ext cx="2167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Risco próprio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663440"/>
            <a:ext cx="2167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Efeito do clima e da composição da carteira</a:t>
            </a:r>
          </a:p>
        </p:txBody>
      </p:sp>
      <p:sp>
        <p:nvSpPr>
          <p:cNvPr id="17" name="Termo Sensibilidade do grid"/>
          <p:cNvSpPr/>
          <p:nvPr/>
        </p:nvSpPr>
        <p:spPr>
          <a:xfrm>
            <a:off x="6208776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379476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1900" b="1" i="1" baseline="-25000">
                <a:solidFill>
                  <a:srgbClr val="D55E00"/>
                </a:solidFill>
                <a:latin typeface="Cambria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315968"/>
            <a:ext cx="2167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Sensibilidade do grid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4663440"/>
            <a:ext cx="2167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Intensidade da propagação para g; estimada por grid, não negativa</a:t>
            </a:r>
          </a:p>
        </p:txBody>
      </p:sp>
      <p:sp>
        <p:nvSpPr>
          <p:cNvPr id="21" name="Termo Vizinhos em choque"/>
          <p:cNvSpPr/>
          <p:nvPr/>
        </p:nvSpPr>
        <p:spPr>
          <a:xfrm>
            <a:off x="8970264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53144" y="3794760"/>
            <a:ext cx="2167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j,t−1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4315968"/>
            <a:ext cx="2167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Vizinhos em choque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4663440"/>
            <a:ext cx="216712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Nº de vizinhos Queen em choque no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42432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Termo espacial aditivo à taxa, como em Gudmundarson, Tzougas e Christopoulos (2026); parâmetros (β, ψ, φ) estimados por máxima verossimilhança via algoritmo 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A matriz Queen define quais grids compartilham informação espacial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7</a:t>
            </a:r>
          </a:p>
        </p:txBody>
      </p:sp>
      <p:sp>
        <p:nvSpPr>
          <p:cNvPr id="6" name="Queen r0c0"/>
          <p:cNvSpPr/>
          <p:nvPr/>
        </p:nvSpPr>
        <p:spPr>
          <a:xfrm>
            <a:off x="86868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Queen r0c1"/>
          <p:cNvSpPr/>
          <p:nvPr/>
        </p:nvSpPr>
        <p:spPr>
          <a:xfrm>
            <a:off x="160020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Queen r0c2"/>
          <p:cNvSpPr/>
          <p:nvPr/>
        </p:nvSpPr>
        <p:spPr>
          <a:xfrm>
            <a:off x="233172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Queen r0c3"/>
          <p:cNvSpPr/>
          <p:nvPr/>
        </p:nvSpPr>
        <p:spPr>
          <a:xfrm>
            <a:off x="306324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Queen r0c4"/>
          <p:cNvSpPr/>
          <p:nvPr/>
        </p:nvSpPr>
        <p:spPr>
          <a:xfrm>
            <a:off x="379476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Queen r1c0"/>
          <p:cNvSpPr/>
          <p:nvPr/>
        </p:nvSpPr>
        <p:spPr>
          <a:xfrm>
            <a:off x="86868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Queen r1c1"/>
          <p:cNvSpPr/>
          <p:nvPr/>
        </p:nvSpPr>
        <p:spPr>
          <a:xfrm>
            <a:off x="160020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3" name="Queen r1c2"/>
          <p:cNvSpPr/>
          <p:nvPr/>
        </p:nvSpPr>
        <p:spPr>
          <a:xfrm>
            <a:off x="233172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4" name="Queen r1c3"/>
          <p:cNvSpPr/>
          <p:nvPr/>
        </p:nvSpPr>
        <p:spPr>
          <a:xfrm>
            <a:off x="306324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5" name="Queen r1c4"/>
          <p:cNvSpPr/>
          <p:nvPr/>
        </p:nvSpPr>
        <p:spPr>
          <a:xfrm>
            <a:off x="379476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Queen r2c0"/>
          <p:cNvSpPr/>
          <p:nvPr/>
        </p:nvSpPr>
        <p:spPr>
          <a:xfrm>
            <a:off x="86868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Queen r2c1"/>
          <p:cNvSpPr/>
          <p:nvPr/>
        </p:nvSpPr>
        <p:spPr>
          <a:xfrm>
            <a:off x="160020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8" name="Queen r2c2"/>
          <p:cNvSpPr/>
          <p:nvPr/>
        </p:nvSpPr>
        <p:spPr>
          <a:xfrm>
            <a:off x="2331720" y="3246120"/>
            <a:ext cx="694944" cy="694944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19" name="Queen r2c3"/>
          <p:cNvSpPr/>
          <p:nvPr/>
        </p:nvSpPr>
        <p:spPr>
          <a:xfrm>
            <a:off x="306324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0" name="Queen r2c4"/>
          <p:cNvSpPr/>
          <p:nvPr/>
        </p:nvSpPr>
        <p:spPr>
          <a:xfrm>
            <a:off x="379476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Queen r3c0"/>
          <p:cNvSpPr/>
          <p:nvPr/>
        </p:nvSpPr>
        <p:spPr>
          <a:xfrm>
            <a:off x="86868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Queen r3c1"/>
          <p:cNvSpPr/>
          <p:nvPr/>
        </p:nvSpPr>
        <p:spPr>
          <a:xfrm>
            <a:off x="160020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3" name="Queen r3c2"/>
          <p:cNvSpPr/>
          <p:nvPr/>
        </p:nvSpPr>
        <p:spPr>
          <a:xfrm>
            <a:off x="233172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4" name="Queen r3c3"/>
          <p:cNvSpPr/>
          <p:nvPr/>
        </p:nvSpPr>
        <p:spPr>
          <a:xfrm>
            <a:off x="306324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5" name="Queen r3c4"/>
          <p:cNvSpPr/>
          <p:nvPr/>
        </p:nvSpPr>
        <p:spPr>
          <a:xfrm>
            <a:off x="379476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Queen r4c0"/>
          <p:cNvSpPr/>
          <p:nvPr/>
        </p:nvSpPr>
        <p:spPr>
          <a:xfrm>
            <a:off x="86868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Queen r4c1"/>
          <p:cNvSpPr/>
          <p:nvPr/>
        </p:nvSpPr>
        <p:spPr>
          <a:xfrm>
            <a:off x="160020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Queen r4c2"/>
          <p:cNvSpPr/>
          <p:nvPr/>
        </p:nvSpPr>
        <p:spPr>
          <a:xfrm>
            <a:off x="233172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Queen r4c3"/>
          <p:cNvSpPr/>
          <p:nvPr/>
        </p:nvSpPr>
        <p:spPr>
          <a:xfrm>
            <a:off x="306324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Queen r4c4"/>
          <p:cNvSpPr/>
          <p:nvPr/>
        </p:nvSpPr>
        <p:spPr>
          <a:xfrm>
            <a:off x="379476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Grid interno: 8 vizinhos (lados + diagonais)</a:t>
            </a:r>
          </a:p>
        </p:txBody>
      </p:sp>
      <p:sp>
        <p:nvSpPr>
          <p:cNvPr id="32" name="Definição A"/>
          <p:cNvSpPr/>
          <p:nvPr/>
        </p:nvSpPr>
        <p:spPr>
          <a:xfrm>
            <a:off x="4983480" y="1783080"/>
            <a:ext cx="6519672" cy="141732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1901952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1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se g e j compartilham um lado ou um vértice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487168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0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caso contrário</a:t>
            </a:r>
          </a:p>
        </p:txBody>
      </p:sp>
      <p:sp>
        <p:nvSpPr>
          <p:cNvPr id="35" name="Mini vizinhos na borda r0c0"/>
          <p:cNvSpPr/>
          <p:nvPr/>
        </p:nvSpPr>
        <p:spPr>
          <a:xfrm>
            <a:off x="4983480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Mini vizinhos na borda r0c1"/>
          <p:cNvSpPr/>
          <p:nvPr/>
        </p:nvSpPr>
        <p:spPr>
          <a:xfrm>
            <a:off x="5312664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Mini vizinhos na borda r0c2"/>
          <p:cNvSpPr/>
          <p:nvPr/>
        </p:nvSpPr>
        <p:spPr>
          <a:xfrm>
            <a:off x="564184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Mini vizinhos na borda r0c3"/>
          <p:cNvSpPr/>
          <p:nvPr/>
        </p:nvSpPr>
        <p:spPr>
          <a:xfrm>
            <a:off x="597103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Mini vizinhos na borda r0c4"/>
          <p:cNvSpPr/>
          <p:nvPr/>
        </p:nvSpPr>
        <p:spPr>
          <a:xfrm>
            <a:off x="630021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Mini vizinhos na borda r1c0"/>
          <p:cNvSpPr/>
          <p:nvPr/>
        </p:nvSpPr>
        <p:spPr>
          <a:xfrm>
            <a:off x="498348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Mini vizinhos na borda r1c1"/>
          <p:cNvSpPr/>
          <p:nvPr/>
        </p:nvSpPr>
        <p:spPr>
          <a:xfrm>
            <a:off x="531266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Mini vizinhos na borda r1c2"/>
          <p:cNvSpPr/>
          <p:nvPr/>
        </p:nvSpPr>
        <p:spPr>
          <a:xfrm>
            <a:off x="564184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Mini vizinhos na borda r1c3"/>
          <p:cNvSpPr/>
          <p:nvPr/>
        </p:nvSpPr>
        <p:spPr>
          <a:xfrm>
            <a:off x="597103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Mini vizinhos na borda r1c4"/>
          <p:cNvSpPr/>
          <p:nvPr/>
        </p:nvSpPr>
        <p:spPr>
          <a:xfrm>
            <a:off x="630021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Mini vizinhos na borda r2c0"/>
          <p:cNvSpPr/>
          <p:nvPr/>
        </p:nvSpPr>
        <p:spPr>
          <a:xfrm>
            <a:off x="4983480" y="4178808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Mini vizinhos na borda r2c1"/>
          <p:cNvSpPr/>
          <p:nvPr/>
        </p:nvSpPr>
        <p:spPr>
          <a:xfrm>
            <a:off x="5312664" y="4178808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Mini vizinhos na borda r2c2"/>
          <p:cNvSpPr/>
          <p:nvPr/>
        </p:nvSpPr>
        <p:spPr>
          <a:xfrm>
            <a:off x="564184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Mini vizinhos na borda r2c3"/>
          <p:cNvSpPr/>
          <p:nvPr/>
        </p:nvSpPr>
        <p:spPr>
          <a:xfrm>
            <a:off x="597103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Mini vizinhos na borda r2c4"/>
          <p:cNvSpPr/>
          <p:nvPr/>
        </p:nvSpPr>
        <p:spPr>
          <a:xfrm>
            <a:off x="630021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Mini vizinhos na borda r3c0"/>
          <p:cNvSpPr/>
          <p:nvPr/>
        </p:nvSpPr>
        <p:spPr>
          <a:xfrm>
            <a:off x="4983480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Mini vizinhos na borda r3c1"/>
          <p:cNvSpPr/>
          <p:nvPr/>
        </p:nvSpPr>
        <p:spPr>
          <a:xfrm>
            <a:off x="5312664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Mini vizinhos na borda r3c2"/>
          <p:cNvSpPr/>
          <p:nvPr/>
        </p:nvSpPr>
        <p:spPr>
          <a:xfrm>
            <a:off x="564184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Mini vizinhos na borda r3c3"/>
          <p:cNvSpPr/>
          <p:nvPr/>
        </p:nvSpPr>
        <p:spPr>
          <a:xfrm>
            <a:off x="597103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Mini vizinhos na borda r3c4"/>
          <p:cNvSpPr/>
          <p:nvPr/>
        </p:nvSpPr>
        <p:spPr>
          <a:xfrm>
            <a:off x="630021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Mini vizinhos na borda r4c0"/>
          <p:cNvSpPr/>
          <p:nvPr/>
        </p:nvSpPr>
        <p:spPr>
          <a:xfrm>
            <a:off x="498348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Mini vizinhos na borda r4c1"/>
          <p:cNvSpPr/>
          <p:nvPr/>
        </p:nvSpPr>
        <p:spPr>
          <a:xfrm>
            <a:off x="531266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Mini vizinhos na borda r4c2"/>
          <p:cNvSpPr/>
          <p:nvPr/>
        </p:nvSpPr>
        <p:spPr>
          <a:xfrm>
            <a:off x="564184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Mini vizinhos na borda r4c3"/>
          <p:cNvSpPr/>
          <p:nvPr/>
        </p:nvSpPr>
        <p:spPr>
          <a:xfrm>
            <a:off x="597103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Mini vizinhos na borda r4c4"/>
          <p:cNvSpPr/>
          <p:nvPr/>
        </p:nvSpPr>
        <p:spPr>
          <a:xfrm>
            <a:off x="630021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03720" y="38404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5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na borda</a:t>
            </a:r>
          </a:p>
        </p:txBody>
      </p:sp>
      <p:sp>
        <p:nvSpPr>
          <p:cNvPr id="61" name="Mini vizinhos no canto r0c0"/>
          <p:cNvSpPr/>
          <p:nvPr/>
        </p:nvSpPr>
        <p:spPr>
          <a:xfrm>
            <a:off x="8366760" y="3520440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Mini vizinhos no canto r0c1"/>
          <p:cNvSpPr/>
          <p:nvPr/>
        </p:nvSpPr>
        <p:spPr>
          <a:xfrm>
            <a:off x="8695944" y="3520440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Mini vizinhos no canto r0c2"/>
          <p:cNvSpPr/>
          <p:nvPr/>
        </p:nvSpPr>
        <p:spPr>
          <a:xfrm>
            <a:off x="902512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Mini vizinhos no canto r0c3"/>
          <p:cNvSpPr/>
          <p:nvPr/>
        </p:nvSpPr>
        <p:spPr>
          <a:xfrm>
            <a:off x="935431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Mini vizinhos no canto r0c4"/>
          <p:cNvSpPr/>
          <p:nvPr/>
        </p:nvSpPr>
        <p:spPr>
          <a:xfrm>
            <a:off x="968349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Mini vizinhos no canto r1c0"/>
          <p:cNvSpPr/>
          <p:nvPr/>
        </p:nvSpPr>
        <p:spPr>
          <a:xfrm>
            <a:off x="836676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Mini vizinhos no canto r1c1"/>
          <p:cNvSpPr/>
          <p:nvPr/>
        </p:nvSpPr>
        <p:spPr>
          <a:xfrm>
            <a:off x="869594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Mini vizinhos no canto r1c2"/>
          <p:cNvSpPr/>
          <p:nvPr/>
        </p:nvSpPr>
        <p:spPr>
          <a:xfrm>
            <a:off x="902512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Mini vizinhos no canto r1c3"/>
          <p:cNvSpPr/>
          <p:nvPr/>
        </p:nvSpPr>
        <p:spPr>
          <a:xfrm>
            <a:off x="935431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Mini vizinhos no canto r1c4"/>
          <p:cNvSpPr/>
          <p:nvPr/>
        </p:nvSpPr>
        <p:spPr>
          <a:xfrm>
            <a:off x="968349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Mini vizinhos no canto r2c0"/>
          <p:cNvSpPr/>
          <p:nvPr/>
        </p:nvSpPr>
        <p:spPr>
          <a:xfrm>
            <a:off x="8366760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Mini vizinhos no canto r2c1"/>
          <p:cNvSpPr/>
          <p:nvPr/>
        </p:nvSpPr>
        <p:spPr>
          <a:xfrm>
            <a:off x="8695944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Mini vizinhos no canto r2c2"/>
          <p:cNvSpPr/>
          <p:nvPr/>
        </p:nvSpPr>
        <p:spPr>
          <a:xfrm>
            <a:off x="902512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Mini vizinhos no canto r2c3"/>
          <p:cNvSpPr/>
          <p:nvPr/>
        </p:nvSpPr>
        <p:spPr>
          <a:xfrm>
            <a:off x="935431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Mini vizinhos no canto r2c4"/>
          <p:cNvSpPr/>
          <p:nvPr/>
        </p:nvSpPr>
        <p:spPr>
          <a:xfrm>
            <a:off x="968349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Mini vizinhos no canto r3c0"/>
          <p:cNvSpPr/>
          <p:nvPr/>
        </p:nvSpPr>
        <p:spPr>
          <a:xfrm>
            <a:off x="8366760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Mini vizinhos no canto r3c1"/>
          <p:cNvSpPr/>
          <p:nvPr/>
        </p:nvSpPr>
        <p:spPr>
          <a:xfrm>
            <a:off x="8695944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Mini vizinhos no canto r3c2"/>
          <p:cNvSpPr/>
          <p:nvPr/>
        </p:nvSpPr>
        <p:spPr>
          <a:xfrm>
            <a:off x="902512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Mini vizinhos no canto r3c3"/>
          <p:cNvSpPr/>
          <p:nvPr/>
        </p:nvSpPr>
        <p:spPr>
          <a:xfrm>
            <a:off x="935431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Mini vizinhos no canto r3c4"/>
          <p:cNvSpPr/>
          <p:nvPr/>
        </p:nvSpPr>
        <p:spPr>
          <a:xfrm>
            <a:off x="968349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Mini vizinhos no canto r4c0"/>
          <p:cNvSpPr/>
          <p:nvPr/>
        </p:nvSpPr>
        <p:spPr>
          <a:xfrm>
            <a:off x="836676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Mini vizinhos no canto r4c1"/>
          <p:cNvSpPr/>
          <p:nvPr/>
        </p:nvSpPr>
        <p:spPr>
          <a:xfrm>
            <a:off x="869594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Mini vizinhos no canto r4c2"/>
          <p:cNvSpPr/>
          <p:nvPr/>
        </p:nvSpPr>
        <p:spPr>
          <a:xfrm>
            <a:off x="902512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Mini vizinhos no canto r4c3"/>
          <p:cNvSpPr/>
          <p:nvPr/>
        </p:nvSpPr>
        <p:spPr>
          <a:xfrm>
            <a:off x="935431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Mini vizinhos no canto r4c4"/>
          <p:cNvSpPr/>
          <p:nvPr/>
        </p:nvSpPr>
        <p:spPr>
          <a:xfrm>
            <a:off x="968349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87000" y="38404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3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no canto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83480" y="5349240"/>
            <a:ext cx="6519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672"/>
                </a:solidFill>
                <a:latin typeface="Arial"/>
              </a:rPr>
              <a:t>Na área de estudo: 9 grids internos, 12 de borda e 4 de canto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Um grid entra em estado de choque quando os sinistros superam o nível esperado para sua exposição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8</a:t>
            </a:r>
          </a:p>
        </p:txBody>
      </p:sp>
      <p:sp>
        <p:nvSpPr>
          <p:cNvPr id="6" name="Painel esquema choque"/>
          <p:cNvSpPr/>
          <p:nvPr/>
        </p:nvSpPr>
        <p:spPr>
          <a:xfrm>
            <a:off x="685800" y="1691640"/>
            <a:ext cx="603504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Sinistros mensais de um grid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745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sp>
        <p:nvSpPr>
          <p:cNvPr id="9" name="Barra mês 1"/>
          <p:cNvSpPr/>
          <p:nvPr/>
        </p:nvSpPr>
        <p:spPr>
          <a:xfrm>
            <a:off x="1197864" y="4421124"/>
            <a:ext cx="324611" cy="928115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1" name="Barra mês 2"/>
          <p:cNvSpPr/>
          <p:nvPr/>
        </p:nvSpPr>
        <p:spPr>
          <a:xfrm>
            <a:off x="1632204" y="4235500"/>
            <a:ext cx="324611" cy="1113739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733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3" name="Barra mês 3"/>
          <p:cNvSpPr/>
          <p:nvPr/>
        </p:nvSpPr>
        <p:spPr>
          <a:xfrm>
            <a:off x="206654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7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5" name="Barra mês 4"/>
          <p:cNvSpPr/>
          <p:nvPr/>
        </p:nvSpPr>
        <p:spPr>
          <a:xfrm>
            <a:off x="2500884" y="3280867"/>
            <a:ext cx="324611" cy="2068372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6020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17" name="Barra mês 5"/>
          <p:cNvSpPr/>
          <p:nvPr/>
        </p:nvSpPr>
        <p:spPr>
          <a:xfrm>
            <a:off x="2935223" y="4288536"/>
            <a:ext cx="324611" cy="1060704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5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9" name="Barra mês 6"/>
          <p:cNvSpPr/>
          <p:nvPr/>
        </p:nvSpPr>
        <p:spPr>
          <a:xfrm>
            <a:off x="3369563" y="4474159"/>
            <a:ext cx="324611" cy="875080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469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1" name="Barra mês 7"/>
          <p:cNvSpPr/>
          <p:nvPr/>
        </p:nvSpPr>
        <p:spPr>
          <a:xfrm>
            <a:off x="3803903" y="4155948"/>
            <a:ext cx="324611" cy="119329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3" name="Barra mês 8"/>
          <p:cNvSpPr/>
          <p:nvPr/>
        </p:nvSpPr>
        <p:spPr>
          <a:xfrm>
            <a:off x="4238243" y="2962656"/>
            <a:ext cx="324611" cy="2386583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337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5" name="Barra mês 9"/>
          <p:cNvSpPr/>
          <p:nvPr/>
        </p:nvSpPr>
        <p:spPr>
          <a:xfrm>
            <a:off x="4672583" y="3705148"/>
            <a:ext cx="324611" cy="1644091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7" name="Barra mês 10"/>
          <p:cNvSpPr/>
          <p:nvPr/>
        </p:nvSpPr>
        <p:spPr>
          <a:xfrm>
            <a:off x="5106923" y="4341571"/>
            <a:ext cx="324611" cy="1007668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5205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9" name="Barra mês 11"/>
          <p:cNvSpPr/>
          <p:nvPr/>
        </p:nvSpPr>
        <p:spPr>
          <a:xfrm>
            <a:off x="554126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39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31" name="Barra mês 12"/>
          <p:cNvSpPr/>
          <p:nvPr/>
        </p:nvSpPr>
        <p:spPr>
          <a:xfrm>
            <a:off x="5975603" y="4262018"/>
            <a:ext cx="324611" cy="108722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20739" y="5422392"/>
            <a:ext cx="4343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cxnSp>
        <p:nvCxnSpPr>
          <p:cNvPr id="33" name="Nível esperado"/>
          <p:cNvCxnSpPr/>
          <p:nvPr/>
        </p:nvCxnSpPr>
        <p:spPr>
          <a:xfrm>
            <a:off x="1143000" y="3890772"/>
            <a:ext cx="5212079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0120" y="2313432"/>
            <a:ext cx="457200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508760" y="21762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Nível esperado para a exposição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2239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1">
                <a:solidFill>
                  <a:srgbClr val="5A6672"/>
                </a:solidFill>
                <a:latin typeface="Cambria"/>
              </a:rPr>
              <a:t>Ȳ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43000" y="5349240"/>
            <a:ext cx="5212079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3000" y="5733288"/>
            <a:ext cx="5212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meses</a:t>
            </a:r>
          </a:p>
        </p:txBody>
      </p:sp>
      <p:sp>
        <p:nvSpPr>
          <p:cNvPr id="39" name="Oval 38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746504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Observado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112264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Sinistros do grid no mês, </a:t>
            </a:r>
            <a:r>
              <a:rPr sz="1400" b="1" i="1">
                <a:solidFill>
                  <a:srgbClr val="1B1B1B"/>
                </a:solidFill>
                <a:latin typeface="Cambria"/>
              </a:rPr>
              <a:t>Y</a:t>
            </a:r>
            <a:r>
              <a:rPr sz="1400" b="1" i="1" baseline="-25000">
                <a:solidFill>
                  <a:srgbClr val="1B1B1B"/>
                </a:solidFill>
                <a:latin typeface="Cambria"/>
              </a:rPr>
              <a:t>g,t</a:t>
            </a:r>
          </a:p>
        </p:txBody>
      </p:sp>
      <p:sp>
        <p:nvSpPr>
          <p:cNvPr id="42" name="Oval 41"/>
          <p:cNvSpPr/>
          <p:nvPr/>
        </p:nvSpPr>
        <p:spPr>
          <a:xfrm>
            <a:off x="7040880" y="2807208"/>
            <a:ext cx="457200" cy="4572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2770632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Referência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136392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Nível esperado dada a exposição </a:t>
            </a:r>
            <a:r>
              <a:rPr sz="1400" b="1" i="1">
                <a:solidFill>
                  <a:srgbClr val="1B1B1B"/>
                </a:solidFill>
                <a:latin typeface="Cambria"/>
              </a:rPr>
              <a:t>E</a:t>
            </a:r>
            <a:r>
              <a:rPr sz="1400" b="1" i="1" baseline="-25000">
                <a:solidFill>
                  <a:srgbClr val="1B1B1B"/>
                </a:solidFill>
                <a:latin typeface="Cambria"/>
              </a:rPr>
              <a:t>g,t</a:t>
            </a:r>
          </a:p>
        </p:txBody>
      </p:sp>
      <p:sp>
        <p:nvSpPr>
          <p:cNvPr id="45" name="Oval 44"/>
          <p:cNvSpPr/>
          <p:nvPr/>
        </p:nvSpPr>
        <p:spPr>
          <a:xfrm>
            <a:off x="7040880" y="3831336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794760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55E00"/>
                </a:solidFill>
                <a:latin typeface="Arial"/>
              </a:rPr>
              <a:t>Choque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160520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B1B1B"/>
                </a:solidFill>
                <a:latin typeface="Cambria"/>
              </a:rPr>
              <a:t>Ȳ</a:t>
            </a:r>
            <a:r>
              <a:rPr sz="1400" b="1" i="1" baseline="-25000">
                <a:solidFill>
                  <a:srgbClr val="1B1B1B"/>
                </a:solidFill>
                <a:latin typeface="Cambria"/>
              </a:rPr>
              <a:t>g,t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= 1 se observado &gt; referência; 0 caso contrário</a:t>
            </a:r>
          </a:p>
        </p:txBody>
      </p:sp>
      <p:sp>
        <p:nvSpPr>
          <p:cNvPr id="48" name="PLACEHOLDER"/>
          <p:cNvSpPr/>
          <p:nvPr/>
        </p:nvSpPr>
        <p:spPr>
          <a:xfrm>
            <a:off x="7040880" y="4892040"/>
            <a:ext cx="4462272" cy="9144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[Confirmar no código: na referência, o limiar é o quantil 80% de uma Poisson com média = frequência global × exposição]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Construímos um painel mensal de 25 grids no entorno de Taquari (RS) para testar a abordagem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9</a:t>
            </a:r>
          </a:p>
        </p:txBody>
      </p:sp>
      <p:sp>
        <p:nvSpPr>
          <p:cNvPr id="6" name="Área r0c0"/>
          <p:cNvSpPr/>
          <p:nvPr/>
        </p:nvSpPr>
        <p:spPr>
          <a:xfrm>
            <a:off x="868680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Área r0c1"/>
          <p:cNvSpPr/>
          <p:nvPr/>
        </p:nvSpPr>
        <p:spPr>
          <a:xfrm>
            <a:off x="1581912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Área r0c2"/>
          <p:cNvSpPr/>
          <p:nvPr/>
        </p:nvSpPr>
        <p:spPr>
          <a:xfrm>
            <a:off x="2295144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Área r0c3"/>
          <p:cNvSpPr/>
          <p:nvPr/>
        </p:nvSpPr>
        <p:spPr>
          <a:xfrm>
            <a:off x="3008376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Área r0c4"/>
          <p:cNvSpPr/>
          <p:nvPr/>
        </p:nvSpPr>
        <p:spPr>
          <a:xfrm>
            <a:off x="3721608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Área r1c0"/>
          <p:cNvSpPr/>
          <p:nvPr/>
        </p:nvSpPr>
        <p:spPr>
          <a:xfrm>
            <a:off x="868680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Área r1c1"/>
          <p:cNvSpPr/>
          <p:nvPr/>
        </p:nvSpPr>
        <p:spPr>
          <a:xfrm>
            <a:off x="1581912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Área r1c2"/>
          <p:cNvSpPr/>
          <p:nvPr/>
        </p:nvSpPr>
        <p:spPr>
          <a:xfrm>
            <a:off x="2295144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Área r1c3"/>
          <p:cNvSpPr/>
          <p:nvPr/>
        </p:nvSpPr>
        <p:spPr>
          <a:xfrm>
            <a:off x="3008376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Área r1c4"/>
          <p:cNvSpPr/>
          <p:nvPr/>
        </p:nvSpPr>
        <p:spPr>
          <a:xfrm>
            <a:off x="3721608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Área r2c0"/>
          <p:cNvSpPr/>
          <p:nvPr/>
        </p:nvSpPr>
        <p:spPr>
          <a:xfrm>
            <a:off x="868680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Área r2c1"/>
          <p:cNvSpPr/>
          <p:nvPr/>
        </p:nvSpPr>
        <p:spPr>
          <a:xfrm>
            <a:off x="1581912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Área r2c2"/>
          <p:cNvSpPr/>
          <p:nvPr/>
        </p:nvSpPr>
        <p:spPr>
          <a:xfrm>
            <a:off x="2295144" y="3300984"/>
            <a:ext cx="676656" cy="676656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Taquari</a:t>
            </a:r>
          </a:p>
        </p:txBody>
      </p:sp>
      <p:sp>
        <p:nvSpPr>
          <p:cNvPr id="19" name="Área r2c3"/>
          <p:cNvSpPr/>
          <p:nvPr/>
        </p:nvSpPr>
        <p:spPr>
          <a:xfrm>
            <a:off x="3008376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Área r2c4"/>
          <p:cNvSpPr/>
          <p:nvPr/>
        </p:nvSpPr>
        <p:spPr>
          <a:xfrm>
            <a:off x="3721608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Área r3c0"/>
          <p:cNvSpPr/>
          <p:nvPr/>
        </p:nvSpPr>
        <p:spPr>
          <a:xfrm>
            <a:off x="868680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Área r3c1"/>
          <p:cNvSpPr/>
          <p:nvPr/>
        </p:nvSpPr>
        <p:spPr>
          <a:xfrm>
            <a:off x="1581912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Área r3c2"/>
          <p:cNvSpPr/>
          <p:nvPr/>
        </p:nvSpPr>
        <p:spPr>
          <a:xfrm>
            <a:off x="2295144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Área r3c3"/>
          <p:cNvSpPr/>
          <p:nvPr/>
        </p:nvSpPr>
        <p:spPr>
          <a:xfrm>
            <a:off x="3008376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Área r3c4"/>
          <p:cNvSpPr/>
          <p:nvPr/>
        </p:nvSpPr>
        <p:spPr>
          <a:xfrm>
            <a:off x="3721608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Área r4c0"/>
          <p:cNvSpPr/>
          <p:nvPr/>
        </p:nvSpPr>
        <p:spPr>
          <a:xfrm>
            <a:off x="868680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Área r4c1"/>
          <p:cNvSpPr/>
          <p:nvPr/>
        </p:nvSpPr>
        <p:spPr>
          <a:xfrm>
            <a:off x="1581912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Área r4c2"/>
          <p:cNvSpPr/>
          <p:nvPr/>
        </p:nvSpPr>
        <p:spPr>
          <a:xfrm>
            <a:off x="2295144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Área r4c3"/>
          <p:cNvSpPr/>
          <p:nvPr/>
        </p:nvSpPr>
        <p:spPr>
          <a:xfrm>
            <a:off x="3008376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Área r4c4"/>
          <p:cNvSpPr/>
          <p:nvPr/>
        </p:nvSpPr>
        <p:spPr>
          <a:xfrm>
            <a:off x="3721608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1600199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" y="1874519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1600199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" y="2587752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144" y="1600199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" y="3300984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1600199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19" y="4014215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1600199"/>
            <a:ext cx="7132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" y="4727448"/>
            <a:ext cx="274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1" name="PLACEHOLDER"/>
          <p:cNvSpPr/>
          <p:nvPr/>
        </p:nvSpPr>
        <p:spPr>
          <a:xfrm>
            <a:off x="685800" y="5623560"/>
            <a:ext cx="3931920" cy="50292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[Inserir mapa de localização e tamanho da célula]</a:t>
            </a:r>
          </a:p>
        </p:txBody>
      </p:sp>
      <p:sp>
        <p:nvSpPr>
          <p:cNvPr id="42" name="KPI grids em malha 5×5"/>
          <p:cNvSpPr/>
          <p:nvPr/>
        </p:nvSpPr>
        <p:spPr>
          <a:xfrm>
            <a:off x="5669280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1920240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514600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grids em malha 5×5</a:t>
            </a:r>
          </a:p>
        </p:txBody>
      </p:sp>
      <p:sp>
        <p:nvSpPr>
          <p:cNvPr id="45" name="KPI meses: jan/2001 a dez/2025"/>
          <p:cNvSpPr/>
          <p:nvPr/>
        </p:nvSpPr>
        <p:spPr>
          <a:xfrm>
            <a:off x="8705088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33688" y="1920240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3688" y="2514600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meses: jan/2001 a dez/2025</a:t>
            </a:r>
          </a:p>
        </p:txBody>
      </p:sp>
      <p:sp>
        <p:nvSpPr>
          <p:cNvPr id="48" name="KPI observações grid-mês"/>
          <p:cNvSpPr/>
          <p:nvPr/>
        </p:nvSpPr>
        <p:spPr>
          <a:xfrm>
            <a:off x="5669280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97880" y="3364991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7.500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3959352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observações grid-mês</a:t>
            </a:r>
          </a:p>
        </p:txBody>
      </p:sp>
      <p:sp>
        <p:nvSpPr>
          <p:cNvPr id="51" name="KPI sinistros no período"/>
          <p:cNvSpPr/>
          <p:nvPr/>
        </p:nvSpPr>
        <p:spPr>
          <a:xfrm>
            <a:off x="8705088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33688" y="3364991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12.855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33688" y="3959352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sinistros no período</a:t>
            </a:r>
          </a:p>
        </p:txBody>
      </p:sp>
      <p:sp>
        <p:nvSpPr>
          <p:cNvPr id="54" name="KPI domicílios segurados (exposição média mensal)"/>
          <p:cNvSpPr/>
          <p:nvPr/>
        </p:nvSpPr>
        <p:spPr>
          <a:xfrm>
            <a:off x="5669280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4809744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15.000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5404103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domicílios segurados (exposição média mensal)</a:t>
            </a:r>
          </a:p>
        </p:txBody>
      </p:sp>
      <p:sp>
        <p:nvSpPr>
          <p:cNvPr id="57" name="KPI unidade de observação"/>
          <p:cNvSpPr/>
          <p:nvPr/>
        </p:nvSpPr>
        <p:spPr>
          <a:xfrm>
            <a:off x="8705088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33688" y="4809744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grid × mês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33688" y="5404103"/>
            <a:ext cx="24414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6E2"/>
                </a:solidFill>
                <a:latin typeface="Arial"/>
              </a:rPr>
              <a:t>unidade de observação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Cada grid-mês combina exposição, clima, composição da carteira e número de sinistros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10</a:t>
            </a:r>
          </a:p>
        </p:txBody>
      </p:sp>
      <p:sp>
        <p:nvSpPr>
          <p:cNvPr id="6" name="Faixa linha da base"/>
          <p:cNvSpPr/>
          <p:nvPr/>
        </p:nvSpPr>
        <p:spPr>
          <a:xfrm>
            <a:off x="685800" y="1691640"/>
            <a:ext cx="10817352" cy="45720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Uma linha da base  =  grid g  ×  mês t</a:t>
            </a:r>
          </a:p>
        </p:txBody>
      </p:sp>
      <p:sp>
        <p:nvSpPr>
          <p:cNvPr id="7" name="Grupo Identificação"/>
          <p:cNvSpPr/>
          <p:nvPr/>
        </p:nvSpPr>
        <p:spPr>
          <a:xfrm>
            <a:off x="685800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17574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Identificação</a:t>
            </a:r>
          </a:p>
        </p:txBody>
      </p:sp>
      <p:sp>
        <p:nvSpPr>
          <p:cNvPr id="9" name="Var Grid (25)"/>
          <p:cNvSpPr/>
          <p:nvPr/>
        </p:nvSpPr>
        <p:spPr>
          <a:xfrm>
            <a:off x="822960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Grid (25)</a:t>
            </a:r>
          </a:p>
        </p:txBody>
      </p:sp>
      <p:sp>
        <p:nvSpPr>
          <p:cNvPr id="10" name="Var Mês (300)"/>
          <p:cNvSpPr/>
          <p:nvPr/>
        </p:nvSpPr>
        <p:spPr>
          <a:xfrm>
            <a:off x="822960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Mês (300)</a:t>
            </a:r>
          </a:p>
        </p:txBody>
      </p:sp>
      <p:sp>
        <p:nvSpPr>
          <p:cNvPr id="11" name="Grupo Sinistros e exposição"/>
          <p:cNvSpPr/>
          <p:nvPr/>
        </p:nvSpPr>
        <p:spPr>
          <a:xfrm>
            <a:off x="2882188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6780" y="2450592"/>
            <a:ext cx="17574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Sinistros e exposição</a:t>
            </a:r>
          </a:p>
        </p:txBody>
      </p:sp>
      <p:sp>
        <p:nvSpPr>
          <p:cNvPr id="13" name="Var Y: nº de sinistros"/>
          <p:cNvSpPr/>
          <p:nvPr/>
        </p:nvSpPr>
        <p:spPr>
          <a:xfrm>
            <a:off x="3019348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Y: nº de sinistros</a:t>
            </a:r>
          </a:p>
        </p:txBody>
      </p:sp>
      <p:sp>
        <p:nvSpPr>
          <p:cNvPr id="14" name="Var E: domicílios segurados"/>
          <p:cNvSpPr/>
          <p:nvPr/>
        </p:nvSpPr>
        <p:spPr>
          <a:xfrm>
            <a:off x="3019348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E: domicílios segurados</a:t>
            </a:r>
          </a:p>
        </p:txBody>
      </p:sp>
      <p:sp>
        <p:nvSpPr>
          <p:cNvPr id="15" name="Grupo Clima"/>
          <p:cNvSpPr/>
          <p:nvPr/>
        </p:nvSpPr>
        <p:spPr>
          <a:xfrm>
            <a:off x="5078577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3169" y="2450592"/>
            <a:ext cx="17574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17" name="Var Precipitação mensal"/>
          <p:cNvSpPr/>
          <p:nvPr/>
        </p:nvSpPr>
        <p:spPr>
          <a:xfrm>
            <a:off x="5215737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mensal</a:t>
            </a:r>
          </a:p>
        </p:txBody>
      </p:sp>
      <p:sp>
        <p:nvSpPr>
          <p:cNvPr id="18" name="Var Precipitação máxima"/>
          <p:cNvSpPr/>
          <p:nvPr/>
        </p:nvSpPr>
        <p:spPr>
          <a:xfrm>
            <a:off x="5215737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máxima</a:t>
            </a:r>
          </a:p>
        </p:txBody>
      </p:sp>
      <p:sp>
        <p:nvSpPr>
          <p:cNvPr id="19" name="Var Dias extremos"/>
          <p:cNvSpPr/>
          <p:nvPr/>
        </p:nvSpPr>
        <p:spPr>
          <a:xfrm>
            <a:off x="5215737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Dias extremos</a:t>
            </a:r>
          </a:p>
        </p:txBody>
      </p:sp>
      <p:sp>
        <p:nvSpPr>
          <p:cNvPr id="20" name="Var Precipitação em t−1"/>
          <p:cNvSpPr/>
          <p:nvPr/>
        </p:nvSpPr>
        <p:spPr>
          <a:xfrm>
            <a:off x="5215737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em t−1</a:t>
            </a:r>
          </a:p>
        </p:txBody>
      </p:sp>
      <p:sp>
        <p:nvSpPr>
          <p:cNvPr id="21" name="Grupo Carteira"/>
          <p:cNvSpPr/>
          <p:nvPr/>
        </p:nvSpPr>
        <p:spPr>
          <a:xfrm>
            <a:off x="7274966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9558" y="2450592"/>
            <a:ext cx="17574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Arial"/>
              </a:rPr>
              <a:t>Carteira</a:t>
            </a:r>
          </a:p>
        </p:txBody>
      </p:sp>
      <p:sp>
        <p:nvSpPr>
          <p:cNvPr id="23" name="Var % imóveis com 2 pisos"/>
          <p:cNvSpPr/>
          <p:nvPr/>
        </p:nvSpPr>
        <p:spPr>
          <a:xfrm>
            <a:off x="7412126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2 pisos</a:t>
            </a:r>
          </a:p>
        </p:txBody>
      </p:sp>
      <p:sp>
        <p:nvSpPr>
          <p:cNvPr id="24" name="Var % imóveis com 3+ pisos"/>
          <p:cNvSpPr/>
          <p:nvPr/>
        </p:nvSpPr>
        <p:spPr>
          <a:xfrm>
            <a:off x="7412126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3+ pisos</a:t>
            </a:r>
          </a:p>
        </p:txBody>
      </p:sp>
      <p:sp>
        <p:nvSpPr>
          <p:cNvPr id="25" name="Var % qualidade média"/>
          <p:cNvSpPr/>
          <p:nvPr/>
        </p:nvSpPr>
        <p:spPr>
          <a:xfrm>
            <a:off x="7412126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média</a:t>
            </a:r>
          </a:p>
        </p:txBody>
      </p:sp>
      <p:sp>
        <p:nvSpPr>
          <p:cNvPr id="26" name="Var % qualidade baixa"/>
          <p:cNvSpPr/>
          <p:nvPr/>
        </p:nvSpPr>
        <p:spPr>
          <a:xfrm>
            <a:off x="7412126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baixa</a:t>
            </a:r>
          </a:p>
        </p:txBody>
      </p:sp>
      <p:sp>
        <p:nvSpPr>
          <p:cNvPr id="27" name="Var % idade 11–20 anos"/>
          <p:cNvSpPr/>
          <p:nvPr/>
        </p:nvSpPr>
        <p:spPr>
          <a:xfrm>
            <a:off x="7412126" y="4553712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11–20 anos</a:t>
            </a:r>
          </a:p>
        </p:txBody>
      </p:sp>
      <p:sp>
        <p:nvSpPr>
          <p:cNvPr id="28" name="Var % idade 21–30 anos"/>
          <p:cNvSpPr/>
          <p:nvPr/>
        </p:nvSpPr>
        <p:spPr>
          <a:xfrm>
            <a:off x="7412126" y="493776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21–30 anos</a:t>
            </a:r>
          </a:p>
        </p:txBody>
      </p:sp>
      <p:sp>
        <p:nvSpPr>
          <p:cNvPr id="29" name="Var % idade 30+ anos"/>
          <p:cNvSpPr/>
          <p:nvPr/>
        </p:nvSpPr>
        <p:spPr>
          <a:xfrm>
            <a:off x="7412126" y="532180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30+ anos</a:t>
            </a:r>
          </a:p>
        </p:txBody>
      </p:sp>
      <p:sp>
        <p:nvSpPr>
          <p:cNvPr id="30" name="Grupo Espacial"/>
          <p:cNvSpPr/>
          <p:nvPr/>
        </p:nvSpPr>
        <p:spPr>
          <a:xfrm>
            <a:off x="9471355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5947" y="2450592"/>
            <a:ext cx="17574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Espacial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5947" y="3456432"/>
            <a:ext cx="17574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apenas no SP-NB</a:t>
            </a:r>
          </a:p>
        </p:txBody>
      </p:sp>
      <p:sp>
        <p:nvSpPr>
          <p:cNvPr id="33" name="Var Vizinhos em choque, t−1"/>
          <p:cNvSpPr/>
          <p:nvPr/>
        </p:nvSpPr>
        <p:spPr>
          <a:xfrm>
            <a:off x="9608515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0" tIns="0" bIns="0" wrap="square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Vizinhos em choque, t−1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70448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Covariáveis padronizadas (z-score) antes do ajuste.</a:t>
            </a:r>
          </a:p>
        </p:txBody>
      </p:sp>
      <p:sp>
        <p:nvSpPr>
          <p:cNvPr id="35" name="PLACEHOLDER"/>
          <p:cNvSpPr/>
          <p:nvPr/>
        </p:nvSpPr>
        <p:spPr>
          <a:xfrm>
            <a:off x="6949440" y="5852160"/>
            <a:ext cx="4553712" cy="36576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[Confirmar fonte da precipitação: CHIRPS]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NB, Random Forest e SP-NB Queen são comparados sobre a mesma base e o mesmo período de teste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Divisão temporal</a:t>
            </a:r>
          </a:p>
        </p:txBody>
      </p:sp>
      <p:sp>
        <p:nvSpPr>
          <p:cNvPr id="7" name="Treino"/>
          <p:cNvSpPr/>
          <p:nvPr/>
        </p:nvSpPr>
        <p:spPr>
          <a:xfrm>
            <a:off x="685800" y="2011680"/>
            <a:ext cx="8617305" cy="566928"/>
          </a:xfrm>
          <a:prstGeom prst="roundRect">
            <a:avLst>
              <a:gd name="adj" fmla="val 10000"/>
            </a:avLst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Treino  2001–2020   ·   6.000 obs.   ·   9.954 sinistros</a:t>
            </a:r>
          </a:p>
        </p:txBody>
      </p:sp>
      <p:sp>
        <p:nvSpPr>
          <p:cNvPr id="8" name="Teste"/>
          <p:cNvSpPr/>
          <p:nvPr/>
        </p:nvSpPr>
        <p:spPr>
          <a:xfrm>
            <a:off x="9339681" y="2011680"/>
            <a:ext cx="2163470" cy="566928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Teste  2021–2025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1.500 obs. · 2.901 sinistros</a:t>
            </a:r>
          </a:p>
        </p:txBody>
      </p:sp>
      <p:sp>
        <p:nvSpPr>
          <p:cNvPr id="9" name="Modelo Negative Binomial"/>
          <p:cNvSpPr/>
          <p:nvPr/>
        </p:nvSpPr>
        <p:spPr>
          <a:xfrm>
            <a:off x="685800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estatístico de contagem</a:t>
            </a:r>
          </a:p>
        </p:txBody>
      </p:sp>
      <p:sp>
        <p:nvSpPr>
          <p:cNvPr id="12" name="Modelo Random Forest"/>
          <p:cNvSpPr/>
          <p:nvPr/>
        </p:nvSpPr>
        <p:spPr>
          <a:xfrm>
            <a:off x="4367784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6384" y="2926080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E69F00"/>
                </a:solidFill>
                <a:latin typeface="Arial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384" y="3310128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de machine learning</a:t>
            </a:r>
          </a:p>
        </p:txBody>
      </p:sp>
      <p:sp>
        <p:nvSpPr>
          <p:cNvPr id="15" name="Modelo SP-NB Queen"/>
          <p:cNvSpPr/>
          <p:nvPr/>
        </p:nvSpPr>
        <p:spPr>
          <a:xfrm>
            <a:off x="8049768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8368" y="2926080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72B2"/>
                </a:solidFill>
                <a:latin typeface="Arial"/>
              </a:rPr>
              <a:t>SP-NB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8368" y="3310128"/>
            <a:ext cx="2996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NB + choque dos vizinhos em t−1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Mesmas covariáveis de clima e carteira, mesma janela de treino e de teste</a:t>
            </a:r>
          </a:p>
        </p:txBody>
      </p:sp>
      <p:sp>
        <p:nvSpPr>
          <p:cNvPr id="19" name="Métricas Por observação grid-mês"/>
          <p:cNvSpPr/>
          <p:nvPr/>
        </p:nvSpPr>
        <p:spPr>
          <a:xfrm>
            <a:off x="685800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837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Arial"/>
              </a:rPr>
              <a:t>Por observação grid-mês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Erro mês a mês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MAE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26792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RMSE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9184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Correlação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6792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Balance</a:t>
            </a:r>
          </a:p>
        </p:txBody>
      </p:sp>
      <p:sp>
        <p:nvSpPr>
          <p:cNvPr id="27" name="Métricas Por grid, acumulado no teste"/>
          <p:cNvSpPr/>
          <p:nvPr/>
        </p:nvSpPr>
        <p:spPr>
          <a:xfrm>
            <a:off x="6208776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370832"/>
            <a:ext cx="4837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Arial"/>
              </a:rPr>
              <a:t>Por grid, acumulado no teste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681728"/>
            <a:ext cx="4837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Distribuição espacial do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7376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Acurácia % por grid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9767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MAE e RMSE por grid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62160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Correlação por 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6053328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5A6672"/>
                </a:solidFill>
                <a:latin typeface="Cambria"/>
              </a:rPr>
              <a:t>Acurácia</a:t>
            </a:r>
            <a:r>
              <a:rPr sz="1100" b="0" i="1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= 100 · (1 − |Y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− Ŷ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| / 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), truncada em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O SP-NB Queen teve o melhor desempenho em todos os critérios globais, com vantagem modesta sobre a NB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ela resultado global"/>
          <p:cNvGraphicFramePr>
            <a:graphicFrameLocks noGrp="1"/>
          </p:cNvGraphicFramePr>
          <p:nvPr/>
        </p:nvGraphicFramePr>
        <p:xfrm>
          <a:off x="685800" y="1737360"/>
          <a:ext cx="694944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371600"/>
                <a:gridCol w="1371600"/>
                <a:gridCol w="137160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137160" marR="91440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Negative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Binomial</a:t>
                      </a:r>
                    </a:p>
                  </a:txBody>
                  <a:tcPr marL="137160" marR="91440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</a:p>
                  </a:txBody>
                  <a:tcPr marL="137160" marR="91440" anchor="ctr">
                    <a:solidFill>
                      <a:srgbClr val="1226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SP-NB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Queen</a:t>
                      </a:r>
                    </a:p>
                  </a:txBody>
                  <a:tcPr marL="137160" marR="91440" anchor="ctr">
                    <a:solidFill>
                      <a:srgbClr val="0072B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RMSE grid-mês  ↓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2,10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3,04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2,09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MAE grid-mês  ↓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1,27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1,17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R²  ↑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0,753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0,482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0,755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Acurácia média por grid  ↑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RMSE agregado por grid  ↓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13716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Balance (ideal = 1,00)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1,05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0,91</a:t>
                      </a:r>
                    </a:p>
                  </a:txBody>
                  <a:tcPr marL="137160" marR="91440" anchor="ctr">
                    <a:solidFill>
                      <a:srgbClr val="F4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1,04</a:t>
                      </a:r>
                    </a:p>
                  </a:txBody>
                  <a:tcPr marL="137160" marR="91440" anchor="ctr">
                    <a:solidFill>
                      <a:srgbClr val="E3F0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4360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672"/>
                </a:solidFill>
                <a:latin typeface="Arial"/>
              </a:rPr>
              <a:t>↓ menor é melhor   ↑ maior é melhor   ·   Teste 2021–2025: 2.901 sinistros observados</a:t>
            </a:r>
          </a:p>
        </p:txBody>
      </p:sp>
      <p:sp>
        <p:nvSpPr>
          <p:cNvPr id="8" name="Callout vs NB"/>
          <p:cNvSpPr/>
          <p:nvPr/>
        </p:nvSpPr>
        <p:spPr>
          <a:xfrm>
            <a:off x="7955279" y="1737360"/>
            <a:ext cx="3547872" cy="21488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874519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Arial"/>
              </a:rPr>
              <a:t>Erro do SP-NB vs. 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40280"/>
            <a:ext cx="3108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2263A"/>
                </a:solidFill>
                <a:latin typeface="Arial"/>
              </a:rPr>
              <a:t>−0,4%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RMSE grid-mês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2263A"/>
                </a:solidFill>
                <a:latin typeface="Arial"/>
              </a:rPr>
              <a:t>−1,2%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MAE grid-mês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072B2"/>
                </a:solidFill>
                <a:latin typeface="Arial"/>
              </a:rPr>
              <a:t>−7,3%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RMSE por grid</a:t>
            </a:r>
          </a:p>
        </p:txBody>
      </p:sp>
      <p:sp>
        <p:nvSpPr>
          <p:cNvPr id="11" name="Callout RF"/>
          <p:cNvSpPr/>
          <p:nvPr/>
        </p:nvSpPr>
        <p:spPr>
          <a:xfrm>
            <a:off x="7955279" y="4023360"/>
            <a:ext cx="3547872" cy="1874519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41605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526280"/>
            <a:ext cx="31089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1B1B"/>
                </a:solidFill>
                <a:latin typeface="Arial"/>
              </a:rPr>
              <a:t>RMSE 45% maior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que a NB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Subestima o total: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2.650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previstos vs. 2.901 observados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No espaço, o SP-NB Queen eleva para 15 os grids com acurácia acima de 90%, contra 12 nos outros dois modelos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13</a:t>
            </a:r>
          </a:p>
        </p:txBody>
      </p:sp>
      <p:sp>
        <p:nvSpPr>
          <p:cNvPr id="6" name="Header Negative Binomial"/>
          <p:cNvSpPr/>
          <p:nvPr/>
        </p:nvSpPr>
        <p:spPr>
          <a:xfrm>
            <a:off x="685800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7" name="Heatmap Negative Binomial r0c0"/>
          <p:cNvSpPr/>
          <p:nvPr/>
        </p:nvSpPr>
        <p:spPr>
          <a:xfrm>
            <a:off x="685800" y="2057400"/>
            <a:ext cx="516635" cy="516635"/>
          </a:xfrm>
          <a:prstGeom prst="rect">
            <a:avLst/>
          </a:prstGeom>
          <a:solidFill>
            <a:srgbClr val="4C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93,9</a:t>
            </a:r>
          </a:p>
        </p:txBody>
      </p:sp>
      <p:sp>
        <p:nvSpPr>
          <p:cNvPr id="8" name="Heatmap Negative Binomial r0c1"/>
          <p:cNvSpPr/>
          <p:nvPr/>
        </p:nvSpPr>
        <p:spPr>
          <a:xfrm>
            <a:off x="1234440" y="2057400"/>
            <a:ext cx="516635" cy="516635"/>
          </a:xfrm>
          <a:prstGeom prst="rect">
            <a:avLst/>
          </a:prstGeom>
          <a:solidFill>
            <a:srgbClr val="4B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94,0</a:t>
            </a:r>
          </a:p>
        </p:txBody>
      </p:sp>
      <p:sp>
        <p:nvSpPr>
          <p:cNvPr id="9" name="Heatmap Negative Binomial r0c2"/>
          <p:cNvSpPr/>
          <p:nvPr/>
        </p:nvSpPr>
        <p:spPr>
          <a:xfrm>
            <a:off x="1783080" y="205740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70,5</a:t>
            </a:r>
          </a:p>
        </p:txBody>
      </p:sp>
      <p:sp>
        <p:nvSpPr>
          <p:cNvPr id="10" name="Heatmap Negative Binomial r0c3"/>
          <p:cNvSpPr/>
          <p:nvPr/>
        </p:nvSpPr>
        <p:spPr>
          <a:xfrm>
            <a:off x="2331720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11" name="Heatmap Negative Binomial r0c4"/>
          <p:cNvSpPr/>
          <p:nvPr/>
        </p:nvSpPr>
        <p:spPr>
          <a:xfrm>
            <a:off x="2880360" y="205740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12" name="Heatmap Negative Binomial r1c0"/>
          <p:cNvSpPr/>
          <p:nvPr/>
        </p:nvSpPr>
        <p:spPr>
          <a:xfrm>
            <a:off x="685800" y="260604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13" name="Heatmap Negative Binomial r1c1"/>
          <p:cNvSpPr/>
          <p:nvPr/>
        </p:nvSpPr>
        <p:spPr>
          <a:xfrm>
            <a:off x="1234440" y="2606040"/>
            <a:ext cx="516635" cy="516635"/>
          </a:xfrm>
          <a:prstGeom prst="rect">
            <a:avLst/>
          </a:prstGeom>
          <a:solidFill>
            <a:srgbClr val="A2D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81,1</a:t>
            </a:r>
          </a:p>
        </p:txBody>
      </p:sp>
      <p:sp>
        <p:nvSpPr>
          <p:cNvPr id="14" name="Heatmap Negative Binomial r1c2"/>
          <p:cNvSpPr/>
          <p:nvPr/>
        </p:nvSpPr>
        <p:spPr>
          <a:xfrm>
            <a:off x="1783080" y="2606040"/>
            <a:ext cx="516635" cy="516635"/>
          </a:xfrm>
          <a:prstGeom prst="rect">
            <a:avLst/>
          </a:prstGeom>
          <a:solidFill>
            <a:srgbClr val="6BB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90,1</a:t>
            </a:r>
          </a:p>
        </p:txBody>
      </p:sp>
      <p:sp>
        <p:nvSpPr>
          <p:cNvPr id="15" name="Heatmap Negative Binomial r1c3"/>
          <p:cNvSpPr/>
          <p:nvPr/>
        </p:nvSpPr>
        <p:spPr>
          <a:xfrm>
            <a:off x="2331720" y="2606040"/>
            <a:ext cx="516635" cy="516635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100,0</a:t>
            </a:r>
          </a:p>
        </p:txBody>
      </p:sp>
      <p:sp>
        <p:nvSpPr>
          <p:cNvPr id="16" name="Heatmap Negative Binomial r1c4"/>
          <p:cNvSpPr/>
          <p:nvPr/>
        </p:nvSpPr>
        <p:spPr>
          <a:xfrm>
            <a:off x="2880360" y="2606040"/>
            <a:ext cx="516635" cy="516635"/>
          </a:xfrm>
          <a:prstGeom prst="rect">
            <a:avLst/>
          </a:prstGeom>
          <a:solidFill>
            <a:srgbClr val="45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94,8</a:t>
            </a:r>
          </a:p>
        </p:txBody>
      </p:sp>
      <p:sp>
        <p:nvSpPr>
          <p:cNvPr id="17" name="Heatmap Negative Binomial r2c0"/>
          <p:cNvSpPr/>
          <p:nvPr/>
        </p:nvSpPr>
        <p:spPr>
          <a:xfrm>
            <a:off x="685800" y="3154680"/>
            <a:ext cx="516635" cy="516635"/>
          </a:xfrm>
          <a:prstGeom prst="rect">
            <a:avLst/>
          </a:prstGeom>
          <a:solidFill>
            <a:srgbClr val="4E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93,6</a:t>
            </a:r>
          </a:p>
        </p:txBody>
      </p:sp>
      <p:sp>
        <p:nvSpPr>
          <p:cNvPr id="18" name="Heatmap Negative Binomial r2c1"/>
          <p:cNvSpPr/>
          <p:nvPr/>
        </p:nvSpPr>
        <p:spPr>
          <a:xfrm>
            <a:off x="1234440" y="315468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19" name="Heatmap Negative Binomial r2c2"/>
          <p:cNvSpPr/>
          <p:nvPr/>
        </p:nvSpPr>
        <p:spPr>
          <a:xfrm>
            <a:off x="1783080" y="3154680"/>
            <a:ext cx="516635" cy="516635"/>
          </a:xfrm>
          <a:prstGeom prst="rect">
            <a:avLst/>
          </a:prstGeom>
          <a:solidFill>
            <a:srgbClr val="E1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64,2</a:t>
            </a:r>
          </a:p>
        </p:txBody>
      </p:sp>
      <p:sp>
        <p:nvSpPr>
          <p:cNvPr id="20" name="Heatmap Negative Binomial r2c3"/>
          <p:cNvSpPr/>
          <p:nvPr/>
        </p:nvSpPr>
        <p:spPr>
          <a:xfrm>
            <a:off x="2331720" y="3154680"/>
            <a:ext cx="516635" cy="516635"/>
          </a:xfrm>
          <a:prstGeom prst="rect">
            <a:avLst/>
          </a:prstGeom>
          <a:solidFill>
            <a:srgbClr val="75B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88,5</a:t>
            </a:r>
          </a:p>
        </p:txBody>
      </p:sp>
      <p:sp>
        <p:nvSpPr>
          <p:cNvPr id="21" name="Heatmap Negative Binomial r2c4"/>
          <p:cNvSpPr/>
          <p:nvPr/>
        </p:nvSpPr>
        <p:spPr>
          <a:xfrm>
            <a:off x="2880360" y="315468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70,4</a:t>
            </a:r>
          </a:p>
        </p:txBody>
      </p:sp>
      <p:sp>
        <p:nvSpPr>
          <p:cNvPr id="22" name="Heatmap Negative Binomial r3c0"/>
          <p:cNvSpPr/>
          <p:nvPr/>
        </p:nvSpPr>
        <p:spPr>
          <a:xfrm>
            <a:off x="68580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3" name="Heatmap Negative Binomial r3c1"/>
          <p:cNvSpPr/>
          <p:nvPr/>
        </p:nvSpPr>
        <p:spPr>
          <a:xfrm>
            <a:off x="1234440" y="3703320"/>
            <a:ext cx="516635" cy="516635"/>
          </a:xfrm>
          <a:prstGeom prst="rect">
            <a:avLst/>
          </a:prstGeom>
          <a:solidFill>
            <a:srgbClr val="7BB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87,6</a:t>
            </a:r>
          </a:p>
        </p:txBody>
      </p:sp>
      <p:sp>
        <p:nvSpPr>
          <p:cNvPr id="24" name="Heatmap Negative Binomial r3c2"/>
          <p:cNvSpPr/>
          <p:nvPr/>
        </p:nvSpPr>
        <p:spPr>
          <a:xfrm>
            <a:off x="178308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5" name="Heatmap Negative Binomial r3c3"/>
          <p:cNvSpPr/>
          <p:nvPr/>
        </p:nvSpPr>
        <p:spPr>
          <a:xfrm>
            <a:off x="2331720" y="370332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26" name="Heatmap Negative Binomial r3c4"/>
          <p:cNvSpPr/>
          <p:nvPr/>
        </p:nvSpPr>
        <p:spPr>
          <a:xfrm>
            <a:off x="2880360" y="3703320"/>
            <a:ext cx="516635" cy="516635"/>
          </a:xfrm>
          <a:prstGeom prst="rect">
            <a:avLst/>
          </a:prstGeom>
          <a:solidFill>
            <a:srgbClr val="B8D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77,5</a:t>
            </a:r>
          </a:p>
        </p:txBody>
      </p:sp>
      <p:sp>
        <p:nvSpPr>
          <p:cNvPr id="27" name="Heatmap Negative Binomial r4c0"/>
          <p:cNvSpPr/>
          <p:nvPr/>
        </p:nvSpPr>
        <p:spPr>
          <a:xfrm>
            <a:off x="685800" y="4251960"/>
            <a:ext cx="516635" cy="516635"/>
          </a:xfrm>
          <a:prstGeom prst="rect">
            <a:avLst/>
          </a:prstGeom>
          <a:solidFill>
            <a:srgbClr val="C2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75,8</a:t>
            </a:r>
          </a:p>
        </p:txBody>
      </p:sp>
      <p:sp>
        <p:nvSpPr>
          <p:cNvPr id="28" name="Heatmap Negative Binomial r4c1"/>
          <p:cNvSpPr/>
          <p:nvPr/>
        </p:nvSpPr>
        <p:spPr>
          <a:xfrm>
            <a:off x="1234440" y="425196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70,3</a:t>
            </a:r>
          </a:p>
        </p:txBody>
      </p:sp>
      <p:sp>
        <p:nvSpPr>
          <p:cNvPr id="29" name="Heatmap Negative Binomial r4c2"/>
          <p:cNvSpPr/>
          <p:nvPr/>
        </p:nvSpPr>
        <p:spPr>
          <a:xfrm>
            <a:off x="1783080" y="4251960"/>
            <a:ext cx="516635" cy="516635"/>
          </a:xfrm>
          <a:prstGeom prst="rect">
            <a:avLst/>
          </a:prstGeom>
          <a:solidFill>
            <a:srgbClr val="22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99,0</a:t>
            </a:r>
          </a:p>
        </p:txBody>
      </p:sp>
      <p:sp>
        <p:nvSpPr>
          <p:cNvPr id="30" name="Heatmap Negative Binomial r4c3"/>
          <p:cNvSpPr/>
          <p:nvPr/>
        </p:nvSpPr>
        <p:spPr>
          <a:xfrm>
            <a:off x="2331720" y="425196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1" name="Heatmap Negative Binomial r4c4"/>
          <p:cNvSpPr/>
          <p:nvPr/>
        </p:nvSpPr>
        <p:spPr>
          <a:xfrm>
            <a:off x="2880360" y="425196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9377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grids &gt; 90%</a:t>
            </a:r>
          </a:p>
          <a:p>
            <a:pPr algn="ctr"/>
            <a:r>
              <a:rPr sz="1200" b="0" i="0">
                <a:solidFill>
                  <a:srgbClr val="5A6672"/>
                </a:solidFill>
                <a:latin typeface="Arial"/>
              </a:rPr>
              <a:t>Média 87,1%  ·  Mediana 89,9%</a:t>
            </a:r>
          </a:p>
        </p:txBody>
      </p:sp>
      <p:sp>
        <p:nvSpPr>
          <p:cNvPr id="33" name="Header Random Forest"/>
          <p:cNvSpPr/>
          <p:nvPr/>
        </p:nvSpPr>
        <p:spPr>
          <a:xfrm>
            <a:off x="4722876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Random Forest</a:t>
            </a:r>
          </a:p>
        </p:txBody>
      </p:sp>
      <p:sp>
        <p:nvSpPr>
          <p:cNvPr id="34" name="Heatmap Random Forest r0c0"/>
          <p:cNvSpPr/>
          <p:nvPr/>
        </p:nvSpPr>
        <p:spPr>
          <a:xfrm>
            <a:off x="4722876" y="2057400"/>
            <a:ext cx="516635" cy="516635"/>
          </a:xfrm>
          <a:prstGeom prst="rect">
            <a:avLst/>
          </a:prstGeom>
          <a:solidFill>
            <a:srgbClr val="2E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97,6</a:t>
            </a:r>
          </a:p>
        </p:txBody>
      </p:sp>
      <p:sp>
        <p:nvSpPr>
          <p:cNvPr id="35" name="Heatmap Random Forest r0c1"/>
          <p:cNvSpPr/>
          <p:nvPr/>
        </p:nvSpPr>
        <p:spPr>
          <a:xfrm>
            <a:off x="5271516" y="2057400"/>
            <a:ext cx="516635" cy="516635"/>
          </a:xfrm>
          <a:prstGeom prst="rect">
            <a:avLst/>
          </a:prstGeom>
          <a:solidFill>
            <a:srgbClr val="36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96,6</a:t>
            </a:r>
          </a:p>
        </p:txBody>
      </p:sp>
      <p:sp>
        <p:nvSpPr>
          <p:cNvPr id="36" name="Heatmap Random Forest r0c2"/>
          <p:cNvSpPr/>
          <p:nvPr/>
        </p:nvSpPr>
        <p:spPr>
          <a:xfrm>
            <a:off x="5820156" y="205740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37" name="Heatmap Random Forest r0c3"/>
          <p:cNvSpPr/>
          <p:nvPr/>
        </p:nvSpPr>
        <p:spPr>
          <a:xfrm>
            <a:off x="6368796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38" name="Heatmap Random Forest r0c4"/>
          <p:cNvSpPr/>
          <p:nvPr/>
        </p:nvSpPr>
        <p:spPr>
          <a:xfrm>
            <a:off x="6917436" y="205740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9" name="Heatmap Random Forest r1c0"/>
          <p:cNvSpPr/>
          <p:nvPr/>
        </p:nvSpPr>
        <p:spPr>
          <a:xfrm>
            <a:off x="4722876" y="2606040"/>
            <a:ext cx="516635" cy="516635"/>
          </a:xfrm>
          <a:prstGeom prst="rect">
            <a:avLst/>
          </a:prstGeom>
          <a:solidFill>
            <a:srgbClr val="66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90,7</a:t>
            </a:r>
          </a:p>
        </p:txBody>
      </p:sp>
      <p:sp>
        <p:nvSpPr>
          <p:cNvPr id="40" name="Heatmap Random Forest r1c1"/>
          <p:cNvSpPr/>
          <p:nvPr/>
        </p:nvSpPr>
        <p:spPr>
          <a:xfrm>
            <a:off x="5271516" y="260604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70,6</a:t>
            </a:r>
          </a:p>
        </p:txBody>
      </p:sp>
      <p:sp>
        <p:nvSpPr>
          <p:cNvPr id="41" name="Heatmap Random Forest r1c2"/>
          <p:cNvSpPr/>
          <p:nvPr/>
        </p:nvSpPr>
        <p:spPr>
          <a:xfrm>
            <a:off x="5820156" y="2606040"/>
            <a:ext cx="516635" cy="516635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90,0</a:t>
            </a:r>
          </a:p>
        </p:txBody>
      </p:sp>
      <p:sp>
        <p:nvSpPr>
          <p:cNvPr id="42" name="Heatmap Random Forest r1c3"/>
          <p:cNvSpPr/>
          <p:nvPr/>
        </p:nvSpPr>
        <p:spPr>
          <a:xfrm>
            <a:off x="6368796" y="2606040"/>
            <a:ext cx="516635" cy="516635"/>
          </a:xfrm>
          <a:prstGeom prst="rect">
            <a:avLst/>
          </a:prstGeom>
          <a:solidFill>
            <a:srgbClr val="207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99,3</a:t>
            </a:r>
          </a:p>
        </p:txBody>
      </p:sp>
      <p:sp>
        <p:nvSpPr>
          <p:cNvPr id="43" name="Heatmap Random Forest r1c4"/>
          <p:cNvSpPr/>
          <p:nvPr/>
        </p:nvSpPr>
        <p:spPr>
          <a:xfrm>
            <a:off x="6917436" y="2606040"/>
            <a:ext cx="516635" cy="516635"/>
          </a:xfrm>
          <a:prstGeom prst="rect">
            <a:avLst/>
          </a:prstGeom>
          <a:solidFill>
            <a:srgbClr val="35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96,7</a:t>
            </a:r>
          </a:p>
        </p:txBody>
      </p:sp>
      <p:sp>
        <p:nvSpPr>
          <p:cNvPr id="44" name="Heatmap Random Forest r2c0"/>
          <p:cNvSpPr/>
          <p:nvPr/>
        </p:nvSpPr>
        <p:spPr>
          <a:xfrm>
            <a:off x="4722876" y="3154680"/>
            <a:ext cx="516635" cy="516635"/>
          </a:xfrm>
          <a:prstGeom prst="rect">
            <a:avLst/>
          </a:prstGeom>
          <a:solidFill>
            <a:srgbClr val="B4D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78,2</a:t>
            </a:r>
          </a:p>
        </p:txBody>
      </p:sp>
      <p:sp>
        <p:nvSpPr>
          <p:cNvPr id="45" name="Heatmap Random Forest r2c1"/>
          <p:cNvSpPr/>
          <p:nvPr/>
        </p:nvSpPr>
        <p:spPr>
          <a:xfrm>
            <a:off x="5271516" y="3154680"/>
            <a:ext cx="516635" cy="516635"/>
          </a:xfrm>
          <a:prstGeom prst="rect">
            <a:avLst/>
          </a:prstGeom>
          <a:solidFill>
            <a:srgbClr val="5DA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91,8</a:t>
            </a:r>
          </a:p>
        </p:txBody>
      </p:sp>
      <p:sp>
        <p:nvSpPr>
          <p:cNvPr id="46" name="Heatmap Random Forest r2c2"/>
          <p:cNvSpPr/>
          <p:nvPr/>
        </p:nvSpPr>
        <p:spPr>
          <a:xfrm>
            <a:off x="5820156" y="3154680"/>
            <a:ext cx="516635" cy="516635"/>
          </a:xfrm>
          <a:prstGeom prst="rect">
            <a:avLst/>
          </a:prstGeom>
          <a:solidFill>
            <a:srgbClr val="DB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66,6</a:t>
            </a:r>
          </a:p>
        </p:txBody>
      </p:sp>
      <p:sp>
        <p:nvSpPr>
          <p:cNvPr id="47" name="Heatmap Random Forest r2c3"/>
          <p:cNvSpPr/>
          <p:nvPr/>
        </p:nvSpPr>
        <p:spPr>
          <a:xfrm>
            <a:off x="6368796" y="315468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48" name="Heatmap Random Forest r2c4"/>
          <p:cNvSpPr/>
          <p:nvPr/>
        </p:nvSpPr>
        <p:spPr>
          <a:xfrm>
            <a:off x="6917436" y="3154680"/>
            <a:ext cx="516635" cy="516635"/>
          </a:xfrm>
          <a:prstGeom prst="rect">
            <a:avLst/>
          </a:prstGeom>
          <a:solidFill>
            <a:srgbClr val="9BC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82,3</a:t>
            </a:r>
          </a:p>
        </p:txBody>
      </p:sp>
      <p:sp>
        <p:nvSpPr>
          <p:cNvPr id="49" name="Heatmap Random Forest r3c0"/>
          <p:cNvSpPr/>
          <p:nvPr/>
        </p:nvSpPr>
        <p:spPr>
          <a:xfrm>
            <a:off x="4722876" y="370332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50" name="Heatmap Random Forest r3c1"/>
          <p:cNvSpPr/>
          <p:nvPr/>
        </p:nvSpPr>
        <p:spPr>
          <a:xfrm>
            <a:off x="5271516" y="3703320"/>
            <a:ext cx="516635" cy="516635"/>
          </a:xfrm>
          <a:prstGeom prst="rect">
            <a:avLst/>
          </a:prstGeom>
          <a:solidFill>
            <a:srgbClr val="D1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71,0</a:t>
            </a:r>
          </a:p>
        </p:txBody>
      </p:sp>
      <p:sp>
        <p:nvSpPr>
          <p:cNvPr id="51" name="Heatmap Random Forest r3c2"/>
          <p:cNvSpPr/>
          <p:nvPr/>
        </p:nvSpPr>
        <p:spPr>
          <a:xfrm>
            <a:off x="5820156" y="3703320"/>
            <a:ext cx="516635" cy="516635"/>
          </a:xfrm>
          <a:prstGeom prst="rect">
            <a:avLst/>
          </a:prstGeom>
          <a:solidFill>
            <a:srgbClr val="A8D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80,1</a:t>
            </a:r>
          </a:p>
        </p:txBody>
      </p:sp>
      <p:sp>
        <p:nvSpPr>
          <p:cNvPr id="52" name="Heatmap Random Forest r3c3"/>
          <p:cNvSpPr/>
          <p:nvPr/>
        </p:nvSpPr>
        <p:spPr>
          <a:xfrm>
            <a:off x="6368796" y="3703320"/>
            <a:ext cx="516635" cy="516635"/>
          </a:xfrm>
          <a:prstGeom prst="rect">
            <a:avLst/>
          </a:prstGeom>
          <a:solidFill>
            <a:srgbClr val="3F9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95,5</a:t>
            </a:r>
          </a:p>
        </p:txBody>
      </p:sp>
      <p:sp>
        <p:nvSpPr>
          <p:cNvPr id="53" name="Heatmap Random Forest r3c4"/>
          <p:cNvSpPr/>
          <p:nvPr/>
        </p:nvSpPr>
        <p:spPr>
          <a:xfrm>
            <a:off x="6917436" y="3703320"/>
            <a:ext cx="516635" cy="516635"/>
          </a:xfrm>
          <a:prstGeom prst="rect">
            <a:avLst/>
          </a:prstGeom>
          <a:solidFill>
            <a:srgbClr val="338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96,9</a:t>
            </a:r>
          </a:p>
        </p:txBody>
      </p:sp>
      <p:sp>
        <p:nvSpPr>
          <p:cNvPr id="54" name="Heatmap Random Forest r4c0"/>
          <p:cNvSpPr/>
          <p:nvPr/>
        </p:nvSpPr>
        <p:spPr>
          <a:xfrm>
            <a:off x="4722876" y="4251960"/>
            <a:ext cx="516635" cy="516635"/>
          </a:xfrm>
          <a:prstGeom prst="rect">
            <a:avLst/>
          </a:prstGeom>
          <a:solidFill>
            <a:srgbClr val="26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98,5</a:t>
            </a:r>
          </a:p>
        </p:txBody>
      </p:sp>
      <p:sp>
        <p:nvSpPr>
          <p:cNvPr id="55" name="Heatmap Random Forest r4c1"/>
          <p:cNvSpPr/>
          <p:nvPr/>
        </p:nvSpPr>
        <p:spPr>
          <a:xfrm>
            <a:off x="5271516" y="425196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56" name="Heatmap Random Forest r4c2"/>
          <p:cNvSpPr/>
          <p:nvPr/>
        </p:nvSpPr>
        <p:spPr>
          <a:xfrm>
            <a:off x="5820156" y="4251960"/>
            <a:ext cx="516635" cy="516635"/>
          </a:xfrm>
          <a:prstGeom prst="rect">
            <a:avLst/>
          </a:prstGeom>
          <a:solidFill>
            <a:srgbClr val="BB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76,9</a:t>
            </a:r>
          </a:p>
        </p:txBody>
      </p:sp>
      <p:sp>
        <p:nvSpPr>
          <p:cNvPr id="57" name="Heatmap Random Forest r4c3"/>
          <p:cNvSpPr/>
          <p:nvPr/>
        </p:nvSpPr>
        <p:spPr>
          <a:xfrm>
            <a:off x="6368796" y="4251960"/>
            <a:ext cx="516635" cy="516635"/>
          </a:xfrm>
          <a:prstGeom prst="rect">
            <a:avLst/>
          </a:prstGeom>
          <a:solidFill>
            <a:srgbClr val="95C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83,3</a:t>
            </a:r>
          </a:p>
        </p:txBody>
      </p:sp>
      <p:sp>
        <p:nvSpPr>
          <p:cNvPr id="58" name="Heatmap Random Forest r4c4"/>
          <p:cNvSpPr/>
          <p:nvPr/>
        </p:nvSpPr>
        <p:spPr>
          <a:xfrm>
            <a:off x="6917436" y="4251960"/>
            <a:ext cx="516635" cy="516635"/>
          </a:xfrm>
          <a:prstGeom prst="rect">
            <a:avLst/>
          </a:prstGeom>
          <a:solidFill>
            <a:srgbClr val="ACD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22876" y="49377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grids &gt; 90%</a:t>
            </a:r>
          </a:p>
          <a:p>
            <a:pPr algn="ctr"/>
            <a:r>
              <a:rPr sz="1200" b="0" i="0">
                <a:solidFill>
                  <a:srgbClr val="5A6672"/>
                </a:solidFill>
                <a:latin typeface="Arial"/>
              </a:rPr>
              <a:t>Média 87,6%  ·  Mediana 90,0%</a:t>
            </a:r>
          </a:p>
        </p:txBody>
      </p:sp>
      <p:sp>
        <p:nvSpPr>
          <p:cNvPr id="60" name="Header SP-NB Queen"/>
          <p:cNvSpPr/>
          <p:nvPr/>
        </p:nvSpPr>
        <p:spPr>
          <a:xfrm>
            <a:off x="8759952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SP-NB Queen</a:t>
            </a:r>
          </a:p>
        </p:txBody>
      </p:sp>
      <p:sp>
        <p:nvSpPr>
          <p:cNvPr id="61" name="Heatmap SP-NB Queen r0c0"/>
          <p:cNvSpPr/>
          <p:nvPr/>
        </p:nvSpPr>
        <p:spPr>
          <a:xfrm>
            <a:off x="8759952" y="2057400"/>
            <a:ext cx="516635" cy="516635"/>
          </a:xfrm>
          <a:prstGeom prst="rect">
            <a:avLst/>
          </a:prstGeom>
          <a:solidFill>
            <a:srgbClr val="50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93,4</a:t>
            </a:r>
          </a:p>
        </p:txBody>
      </p:sp>
      <p:sp>
        <p:nvSpPr>
          <p:cNvPr id="62" name="Heatmap SP-NB Queen r0c1"/>
          <p:cNvSpPr/>
          <p:nvPr/>
        </p:nvSpPr>
        <p:spPr>
          <a:xfrm>
            <a:off x="9308592" y="2057400"/>
            <a:ext cx="516635" cy="516635"/>
          </a:xfrm>
          <a:prstGeom prst="rect">
            <a:avLst/>
          </a:prstGeom>
          <a:solidFill>
            <a:srgbClr val="41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95,2</a:t>
            </a:r>
          </a:p>
        </p:txBody>
      </p:sp>
      <p:sp>
        <p:nvSpPr>
          <p:cNvPr id="63" name="Heatmap SP-NB Queen r0c2"/>
          <p:cNvSpPr/>
          <p:nvPr/>
        </p:nvSpPr>
        <p:spPr>
          <a:xfrm>
            <a:off x="9857232" y="2057400"/>
            <a:ext cx="516635" cy="516635"/>
          </a:xfrm>
          <a:prstGeom prst="rect">
            <a:avLst/>
          </a:prstGeom>
          <a:solidFill>
            <a:srgbClr val="CC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72,8</a:t>
            </a:r>
          </a:p>
        </p:txBody>
      </p:sp>
      <p:sp>
        <p:nvSpPr>
          <p:cNvPr id="64" name="Heatmap SP-NB Queen r0c3"/>
          <p:cNvSpPr/>
          <p:nvPr/>
        </p:nvSpPr>
        <p:spPr>
          <a:xfrm>
            <a:off x="10405872" y="2057400"/>
            <a:ext cx="516635" cy="516635"/>
          </a:xfrm>
          <a:prstGeom prst="rect">
            <a:avLst/>
          </a:prstGeom>
          <a:solidFill>
            <a:srgbClr val="2B8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97,9</a:t>
            </a:r>
          </a:p>
        </p:txBody>
      </p:sp>
      <p:sp>
        <p:nvSpPr>
          <p:cNvPr id="65" name="Heatmap SP-NB Queen r0c4"/>
          <p:cNvSpPr/>
          <p:nvPr/>
        </p:nvSpPr>
        <p:spPr>
          <a:xfrm>
            <a:off x="10954512" y="205740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66" name="Heatmap SP-NB Queen r1c0"/>
          <p:cNvSpPr/>
          <p:nvPr/>
        </p:nvSpPr>
        <p:spPr>
          <a:xfrm>
            <a:off x="8759952" y="2606040"/>
            <a:ext cx="516635" cy="516635"/>
          </a:xfrm>
          <a:prstGeom prst="rect">
            <a:avLst/>
          </a:prstGeom>
          <a:solidFill>
            <a:srgbClr val="409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95,4</a:t>
            </a:r>
          </a:p>
        </p:txBody>
      </p:sp>
      <p:sp>
        <p:nvSpPr>
          <p:cNvPr id="67" name="Heatmap SP-NB Queen r1c1"/>
          <p:cNvSpPr/>
          <p:nvPr/>
        </p:nvSpPr>
        <p:spPr>
          <a:xfrm>
            <a:off x="9308592" y="2606040"/>
            <a:ext cx="516635" cy="516635"/>
          </a:xfrm>
          <a:prstGeom prst="rect">
            <a:avLst/>
          </a:prstGeom>
          <a:solidFill>
            <a:srgbClr val="A0D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81,5</a:t>
            </a:r>
          </a:p>
        </p:txBody>
      </p:sp>
      <p:sp>
        <p:nvSpPr>
          <p:cNvPr id="68" name="Heatmap SP-NB Queen r1c2"/>
          <p:cNvSpPr/>
          <p:nvPr/>
        </p:nvSpPr>
        <p:spPr>
          <a:xfrm>
            <a:off x="9857232" y="260604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69" name="Heatmap SP-NB Queen r1c3"/>
          <p:cNvSpPr/>
          <p:nvPr/>
        </p:nvSpPr>
        <p:spPr>
          <a:xfrm>
            <a:off x="10405872" y="260604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70" name="Heatmap SP-NB Queen r1c4"/>
          <p:cNvSpPr/>
          <p:nvPr/>
        </p:nvSpPr>
        <p:spPr>
          <a:xfrm>
            <a:off x="10954512" y="2606040"/>
            <a:ext cx="516635" cy="516635"/>
          </a:xfrm>
          <a:prstGeom prst="rect">
            <a:avLst/>
          </a:prstGeom>
          <a:solidFill>
            <a:srgbClr val="48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94,4</a:t>
            </a:r>
          </a:p>
        </p:txBody>
      </p:sp>
      <p:sp>
        <p:nvSpPr>
          <p:cNvPr id="71" name="Heatmap SP-NB Queen r2c0"/>
          <p:cNvSpPr/>
          <p:nvPr/>
        </p:nvSpPr>
        <p:spPr>
          <a:xfrm>
            <a:off x="8759952" y="3154680"/>
            <a:ext cx="516635" cy="516635"/>
          </a:xfrm>
          <a:prstGeom prst="rect">
            <a:avLst/>
          </a:prstGeom>
          <a:solidFill>
            <a:srgbClr val="72B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89,0</a:t>
            </a:r>
          </a:p>
        </p:txBody>
      </p:sp>
      <p:sp>
        <p:nvSpPr>
          <p:cNvPr id="72" name="Heatmap SP-NB Queen r2c1"/>
          <p:cNvSpPr/>
          <p:nvPr/>
        </p:nvSpPr>
        <p:spPr>
          <a:xfrm>
            <a:off x="9308592" y="3154680"/>
            <a:ext cx="516635" cy="516635"/>
          </a:xfrm>
          <a:prstGeom prst="rect">
            <a:avLst/>
          </a:prstGeom>
          <a:solidFill>
            <a:srgbClr val="74B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88,7</a:t>
            </a:r>
          </a:p>
        </p:txBody>
      </p:sp>
      <p:sp>
        <p:nvSpPr>
          <p:cNvPr id="73" name="Heatmap SP-NB Queen r2c2"/>
          <p:cNvSpPr/>
          <p:nvPr/>
        </p:nvSpPr>
        <p:spPr>
          <a:xfrm>
            <a:off x="9857232" y="3154680"/>
            <a:ext cx="516635" cy="516635"/>
          </a:xfrm>
          <a:prstGeom prst="rect">
            <a:avLst/>
          </a:prstGeom>
          <a:solidFill>
            <a:srgbClr val="EEE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58,6</a:t>
            </a:r>
          </a:p>
        </p:txBody>
      </p:sp>
      <p:sp>
        <p:nvSpPr>
          <p:cNvPr id="74" name="Heatmap SP-NB Queen r2c3"/>
          <p:cNvSpPr/>
          <p:nvPr/>
        </p:nvSpPr>
        <p:spPr>
          <a:xfrm>
            <a:off x="10405872" y="3154680"/>
            <a:ext cx="516635" cy="516635"/>
          </a:xfrm>
          <a:prstGeom prst="rect">
            <a:avLst/>
          </a:prstGeom>
          <a:solidFill>
            <a:srgbClr val="6AB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90,2</a:t>
            </a:r>
          </a:p>
        </p:txBody>
      </p:sp>
      <p:sp>
        <p:nvSpPr>
          <p:cNvPr id="75" name="Heatmap SP-NB Queen r2c4"/>
          <p:cNvSpPr/>
          <p:nvPr/>
        </p:nvSpPr>
        <p:spPr>
          <a:xfrm>
            <a:off x="10954512" y="3154680"/>
            <a:ext cx="516635" cy="516635"/>
          </a:xfrm>
          <a:prstGeom prst="rect">
            <a:avLst/>
          </a:prstGeom>
          <a:solidFill>
            <a:srgbClr val="CD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72,4</a:t>
            </a:r>
          </a:p>
        </p:txBody>
      </p:sp>
      <p:sp>
        <p:nvSpPr>
          <p:cNvPr id="76" name="Heatmap SP-NB Queen r3c0"/>
          <p:cNvSpPr/>
          <p:nvPr/>
        </p:nvSpPr>
        <p:spPr>
          <a:xfrm>
            <a:off x="8759952" y="3703320"/>
            <a:ext cx="516635" cy="516635"/>
          </a:xfrm>
          <a:prstGeom prst="rect">
            <a:avLst/>
          </a:prstGeom>
          <a:solidFill>
            <a:srgbClr val="3B9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96,0</a:t>
            </a:r>
          </a:p>
        </p:txBody>
      </p:sp>
      <p:sp>
        <p:nvSpPr>
          <p:cNvPr id="77" name="Heatmap SP-NB Queen r3c1"/>
          <p:cNvSpPr/>
          <p:nvPr/>
        </p:nvSpPr>
        <p:spPr>
          <a:xfrm>
            <a:off x="9308592" y="3703320"/>
            <a:ext cx="516635" cy="516635"/>
          </a:xfrm>
          <a:prstGeom prst="rect">
            <a:avLst/>
          </a:prstGeom>
          <a:solidFill>
            <a:srgbClr val="6FB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89,5</a:t>
            </a:r>
          </a:p>
        </p:txBody>
      </p:sp>
      <p:sp>
        <p:nvSpPr>
          <p:cNvPr id="78" name="Heatmap SP-NB Queen r3c2"/>
          <p:cNvSpPr/>
          <p:nvPr/>
        </p:nvSpPr>
        <p:spPr>
          <a:xfrm>
            <a:off x="9857232" y="3703320"/>
            <a:ext cx="516635" cy="516635"/>
          </a:xfrm>
          <a:prstGeom prst="rect">
            <a:avLst/>
          </a:prstGeom>
          <a:solidFill>
            <a:srgbClr val="49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94,3</a:t>
            </a:r>
          </a:p>
        </p:txBody>
      </p:sp>
      <p:sp>
        <p:nvSpPr>
          <p:cNvPr id="79" name="Heatmap SP-NB Queen r3c3"/>
          <p:cNvSpPr/>
          <p:nvPr/>
        </p:nvSpPr>
        <p:spPr>
          <a:xfrm>
            <a:off x="10405872" y="3703320"/>
            <a:ext cx="516635" cy="516635"/>
          </a:xfrm>
          <a:prstGeom prst="rect">
            <a:avLst/>
          </a:prstGeom>
          <a:solidFill>
            <a:srgbClr val="5AA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92,2</a:t>
            </a:r>
          </a:p>
        </p:txBody>
      </p:sp>
      <p:sp>
        <p:nvSpPr>
          <p:cNvPr id="80" name="Heatmap SP-NB Queen r3c4"/>
          <p:cNvSpPr/>
          <p:nvPr/>
        </p:nvSpPr>
        <p:spPr>
          <a:xfrm>
            <a:off x="10954512" y="370332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1" name="Heatmap SP-NB Queen r4c0"/>
          <p:cNvSpPr/>
          <p:nvPr/>
        </p:nvSpPr>
        <p:spPr>
          <a:xfrm>
            <a:off x="8759952" y="425196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2" name="Heatmap SP-NB Queen r4c1"/>
          <p:cNvSpPr/>
          <p:nvPr/>
        </p:nvSpPr>
        <p:spPr>
          <a:xfrm>
            <a:off x="9308592" y="4251960"/>
            <a:ext cx="516635" cy="516635"/>
          </a:xfrm>
          <a:prstGeom prst="rect">
            <a:avLst/>
          </a:prstGeom>
          <a:solidFill>
            <a:srgbClr val="C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73,6</a:t>
            </a:r>
          </a:p>
        </p:txBody>
      </p:sp>
      <p:sp>
        <p:nvSpPr>
          <p:cNvPr id="83" name="Heatmap SP-NB Queen r4c2"/>
          <p:cNvSpPr/>
          <p:nvPr/>
        </p:nvSpPr>
        <p:spPr>
          <a:xfrm>
            <a:off x="9857232" y="4251960"/>
            <a:ext cx="516635" cy="516635"/>
          </a:xfrm>
          <a:prstGeom prst="rect">
            <a:avLst/>
          </a:prstGeom>
          <a:solidFill>
            <a:srgbClr val="238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98,9</a:t>
            </a:r>
          </a:p>
        </p:txBody>
      </p:sp>
      <p:sp>
        <p:nvSpPr>
          <p:cNvPr id="84" name="Heatmap SP-NB Queen r4c3"/>
          <p:cNvSpPr/>
          <p:nvPr/>
        </p:nvSpPr>
        <p:spPr>
          <a:xfrm>
            <a:off x="10405872" y="4251960"/>
            <a:ext cx="516635" cy="516635"/>
          </a:xfrm>
          <a:prstGeom prst="rect">
            <a:avLst/>
          </a:prstGeom>
          <a:solidFill>
            <a:srgbClr val="69B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90,4</a:t>
            </a:r>
          </a:p>
        </p:txBody>
      </p:sp>
      <p:sp>
        <p:nvSpPr>
          <p:cNvPr id="85" name="Heatmap SP-NB Queen r4c4"/>
          <p:cNvSpPr/>
          <p:nvPr/>
        </p:nvSpPr>
        <p:spPr>
          <a:xfrm>
            <a:off x="10954512" y="425196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86" name="Destaque SP-NB"/>
          <p:cNvSpPr/>
          <p:nvPr/>
        </p:nvSpPr>
        <p:spPr>
          <a:xfrm>
            <a:off x="8705088" y="2002536"/>
            <a:ext cx="2816352" cy="2816352"/>
          </a:xfrm>
          <a:prstGeom prst="rect">
            <a:avLst/>
          </a:prstGeom>
          <a:noFill/>
          <a:ln w="285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59952" y="4937760"/>
            <a:ext cx="27432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72B2"/>
                </a:solidFill>
                <a:latin typeface="Arial"/>
              </a:rPr>
              <a:t>15</a:t>
            </a:r>
            <a:r>
              <a:rPr sz="1300" b="0" i="0">
                <a:solidFill>
                  <a:srgbClr val="1B1B1B"/>
                </a:solidFill>
                <a:latin typeface="Arial"/>
              </a:rPr>
              <a:t>  grids &gt; 90%</a:t>
            </a:r>
          </a:p>
          <a:p>
            <a:pPr algn="ctr"/>
            <a:r>
              <a:rPr sz="1200" b="0" i="0">
                <a:solidFill>
                  <a:srgbClr val="5A6672"/>
                </a:solidFill>
                <a:latin typeface="Arial"/>
              </a:rPr>
              <a:t>Média 87,7%  ·  Mediana 91,5%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5961888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Acurácia por grid (%), mesma escala: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66160" y="5989320"/>
            <a:ext cx="384048" cy="219456"/>
          </a:xfrm>
          <a:prstGeom prst="rect">
            <a:avLst/>
          </a:prstGeom>
          <a:solidFill>
            <a:srgbClr val="F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50208" y="5989320"/>
            <a:ext cx="384048" cy="219456"/>
          </a:xfrm>
          <a:prstGeom prst="rect">
            <a:avLst/>
          </a:prstGeom>
          <a:solidFill>
            <a:srgbClr val="EBE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34256" y="5989320"/>
            <a:ext cx="384048" cy="219456"/>
          </a:xfrm>
          <a:prstGeom prst="rect">
            <a:avLst/>
          </a:prstGeom>
          <a:solidFill>
            <a:srgbClr val="DF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18304" y="5989320"/>
            <a:ext cx="384048" cy="219456"/>
          </a:xfrm>
          <a:prstGeom prst="rect">
            <a:avLst/>
          </a:prstGeom>
          <a:solidFill>
            <a:srgbClr val="D3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102352" y="5989320"/>
            <a:ext cx="384048" cy="219456"/>
          </a:xfrm>
          <a:prstGeom prst="rect">
            <a:avLst/>
          </a:prstGeom>
          <a:solidFill>
            <a:srgbClr val="C7E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486400" y="5989320"/>
            <a:ext cx="384048" cy="219456"/>
          </a:xfrm>
          <a:prstGeom prst="rect">
            <a:avLst/>
          </a:prstGeom>
          <a:solidFill>
            <a:srgbClr val="A9D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870448" y="5989320"/>
            <a:ext cx="384048" cy="219456"/>
          </a:xfrm>
          <a:prstGeom prst="rect">
            <a:avLst/>
          </a:prstGeom>
          <a:solidFill>
            <a:srgbClr val="8AC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54496" y="5989320"/>
            <a:ext cx="384048" cy="219456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638544" y="5989320"/>
            <a:ext cx="384048" cy="219456"/>
          </a:xfrm>
          <a:prstGeom prst="rect">
            <a:avLst/>
          </a:prstGeom>
          <a:solidFill>
            <a:srgbClr val="439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022592" y="5989320"/>
            <a:ext cx="384048" cy="219456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74720" y="62179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≤55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0" y="62179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100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01000" y="5934456"/>
            <a:ext cx="35021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RF acerta melhor alguns grids isolados, mas erra mais no agregado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O histórico recente dos vizinhos contém informação preditiva além das covariáveis tradicionais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737360"/>
            <a:ext cx="114300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737360"/>
            <a:ext cx="1143000" cy="56692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1143000" cy="566928"/>
          </a:xfrm>
          <a:prstGeom prst="roundRect">
            <a:avLst>
              <a:gd name="adj" fmla="val 15000"/>
            </a:avLst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SP-NB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Queen</a:t>
            </a:r>
          </a:p>
        </p:txBody>
      </p:sp>
      <p:sp>
        <p:nvSpPr>
          <p:cNvPr id="9" name="Linha Distribuição adequada a contagens"/>
          <p:cNvSpPr/>
          <p:nvPr/>
        </p:nvSpPr>
        <p:spPr>
          <a:xfrm>
            <a:off x="685800" y="2423160"/>
            <a:ext cx="7086600" cy="585216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23160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Distribuição adequada a contagens</a:t>
            </a:r>
          </a:p>
        </p:txBody>
      </p:sp>
      <p:sp>
        <p:nvSpPr>
          <p:cNvPr id="11" name="Oval 10"/>
          <p:cNvSpPr/>
          <p:nvPr/>
        </p:nvSpPr>
        <p:spPr>
          <a:xfrm>
            <a:off x="4530852" y="2560320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Oval 11"/>
          <p:cNvSpPr/>
          <p:nvPr/>
        </p:nvSpPr>
        <p:spPr>
          <a:xfrm>
            <a:off x="5765292" y="256032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8FA6BC"/>
                </a:solidFill>
                <a:latin typeface="Arial"/>
              </a:rPr>
              <a:t>–</a:t>
            </a:r>
          </a:p>
        </p:txBody>
      </p:sp>
      <p:sp>
        <p:nvSpPr>
          <p:cNvPr id="13" name="Oval 12"/>
          <p:cNvSpPr/>
          <p:nvPr/>
        </p:nvSpPr>
        <p:spPr>
          <a:xfrm>
            <a:off x="6999732" y="2560320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Linha Exposição como escala do risco"/>
          <p:cNvSpPr/>
          <p:nvPr/>
        </p:nvSpPr>
        <p:spPr>
          <a:xfrm>
            <a:off x="685800" y="3081528"/>
            <a:ext cx="708660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081528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Exposição como escala do risco</a:t>
            </a:r>
          </a:p>
        </p:txBody>
      </p:sp>
      <p:sp>
        <p:nvSpPr>
          <p:cNvPr id="16" name="Oval 15"/>
          <p:cNvSpPr/>
          <p:nvPr/>
        </p:nvSpPr>
        <p:spPr>
          <a:xfrm>
            <a:off x="4530852" y="3218688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Oval 16"/>
          <p:cNvSpPr/>
          <p:nvPr/>
        </p:nvSpPr>
        <p:spPr>
          <a:xfrm>
            <a:off x="5765292" y="3218688"/>
            <a:ext cx="310896" cy="310896"/>
          </a:xfrm>
          <a:prstGeom prst="ellipse">
            <a:avLst/>
          </a:prstGeom>
          <a:solidFill>
            <a:srgbClr val="FFF7EC"/>
          </a:solidFill>
          <a:ln w="1587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E69F00"/>
                </a:solidFill>
                <a:latin typeface="Arial"/>
              </a:rPr>
              <a:t>~</a:t>
            </a:r>
          </a:p>
        </p:txBody>
      </p:sp>
      <p:sp>
        <p:nvSpPr>
          <p:cNvPr id="18" name="Oval 17"/>
          <p:cNvSpPr/>
          <p:nvPr/>
        </p:nvSpPr>
        <p:spPr>
          <a:xfrm>
            <a:off x="6999732" y="3218688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Linha Clima e composição da carteira"/>
          <p:cNvSpPr/>
          <p:nvPr/>
        </p:nvSpPr>
        <p:spPr>
          <a:xfrm>
            <a:off x="685800" y="3739896"/>
            <a:ext cx="7086600" cy="585216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739896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Clima e composição da carteira</a:t>
            </a:r>
          </a:p>
        </p:txBody>
      </p:sp>
      <p:sp>
        <p:nvSpPr>
          <p:cNvPr id="21" name="Oval 20"/>
          <p:cNvSpPr/>
          <p:nvPr/>
        </p:nvSpPr>
        <p:spPr>
          <a:xfrm>
            <a:off x="4530852" y="387705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Oval 21"/>
          <p:cNvSpPr/>
          <p:nvPr/>
        </p:nvSpPr>
        <p:spPr>
          <a:xfrm>
            <a:off x="5765292" y="387705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Oval 22"/>
          <p:cNvSpPr/>
          <p:nvPr/>
        </p:nvSpPr>
        <p:spPr>
          <a:xfrm>
            <a:off x="6999732" y="387705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Linha Não linearidades e interações"/>
          <p:cNvSpPr/>
          <p:nvPr/>
        </p:nvSpPr>
        <p:spPr>
          <a:xfrm>
            <a:off x="685800" y="4398264"/>
            <a:ext cx="708660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398264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Não linearidades e interações</a:t>
            </a:r>
          </a:p>
        </p:txBody>
      </p:sp>
      <p:sp>
        <p:nvSpPr>
          <p:cNvPr id="26" name="Oval 25"/>
          <p:cNvSpPr/>
          <p:nvPr/>
        </p:nvSpPr>
        <p:spPr>
          <a:xfrm>
            <a:off x="4530852" y="453542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8FA6BC"/>
                </a:solidFill>
                <a:latin typeface="Arial"/>
              </a:rPr>
              <a:t>–</a:t>
            </a:r>
          </a:p>
        </p:txBody>
      </p:sp>
      <p:sp>
        <p:nvSpPr>
          <p:cNvPr id="27" name="Oval 26"/>
          <p:cNvSpPr/>
          <p:nvPr/>
        </p:nvSpPr>
        <p:spPr>
          <a:xfrm>
            <a:off x="5765292" y="4535424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Oval 27"/>
          <p:cNvSpPr/>
          <p:nvPr/>
        </p:nvSpPr>
        <p:spPr>
          <a:xfrm>
            <a:off x="6999732" y="4535424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8FA6BC"/>
                </a:solidFill>
                <a:latin typeface="Arial"/>
              </a:rPr>
              <a:t>–</a:t>
            </a:r>
          </a:p>
        </p:txBody>
      </p:sp>
      <p:sp>
        <p:nvSpPr>
          <p:cNvPr id="29" name="Linha Dependência espaço-temporal explícita"/>
          <p:cNvSpPr/>
          <p:nvPr/>
        </p:nvSpPr>
        <p:spPr>
          <a:xfrm>
            <a:off x="685800" y="5056631"/>
            <a:ext cx="7086600" cy="585216"/>
          </a:xfrm>
          <a:prstGeom prst="rect">
            <a:avLst/>
          </a:prstGeom>
          <a:solidFill>
            <a:srgbClr val="E3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056631"/>
            <a:ext cx="31546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Dependência espaço-temporal explícita</a:t>
            </a:r>
          </a:p>
        </p:txBody>
      </p:sp>
      <p:sp>
        <p:nvSpPr>
          <p:cNvPr id="31" name="Oval 30"/>
          <p:cNvSpPr/>
          <p:nvPr/>
        </p:nvSpPr>
        <p:spPr>
          <a:xfrm>
            <a:off x="4530852" y="519379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8FA6BC"/>
                </a:solidFill>
                <a:latin typeface="Arial"/>
              </a:rPr>
              <a:t>–</a:t>
            </a:r>
          </a:p>
        </p:txBody>
      </p:sp>
      <p:sp>
        <p:nvSpPr>
          <p:cNvPr id="32" name="Oval 31"/>
          <p:cNvSpPr/>
          <p:nvPr/>
        </p:nvSpPr>
        <p:spPr>
          <a:xfrm>
            <a:off x="5765292" y="5193792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8FA6BC"/>
                </a:solidFill>
                <a:latin typeface="Arial"/>
              </a:rPr>
              <a:t>–</a:t>
            </a:r>
          </a:p>
        </p:txBody>
      </p:sp>
      <p:sp>
        <p:nvSpPr>
          <p:cNvPr id="33" name="Oval 32"/>
          <p:cNvSpPr/>
          <p:nvPr/>
        </p:nvSpPr>
        <p:spPr>
          <a:xfrm>
            <a:off x="6999732" y="5193792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60720"/>
            <a:ext cx="7086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6672"/>
                </a:solidFill>
                <a:latin typeface="Arial"/>
              </a:rPr>
              <a:t>✓ sim   ~ parcial (exposição entra como variável)   – não</a:t>
            </a:r>
          </a:p>
        </p:txBody>
      </p:sp>
      <p:sp>
        <p:nvSpPr>
          <p:cNvPr id="35" name="Leitura cuidadosa"/>
          <p:cNvSpPr/>
          <p:nvPr/>
        </p:nvSpPr>
        <p:spPr>
          <a:xfrm>
            <a:off x="8183879" y="1737360"/>
            <a:ext cx="3319272" cy="41605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1874519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Leitura cuidadosa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2860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Arial"/>
              </a:rPr>
              <a:t>Ganho preditivo, não causal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A informação dos vizinhos ajuda a prever; isso não demonstra relação causal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0" y="3337560"/>
            <a:ext cx="2880360" cy="0"/>
          </a:xfrm>
          <a:prstGeom prst="line">
            <a:avLst/>
          </a:prstGeom>
          <a:ln w="9525">
            <a:solidFill>
              <a:srgbClr val="F2C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0" y="347472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Arial"/>
              </a:rPr>
              <a:t>ψ individual pouco recuperado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Correlação de 0,16 entre ψ verdadeiro e estimado: ler o termo espacial em conjunto, não grid a grid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0" y="4526279"/>
            <a:ext cx="2880360" cy="0"/>
          </a:xfrm>
          <a:prstGeom prst="line">
            <a:avLst/>
          </a:prstGeom>
          <a:ln w="9525">
            <a:solidFill>
              <a:srgbClr val="F2C7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0" y="466344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B"/>
                </a:solidFill>
                <a:latin typeface="Arial"/>
              </a:rPr>
              <a:t>Ganho modesto no mês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A vantagem sobre a NB aparece mais no total por grid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56B4E9"/>
                </a:solidFill>
                <a:latin typeface="Arial"/>
              </a:rPr>
              <a:t>CONCLUSÃO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Incorporar a dependência espaço-temporal melhorou a previsão neste experimento, ainda que com ganhos modestos</a:t>
            </a:r>
          </a:p>
        </p:txBody>
      </p:sp>
      <p:sp>
        <p:nvSpPr>
          <p:cNvPr id="4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46504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Modelos tradicionais seguem úteis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2"/>
                </a:solidFill>
                <a:latin typeface="Arial"/>
              </a:rPr>
              <a:t>A NB é um benchmark forte: RMSE grid-mês só 0,4% acima do SP-NB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07208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7063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RF traz flexibilidade, mas não bastou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72968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2"/>
                </a:solidFill>
                <a:latin typeface="Arial"/>
              </a:rPr>
              <a:t>Capta não linearidades, porém teve R² de 0,48 e subestimou o total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831336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947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SP-NB Queen liderou todos os critérios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97096"/>
            <a:ext cx="6035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6E2"/>
                </a:solidFill>
                <a:latin typeface="Arial"/>
              </a:rPr>
              <a:t>Ao incorporar os vizinhos, teve o menor erro e 15 grids acima de 90%</a:t>
            </a:r>
          </a:p>
        </p:txBody>
      </p:sp>
      <p:sp>
        <p:nvSpPr>
          <p:cNvPr id="15" name="Limitação"/>
          <p:cNvSpPr/>
          <p:nvPr/>
        </p:nvSpPr>
        <p:spPr>
          <a:xfrm>
            <a:off x="7863840" y="1783080"/>
            <a:ext cx="3639312" cy="2377440"/>
          </a:xfrm>
          <a:prstGeom prst="roundRect">
            <a:avLst>
              <a:gd name="adj" fmla="val 4000"/>
            </a:avLst>
          </a:prstGeom>
          <a:solidFill>
            <a:srgbClr val="1C3550"/>
          </a:solidFill>
          <a:ln w="12700">
            <a:solidFill>
              <a:srgbClr val="2E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9385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56B4E9"/>
                </a:solidFill>
                <a:latin typeface="Arial"/>
              </a:rPr>
              <a:t>Limitação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20040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 base contém componente simulado (o ψ verdadeiro é conhecido) e cobre uma única área de 25 grids.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Os resultados precisam ser validados em uma base real de sinistros.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69F00"/>
                </a:solidFill>
                <a:latin typeface="Arial"/>
              </a:rPr>
              <a:t>Próximo passo: </a:t>
            </a:r>
            <a:r>
              <a:rPr sz="1600" b="0" i="0">
                <a:solidFill>
                  <a:srgbClr val="FFFFFF"/>
                </a:solidFill>
                <a:latin typeface="Arial"/>
              </a:rPr>
              <a:t>validar em dados reais e testar outras definições de choque e vizinhança.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Referências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17352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ANSELIN, L.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Spatial econometrics: methods and models</a:t>
            </a:r>
            <a:r>
              <a:rPr sz="1400" b="0" i="0">
                <a:solidFill>
                  <a:srgbClr val="1B1B1B"/>
                </a:solidFill>
                <a:latin typeface="Arial"/>
              </a:rPr>
              <a:t>. Dordrecht: Kluwer, 1988.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BREIMAN, L. Random forests.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Machine Learning</a:t>
            </a:r>
            <a:r>
              <a:rPr sz="1400" b="0" i="0">
                <a:solidFill>
                  <a:srgbClr val="1B1B1B"/>
                </a:solidFill>
                <a:latin typeface="Arial"/>
              </a:rPr>
              <a:t>, v. 45, n. 1, p. 5–32, 2001.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CRED/UCLOUVAIN.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EM-DAT: The International Disaster Database</a:t>
            </a:r>
            <a:r>
              <a:rPr sz="1400" b="0" i="0">
                <a:solidFill>
                  <a:srgbClr val="1B1B1B"/>
                </a:solidFill>
                <a:latin typeface="Arial"/>
              </a:rPr>
              <a:t>. Bruxelas. Disponível em: www.emdat.be.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DEMPSTER, A. P.; LAIRD, N. M.; RUBIN, D. B. Maximum likelihood from incomplete data via the EM algorithm.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Journal of the Royal Statistical Society: Series B</a:t>
            </a:r>
            <a:r>
              <a:rPr sz="1400" b="0" i="0">
                <a:solidFill>
                  <a:srgbClr val="1B1B1B"/>
                </a:solidFill>
                <a:latin typeface="Arial"/>
              </a:rPr>
              <a:t>, v. 39, n. 1, p. 1–22, 1977.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DENUIT, M. et al.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Actuarial modelling of claim counts: risk classification, credibility and bonus-malus systems</a:t>
            </a:r>
            <a:r>
              <a:rPr sz="1400" b="0" i="0">
                <a:solidFill>
                  <a:srgbClr val="1B1B1B"/>
                </a:solidFill>
                <a:latin typeface="Arial"/>
              </a:rPr>
              <a:t>. Chichester: Wiley, 2007.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FUNK, C. et al. The climate hazards infrared precipitation with stations — a new environmental record for monitoring extremes.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Scientific Data</a:t>
            </a:r>
            <a:r>
              <a:rPr sz="1400" b="0" i="0">
                <a:solidFill>
                  <a:srgbClr val="1B1B1B"/>
                </a:solidFill>
                <a:latin typeface="Arial"/>
              </a:rPr>
              <a:t>, v. 2, 150066, 2015.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GUDMUNDARSON, R. L.; TZOUGAS, G.; CHRISTOPOULOS, D. Insurance ratemaking for climate-related claim counts using mixed Poisson spatio-temporal and temporal Besag regression models.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European Actuarial Journal</a:t>
            </a:r>
            <a:r>
              <a:rPr sz="1400" b="0" i="0">
                <a:solidFill>
                  <a:srgbClr val="1B1B1B"/>
                </a:solidFill>
                <a:latin typeface="Arial"/>
              </a:rPr>
              <a:t>, 2026. DOI: 10.1007/s13385-025-00443-6.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HELD, L.; HÖHLE, M.; HOFMANN, M. A statistical framework for the analysis of multivariate infectious disease surveillance counts.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Statistical Modelling</a:t>
            </a:r>
            <a:r>
              <a:rPr sz="1400" b="0" i="0">
                <a:solidFill>
                  <a:srgbClr val="1B1B1B"/>
                </a:solidFill>
                <a:latin typeface="Arial"/>
              </a:rPr>
              <a:t>, v. 5, n. 3, p. 187–199, 2005.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3475</Words>
  <Application>Microsoft Office PowerPoint</Application>
  <PresentationFormat>Widescreen</PresentationFormat>
  <Paragraphs>469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Segregacao por perfil de risco - SIAc 2026</dc:title>
  <dc:subject>PptxGenJS Presentation</dc:subject>
  <dc:creator>Kaio Alvim Faustino Ramos</dc:creator>
  <cp:lastModifiedBy>Kaio Alvim Faustino Ramos</cp:lastModifiedBy>
  <cp:revision>6</cp:revision>
  <dcterms:created xsi:type="dcterms:W3CDTF">2026-08-10T15:16:09Z</dcterms:created>
  <dcterms:modified xsi:type="dcterms:W3CDTF">2026-10-01T19:09:49Z</dcterms:modified>
</cp:coreProperties>
</file>