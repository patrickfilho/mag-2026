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74" r:id="rId10"/>
    <p:sldId id="264" r:id="rId11"/>
    <p:sldId id="265" r:id="rId12"/>
    <p:sldId id="266" r:id="rId13"/>
    <p:sldId id="267" r:id="rId14"/>
    <p:sldId id="268" r:id="rId15"/>
    <p:sldId id="273" r:id="rId16"/>
    <p:sldId id="271" r:id="rId17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io Alvim Faustino Ramos" initials="KF" lastIdx="1" clrIdx="0">
    <p:extLst>
      <p:ext uri="{19B8F6BF-5375-455C-9EA6-DF929625EA0E}">
        <p15:presenceInfo xmlns:p15="http://schemas.microsoft.com/office/powerpoint/2012/main" userId="7a936b464f1f89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2263A"/>
    <a:srgbClr val="1B1B1B"/>
    <a:srgbClr val="00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76" autoAdjust="0"/>
  </p:normalViewPr>
  <p:slideViewPr>
    <p:cSldViewPr snapToGrid="0" snapToObjects="1">
      <p:cViewPr>
        <p:scale>
          <a:sx n="80" d="100"/>
          <a:sy n="80" d="100"/>
        </p:scale>
        <p:origin x="7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0.02"/>
          <c:y val="0.1"/>
          <c:w val="0.96"/>
          <c:h val="0.7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Hidrológicos</c:v>
                </c:pt>
              </c:strCache>
            </c:strRef>
          </c:tx>
          <c:spPr>
            <a:solidFill>
              <a:srgbClr val="12263A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878</c:v>
                </c:pt>
                <c:pt idx="1">
                  <c:v>1046</c:v>
                </c:pt>
                <c:pt idx="2">
                  <c:v>808</c:v>
                </c:pt>
                <c:pt idx="3">
                  <c:v>905</c:v>
                </c:pt>
                <c:pt idx="4">
                  <c:v>930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A2-4B54-A7C7-EB4D86B41A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Meteorológicos</c:v>
                </c:pt>
              </c:strCache>
            </c:strRef>
          </c:tx>
          <c:spPr>
            <a:solidFill>
              <a:srgbClr val="0072B2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673</c:v>
                </c:pt>
                <c:pt idx="1">
                  <c:v>580</c:v>
                </c:pt>
                <c:pt idx="2">
                  <c:v>610</c:v>
                </c:pt>
                <c:pt idx="3">
                  <c:v>618</c:v>
                </c:pt>
                <c:pt idx="4">
                  <c:v>847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BA2-4B54-A7C7-EB4D86B41A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Climatológicos</c:v>
                </c:pt>
              </c:strCache>
            </c:strRef>
          </c:tx>
          <c:spPr>
            <a:solidFill>
              <a:srgbClr val="56B4E9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12263A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161</c:v>
                </c:pt>
                <c:pt idx="1">
                  <c:v>119</c:v>
                </c:pt>
                <c:pt idx="2">
                  <c:v>134</c:v>
                </c:pt>
                <c:pt idx="3">
                  <c:v>126</c:v>
                </c:pt>
                <c:pt idx="4">
                  <c:v>182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BA2-4B54-A7C7-EB4D86B41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CE3"/>
            </a:solidFill>
          </a:ln>
        </c:spPr>
        <c:txPr>
          <a:bodyPr/>
          <a:lstStyle/>
          <a:p>
            <a:pPr>
              <a:defRPr sz="1200">
                <a:solidFill>
                  <a:srgbClr val="5A6672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5A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97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Abrir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dado: o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desastres</a:t>
            </a:r>
            <a:r>
              <a:rPr dirty="0"/>
              <a:t> </a:t>
            </a:r>
            <a:r>
              <a:rPr dirty="0" err="1"/>
              <a:t>climáticos</a:t>
            </a:r>
            <a:r>
              <a:rPr dirty="0"/>
              <a:t> (</a:t>
            </a:r>
            <a:r>
              <a:rPr dirty="0" err="1"/>
              <a:t>hidrológicos</a:t>
            </a:r>
            <a:r>
              <a:rPr dirty="0"/>
              <a:t>, </a:t>
            </a:r>
            <a:r>
              <a:rPr dirty="0" err="1"/>
              <a:t>meteorológicos</a:t>
            </a:r>
            <a:r>
              <a:rPr dirty="0"/>
              <a:t> e </a:t>
            </a:r>
            <a:r>
              <a:rPr dirty="0" err="1"/>
              <a:t>climatológicos</a:t>
            </a:r>
            <a:r>
              <a:rPr dirty="0"/>
              <a:t>) no </a:t>
            </a:r>
            <a:r>
              <a:rPr dirty="0" err="1"/>
              <a:t>último</a:t>
            </a:r>
            <a:r>
              <a:rPr dirty="0"/>
              <a:t> </a:t>
            </a:r>
            <a:r>
              <a:rPr dirty="0" err="1"/>
              <a:t>quinquênio</a:t>
            </a:r>
            <a:r>
              <a:rPr dirty="0"/>
              <a:t> é o </a:t>
            </a:r>
            <a:r>
              <a:rPr dirty="0" err="1"/>
              <a:t>maior</a:t>
            </a:r>
            <a:r>
              <a:rPr dirty="0"/>
              <a:t> da </a:t>
            </a:r>
            <a:r>
              <a:rPr dirty="0" err="1"/>
              <a:t>série</a:t>
            </a:r>
            <a:r>
              <a:rPr dirty="0"/>
              <a:t>. O </a:t>
            </a:r>
            <a:r>
              <a:rPr dirty="0" err="1"/>
              <a:t>gráfico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frequência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severidade</a:t>
            </a:r>
            <a:r>
              <a:rPr dirty="0"/>
              <a:t>;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afirmar</a:t>
            </a:r>
            <a:r>
              <a:rPr dirty="0"/>
              <a:t> </a:t>
            </a:r>
            <a:r>
              <a:rPr dirty="0" err="1"/>
              <a:t>aumento</a:t>
            </a:r>
            <a:r>
              <a:rPr dirty="0"/>
              <a:t> de </a:t>
            </a:r>
            <a:r>
              <a:rPr dirty="0" err="1"/>
              <a:t>severidade</a:t>
            </a:r>
            <a:r>
              <a:rPr dirty="0"/>
              <a:t>.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geofísicos</a:t>
            </a:r>
            <a:r>
              <a:rPr dirty="0"/>
              <a:t> (</a:t>
            </a:r>
            <a:r>
              <a:rPr dirty="0" err="1"/>
              <a:t>terremotos</a:t>
            </a:r>
            <a:r>
              <a:rPr dirty="0"/>
              <a:t>)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excluídos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serem</a:t>
            </a:r>
            <a:r>
              <a:rPr dirty="0"/>
              <a:t> </a:t>
            </a:r>
            <a:r>
              <a:rPr dirty="0" err="1"/>
              <a:t>climáticos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E886-78FA-9E48-E68F-334AE832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29549-94CE-0035-8B6B-C0FF20A37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Abrir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dado: o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desastres</a:t>
            </a:r>
            <a:r>
              <a:rPr dirty="0"/>
              <a:t> </a:t>
            </a:r>
            <a:r>
              <a:rPr dirty="0" err="1"/>
              <a:t>climáticos</a:t>
            </a:r>
            <a:r>
              <a:rPr dirty="0"/>
              <a:t> (</a:t>
            </a:r>
            <a:r>
              <a:rPr dirty="0" err="1"/>
              <a:t>hidrológicos</a:t>
            </a:r>
            <a:r>
              <a:rPr dirty="0"/>
              <a:t>, </a:t>
            </a:r>
            <a:r>
              <a:rPr dirty="0" err="1"/>
              <a:t>meteorológicos</a:t>
            </a:r>
            <a:r>
              <a:rPr dirty="0"/>
              <a:t> e </a:t>
            </a:r>
            <a:r>
              <a:rPr dirty="0" err="1"/>
              <a:t>climatológicos</a:t>
            </a:r>
            <a:r>
              <a:rPr dirty="0"/>
              <a:t>) no </a:t>
            </a:r>
            <a:r>
              <a:rPr dirty="0" err="1"/>
              <a:t>último</a:t>
            </a:r>
            <a:r>
              <a:rPr dirty="0"/>
              <a:t> </a:t>
            </a:r>
            <a:r>
              <a:rPr dirty="0" err="1"/>
              <a:t>quinquênio</a:t>
            </a:r>
            <a:r>
              <a:rPr dirty="0"/>
              <a:t> é o </a:t>
            </a:r>
            <a:r>
              <a:rPr dirty="0" err="1"/>
              <a:t>maior</a:t>
            </a:r>
            <a:r>
              <a:rPr dirty="0"/>
              <a:t> da </a:t>
            </a:r>
            <a:r>
              <a:rPr dirty="0" err="1"/>
              <a:t>série</a:t>
            </a:r>
            <a:r>
              <a:rPr dirty="0"/>
              <a:t>. O </a:t>
            </a:r>
            <a:r>
              <a:rPr dirty="0" err="1"/>
              <a:t>gráfico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frequência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severidade</a:t>
            </a:r>
            <a:r>
              <a:rPr dirty="0"/>
              <a:t>;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afirmar</a:t>
            </a:r>
            <a:r>
              <a:rPr dirty="0"/>
              <a:t> </a:t>
            </a:r>
            <a:r>
              <a:rPr dirty="0" err="1"/>
              <a:t>aumento</a:t>
            </a:r>
            <a:r>
              <a:rPr dirty="0"/>
              <a:t> de </a:t>
            </a:r>
            <a:r>
              <a:rPr dirty="0" err="1"/>
              <a:t>severidade</a:t>
            </a:r>
            <a:r>
              <a:rPr dirty="0"/>
              <a:t>.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geofísicos</a:t>
            </a:r>
            <a:r>
              <a:rPr dirty="0"/>
              <a:t> (</a:t>
            </a:r>
            <a:r>
              <a:rPr dirty="0" err="1"/>
              <a:t>terremotos</a:t>
            </a:r>
            <a:r>
              <a:rPr dirty="0"/>
              <a:t>)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excluídos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serem</a:t>
            </a:r>
            <a:r>
              <a:rPr dirty="0"/>
              <a:t> </a:t>
            </a:r>
            <a:r>
              <a:rPr dirty="0" err="1"/>
              <a:t>climáticos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1106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Ponte entre </a:t>
            </a:r>
            <a:r>
              <a:rPr dirty="0" err="1"/>
              <a:t>clima</a:t>
            </a:r>
            <a:r>
              <a:rPr dirty="0"/>
              <a:t> e </a:t>
            </a:r>
            <a:r>
              <a:rPr dirty="0" err="1"/>
              <a:t>seguro</a:t>
            </a:r>
            <a:r>
              <a:rPr dirty="0"/>
              <a:t>. A </a:t>
            </a:r>
            <a:r>
              <a:rPr dirty="0" err="1"/>
              <a:t>mensagem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que o </a:t>
            </a:r>
            <a:r>
              <a:rPr dirty="0" err="1"/>
              <a:t>risco</a:t>
            </a:r>
            <a:r>
              <a:rPr dirty="0"/>
              <a:t> </a:t>
            </a:r>
            <a:r>
              <a:rPr dirty="0" err="1"/>
              <a:t>subiu</a:t>
            </a:r>
            <a:r>
              <a:rPr dirty="0"/>
              <a:t>, e sim que </a:t>
            </a:r>
            <a:r>
              <a:rPr dirty="0" err="1"/>
              <a:t>ficou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estável</a:t>
            </a:r>
            <a:r>
              <a:rPr dirty="0"/>
              <a:t>: meses </a:t>
            </a:r>
            <a:r>
              <a:rPr dirty="0" err="1"/>
              <a:t>atípicos</a:t>
            </a:r>
            <a:r>
              <a:rPr dirty="0"/>
              <a:t> </a:t>
            </a:r>
            <a:r>
              <a:rPr dirty="0" err="1"/>
              <a:t>concentram</a:t>
            </a:r>
            <a:r>
              <a:rPr dirty="0"/>
              <a:t> </a:t>
            </a:r>
            <a:r>
              <a:rPr dirty="0" err="1"/>
              <a:t>sinistros</a:t>
            </a:r>
            <a:r>
              <a:rPr dirty="0"/>
              <a:t> e a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antecipa</a:t>
            </a:r>
            <a:r>
              <a:rPr dirty="0"/>
              <a:t> esses </a:t>
            </a:r>
            <a:r>
              <a:rPr dirty="0" err="1"/>
              <a:t>picos</a:t>
            </a:r>
            <a:r>
              <a:rPr dirty="0"/>
              <a:t>. O </a:t>
            </a:r>
            <a:r>
              <a:rPr dirty="0" err="1"/>
              <a:t>gráfico</a:t>
            </a:r>
            <a:r>
              <a:rPr dirty="0"/>
              <a:t> é </a:t>
            </a:r>
            <a:r>
              <a:rPr dirty="0" err="1"/>
              <a:t>esquemático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dados reais.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Mostrar</a:t>
            </a:r>
            <a:r>
              <a:rPr dirty="0"/>
              <a:t> o </a:t>
            </a:r>
            <a:r>
              <a:rPr lang="pt-BR" dirty="0"/>
              <a:t>célula</a:t>
            </a:r>
            <a:r>
              <a:rPr dirty="0"/>
              <a:t>: o </a:t>
            </a:r>
            <a:r>
              <a:rPr dirty="0" err="1"/>
              <a:t>evento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respeita</a:t>
            </a:r>
            <a:r>
              <a:rPr dirty="0"/>
              <a:t> a </a:t>
            </a:r>
            <a:r>
              <a:rPr dirty="0" err="1"/>
              <a:t>fronteira</a:t>
            </a:r>
            <a:r>
              <a:rPr dirty="0"/>
              <a:t> das </a:t>
            </a:r>
            <a:r>
              <a:rPr dirty="0" err="1"/>
              <a:t>células</a:t>
            </a:r>
            <a:r>
              <a:rPr dirty="0"/>
              <a:t>. </a:t>
            </a:r>
            <a:r>
              <a:rPr dirty="0" err="1"/>
              <a:t>Vários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s </a:t>
            </a:r>
            <a:r>
              <a:rPr dirty="0" err="1"/>
              <a:t>vizinhos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atingidos</a:t>
            </a:r>
            <a:r>
              <a:rPr dirty="0"/>
              <a:t> no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mês</a:t>
            </a:r>
            <a:r>
              <a:rPr dirty="0"/>
              <a:t>. </a:t>
            </a:r>
            <a:r>
              <a:rPr dirty="0" err="1"/>
              <a:t>Intuição</a:t>
            </a:r>
            <a:r>
              <a:rPr dirty="0"/>
              <a:t> de </a:t>
            </a:r>
            <a:r>
              <a:rPr dirty="0" err="1"/>
              <a:t>dependência</a:t>
            </a:r>
            <a:r>
              <a:rPr dirty="0"/>
              <a:t> </a:t>
            </a:r>
            <a:r>
              <a:rPr dirty="0" err="1"/>
              <a:t>espacial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fórmula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NB: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contagem</a:t>
            </a:r>
            <a:r>
              <a:rPr dirty="0"/>
              <a:t> com </a:t>
            </a:r>
            <a:r>
              <a:rPr dirty="0" err="1"/>
              <a:t>sobredispersão</a:t>
            </a:r>
            <a:r>
              <a:rPr dirty="0"/>
              <a:t> e </a:t>
            </a:r>
            <a:r>
              <a:rPr dirty="0" err="1"/>
              <a:t>exposição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offset. RF: </a:t>
            </a:r>
            <a:r>
              <a:rPr dirty="0" err="1"/>
              <a:t>flexível</a:t>
            </a:r>
            <a:r>
              <a:rPr dirty="0"/>
              <a:t>, </a:t>
            </a:r>
            <a:r>
              <a:rPr dirty="0" err="1"/>
              <a:t>captura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linearidades</a:t>
            </a:r>
            <a:r>
              <a:rPr dirty="0"/>
              <a:t> e </a:t>
            </a:r>
            <a:r>
              <a:rPr dirty="0" err="1"/>
              <a:t>interações</a:t>
            </a:r>
            <a:r>
              <a:rPr dirty="0"/>
              <a:t>. O que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é o </a:t>
            </a:r>
            <a:r>
              <a:rPr dirty="0" err="1"/>
              <a:t>mesmo</a:t>
            </a:r>
            <a:r>
              <a:rPr dirty="0"/>
              <a:t>: </a:t>
            </a:r>
            <a:r>
              <a:rPr dirty="0" err="1"/>
              <a:t>nenhum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a </a:t>
            </a:r>
            <a:r>
              <a:rPr dirty="0" err="1"/>
              <a:t>informação</a:t>
            </a:r>
            <a:r>
              <a:rPr dirty="0"/>
              <a:t> do que </a:t>
            </a:r>
            <a:r>
              <a:rPr dirty="0" err="1"/>
              <a:t>aconteceu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vizinhos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Ler como uma soma: risco próprio (o que a NB já faz) mais um termo que só liga quando algum vizinho teve choque no mês anterior. Se nenhum vizinho estava em choque, o SP-NB vira a própria NB.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ler termo a termo. Apontar as quatro peças pelas cores. O termo espacial entra somando à taxa (forma aditiva, como no artigo de referência), não dentro da exponencial. ψ_g é restrito a valores não negativos. Estimação por máxima verossimilhança via algoritmo 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Como a </a:t>
            </a:r>
            <a:r>
              <a:rPr dirty="0" err="1"/>
              <a:t>rainha</a:t>
            </a:r>
            <a:r>
              <a:rPr dirty="0"/>
              <a:t> no </a:t>
            </a:r>
            <a:r>
              <a:rPr dirty="0" err="1"/>
              <a:t>xadrez</a:t>
            </a:r>
            <a:r>
              <a:rPr dirty="0"/>
              <a:t>: </a:t>
            </a:r>
            <a:r>
              <a:rPr dirty="0" err="1"/>
              <a:t>lados</a:t>
            </a:r>
            <a:r>
              <a:rPr dirty="0"/>
              <a:t> e </a:t>
            </a:r>
            <a:r>
              <a:rPr dirty="0" err="1"/>
              <a:t>diagonais</a:t>
            </a:r>
            <a:r>
              <a:rPr dirty="0"/>
              <a:t>. </a:t>
            </a:r>
            <a:r>
              <a:rPr lang="pt-BR" dirty="0"/>
              <a:t>célula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8 </a:t>
            </a:r>
            <a:r>
              <a:rPr dirty="0" err="1"/>
              <a:t>vizinhos</a:t>
            </a:r>
            <a:r>
              <a:rPr dirty="0"/>
              <a:t>, </a:t>
            </a:r>
            <a:r>
              <a:rPr dirty="0" err="1"/>
              <a:t>borda</a:t>
            </a:r>
            <a:r>
              <a:rPr dirty="0"/>
              <a:t> 5, canto 3. Na </a:t>
            </a:r>
            <a:r>
              <a:rPr dirty="0" err="1"/>
              <a:t>área</a:t>
            </a:r>
            <a:r>
              <a:rPr dirty="0"/>
              <a:t> de </a:t>
            </a:r>
            <a:r>
              <a:rPr dirty="0" err="1"/>
              <a:t>estudo</a:t>
            </a:r>
            <a:r>
              <a:rPr dirty="0"/>
              <a:t>: 9 </a:t>
            </a:r>
            <a:r>
              <a:rPr dirty="0" err="1"/>
              <a:t>internos</a:t>
            </a:r>
            <a:r>
              <a:rPr dirty="0"/>
              <a:t>, 12 de </a:t>
            </a:r>
            <a:r>
              <a:rPr dirty="0" err="1"/>
              <a:t>borda</a:t>
            </a:r>
            <a:r>
              <a:rPr dirty="0"/>
              <a:t>, 4 de canto.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1) Observado: quantos sinistros a célula teve no mês. 2) Referência: a frequência média da carteira vezes o número de casas seguradas na célula dá quantos sinistros seriam esperados. 3) Choque: se o observado passa do percentil 80 do que seria esperado, a célula entra em choque (1); senão, 0. Se perguntarem: o P80 vem de uma Poisson com média igual aos sinistros esperados, como no artigo de referência.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Taquari </a:t>
            </a:r>
            <a:r>
              <a:rPr dirty="0" err="1"/>
              <a:t>foi</a:t>
            </a:r>
            <a:r>
              <a:rPr dirty="0"/>
              <a:t> fortemente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enchentes</a:t>
            </a:r>
            <a:r>
              <a:rPr dirty="0"/>
              <a:t> </a:t>
            </a:r>
            <a:r>
              <a:rPr dirty="0" err="1"/>
              <a:t>recentes</a:t>
            </a:r>
            <a:r>
              <a:rPr dirty="0"/>
              <a:t> no RS. </a:t>
            </a:r>
            <a:r>
              <a:rPr dirty="0" err="1"/>
              <a:t>Unidade</a:t>
            </a:r>
            <a:r>
              <a:rPr dirty="0"/>
              <a:t> de </a:t>
            </a:r>
            <a:r>
              <a:rPr dirty="0" err="1"/>
              <a:t>observação</a:t>
            </a:r>
            <a:r>
              <a:rPr dirty="0"/>
              <a:t>: </a:t>
            </a:r>
            <a:r>
              <a:rPr lang="pt-BR" dirty="0"/>
              <a:t>célula</a:t>
            </a:r>
            <a:r>
              <a:rPr dirty="0"/>
              <a:t> × </a:t>
            </a:r>
            <a:r>
              <a:rPr dirty="0" err="1"/>
              <a:t>mês</a:t>
            </a:r>
            <a:r>
              <a:rPr dirty="0"/>
              <a:t>. 25 </a:t>
            </a:r>
            <a:r>
              <a:rPr lang="pt-BR" dirty="0"/>
              <a:t>célula</a:t>
            </a:r>
            <a:r>
              <a:rPr dirty="0"/>
              <a:t>s </a:t>
            </a:r>
            <a:r>
              <a:rPr dirty="0" err="1"/>
              <a:t>em</a:t>
            </a:r>
            <a:r>
              <a:rPr dirty="0"/>
              <a:t> 300 meses </a:t>
            </a:r>
            <a:r>
              <a:rPr dirty="0" err="1"/>
              <a:t>dão</a:t>
            </a:r>
            <a:r>
              <a:rPr dirty="0"/>
              <a:t> 7.500 </a:t>
            </a:r>
            <a:r>
              <a:rPr dirty="0" err="1"/>
              <a:t>observações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Uma </a:t>
            </a:r>
            <a:r>
              <a:rPr dirty="0" err="1"/>
              <a:t>linha</a:t>
            </a:r>
            <a:r>
              <a:rPr dirty="0"/>
              <a:t> da base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 e </a:t>
            </a:r>
            <a:r>
              <a:rPr dirty="0" err="1"/>
              <a:t>mês</a:t>
            </a:r>
            <a:r>
              <a:rPr dirty="0"/>
              <a:t>. </a:t>
            </a:r>
            <a:r>
              <a:rPr dirty="0" err="1"/>
              <a:t>Covariáveis</a:t>
            </a:r>
            <a:r>
              <a:rPr dirty="0"/>
              <a:t> </a:t>
            </a:r>
            <a:r>
              <a:rPr dirty="0" err="1"/>
              <a:t>padronizadas</a:t>
            </a:r>
            <a:r>
              <a:rPr dirty="0"/>
              <a:t> (z-score) antes do </a:t>
            </a:r>
            <a:r>
              <a:rPr dirty="0" err="1"/>
              <a:t>ajuste</a:t>
            </a:r>
            <a:r>
              <a:rPr dirty="0"/>
              <a:t>. O </a:t>
            </a:r>
            <a:r>
              <a:rPr dirty="0" err="1"/>
              <a:t>termo</a:t>
            </a:r>
            <a:r>
              <a:rPr dirty="0"/>
              <a:t> de </a:t>
            </a:r>
            <a:r>
              <a:rPr dirty="0" err="1"/>
              <a:t>vizinhança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no SP-NB.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Divisão</a:t>
            </a:r>
            <a:r>
              <a:rPr dirty="0"/>
              <a:t> temporal: </a:t>
            </a:r>
            <a:r>
              <a:rPr dirty="0" err="1"/>
              <a:t>treina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2020, </a:t>
            </a:r>
            <a:r>
              <a:rPr dirty="0" err="1"/>
              <a:t>testa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2021–2025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reestimar</a:t>
            </a:r>
            <a:r>
              <a:rPr dirty="0"/>
              <a:t>. As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olham</a:t>
            </a:r>
            <a:r>
              <a:rPr dirty="0"/>
              <a:t> duas </a:t>
            </a:r>
            <a:r>
              <a:rPr dirty="0" err="1"/>
              <a:t>coisas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: o </a:t>
            </a:r>
            <a:r>
              <a:rPr dirty="0" err="1"/>
              <a:t>erro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-</a:t>
            </a:r>
            <a:r>
              <a:rPr dirty="0" err="1"/>
              <a:t>mês</a:t>
            </a:r>
            <a:r>
              <a:rPr dirty="0"/>
              <a:t> e se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distribui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total </a:t>
            </a:r>
            <a:r>
              <a:rPr dirty="0" err="1"/>
              <a:t>acumulado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Fonte: </a:t>
            </a:r>
            <a:r>
              <a:rPr dirty="0" err="1"/>
              <a:t>tabelas</a:t>
            </a:r>
            <a:r>
              <a:rPr dirty="0"/>
              <a:t> 12, 13, 19 e 21 do HTML. Ser </a:t>
            </a:r>
            <a:r>
              <a:rPr dirty="0" err="1"/>
              <a:t>honesto</a:t>
            </a:r>
            <a:r>
              <a:rPr dirty="0"/>
              <a:t>: no </a:t>
            </a:r>
            <a:r>
              <a:rPr dirty="0" err="1"/>
              <a:t>nível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-</a:t>
            </a:r>
            <a:r>
              <a:rPr dirty="0" err="1"/>
              <a:t>mês</a:t>
            </a:r>
            <a:r>
              <a:rPr dirty="0"/>
              <a:t> o </a:t>
            </a:r>
            <a:r>
              <a:rPr dirty="0" err="1"/>
              <a:t>ganho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a NB é </a:t>
            </a:r>
            <a:r>
              <a:rPr dirty="0" err="1"/>
              <a:t>pequeno</a:t>
            </a:r>
            <a:r>
              <a:rPr dirty="0"/>
              <a:t> (0,4% no RMSE, 1,2% no MAE). A </a:t>
            </a:r>
            <a:r>
              <a:rPr dirty="0" err="1"/>
              <a:t>diferença</a:t>
            </a:r>
            <a:r>
              <a:rPr dirty="0"/>
              <a:t> </a:t>
            </a:r>
            <a:r>
              <a:rPr dirty="0" err="1"/>
              <a:t>fica</a:t>
            </a:r>
            <a:r>
              <a:rPr dirty="0"/>
              <a:t>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se </a:t>
            </a:r>
            <a:r>
              <a:rPr dirty="0" err="1"/>
              <a:t>olha</a:t>
            </a:r>
            <a:r>
              <a:rPr dirty="0"/>
              <a:t> o total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 (RMSE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 7,3% </a:t>
            </a:r>
            <a:r>
              <a:rPr dirty="0" err="1"/>
              <a:t>menor</a:t>
            </a:r>
            <a:r>
              <a:rPr dirty="0"/>
              <a:t>). O RF </a:t>
            </a:r>
            <a:r>
              <a:rPr dirty="0" err="1"/>
              <a:t>fica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atrás</a:t>
            </a:r>
            <a:r>
              <a:rPr dirty="0"/>
              <a:t> e </a:t>
            </a:r>
            <a:r>
              <a:rPr dirty="0" err="1"/>
              <a:t>subestima</a:t>
            </a:r>
            <a:r>
              <a:rPr dirty="0"/>
              <a:t> o total de </a:t>
            </a:r>
            <a:r>
              <a:rPr dirty="0" err="1"/>
              <a:t>sinistros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 de </a:t>
            </a:r>
            <a:r>
              <a:rPr dirty="0" err="1"/>
              <a:t>cor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mapas</a:t>
            </a:r>
            <a:r>
              <a:rPr dirty="0"/>
              <a:t>. Verde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 = </a:t>
            </a:r>
            <a:r>
              <a:rPr dirty="0" err="1"/>
              <a:t>previsão</a:t>
            </a:r>
            <a:r>
              <a:rPr dirty="0"/>
              <a:t> </a:t>
            </a:r>
            <a:r>
              <a:rPr dirty="0" err="1"/>
              <a:t>acumulada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próxima</a:t>
            </a:r>
            <a:r>
              <a:rPr dirty="0"/>
              <a:t> do </a:t>
            </a:r>
            <a:r>
              <a:rPr dirty="0" err="1"/>
              <a:t>observado</a:t>
            </a:r>
            <a:r>
              <a:rPr dirty="0"/>
              <a:t>. </a:t>
            </a:r>
            <a:r>
              <a:rPr dirty="0" err="1"/>
              <a:t>Honestidade</a:t>
            </a:r>
            <a:r>
              <a:rPr dirty="0"/>
              <a:t>: o RF </a:t>
            </a:r>
            <a:r>
              <a:rPr dirty="0" err="1"/>
              <a:t>acerta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alguns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s </a:t>
            </a:r>
            <a:r>
              <a:rPr dirty="0" err="1"/>
              <a:t>individuais</a:t>
            </a:r>
            <a:r>
              <a:rPr dirty="0"/>
              <a:t>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exemplo</a:t>
            </a:r>
            <a:r>
              <a:rPr dirty="0"/>
              <a:t>, a </a:t>
            </a:r>
            <a:r>
              <a:rPr dirty="0" err="1"/>
              <a:t>borda</a:t>
            </a:r>
            <a:r>
              <a:rPr dirty="0"/>
              <a:t> superior </a:t>
            </a:r>
            <a:r>
              <a:rPr dirty="0" err="1"/>
              <a:t>direita</a:t>
            </a:r>
            <a:r>
              <a:rPr dirty="0"/>
              <a:t>), mas </a:t>
            </a:r>
            <a:r>
              <a:rPr dirty="0" err="1"/>
              <a:t>erra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no </a:t>
            </a:r>
            <a:r>
              <a:rPr dirty="0" err="1"/>
              <a:t>agregado</a:t>
            </a:r>
            <a:r>
              <a:rPr dirty="0"/>
              <a:t>. O SP-NB </a:t>
            </a:r>
            <a:r>
              <a:rPr dirty="0" err="1"/>
              <a:t>tem</a:t>
            </a:r>
            <a:r>
              <a:rPr dirty="0"/>
              <a:t> a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mediana</a:t>
            </a:r>
            <a:r>
              <a:rPr dirty="0"/>
              <a:t> e o </a:t>
            </a:r>
            <a:r>
              <a:rPr dirty="0" err="1"/>
              <a:t>menor</a:t>
            </a:r>
            <a:r>
              <a:rPr dirty="0"/>
              <a:t> RMSE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4EA8-FBC3-4F7A-B0F3-89D81172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0949C-71A3-5F0F-615B-35C5F7D74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mensagens</a:t>
            </a:r>
            <a:r>
              <a:rPr dirty="0"/>
              <a:t> 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limitação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vender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 </a:t>
            </a:r>
            <a:r>
              <a:rPr dirty="0" err="1"/>
              <a:t>definitiva</a:t>
            </a:r>
            <a:r>
              <a:rPr dirty="0"/>
              <a:t>: base com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simulado</a:t>
            </a:r>
            <a:r>
              <a:rPr dirty="0"/>
              <a:t>,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área</a:t>
            </a:r>
            <a:r>
              <a:rPr dirty="0"/>
              <a:t>, um </a:t>
            </a:r>
            <a:r>
              <a:rPr dirty="0" err="1"/>
              <a:t>único</a:t>
            </a:r>
            <a:r>
              <a:rPr dirty="0"/>
              <a:t> </a:t>
            </a:r>
            <a:r>
              <a:rPr dirty="0" err="1"/>
              <a:t>período</a:t>
            </a:r>
            <a:r>
              <a:rPr dirty="0"/>
              <a:t> de teste.</a:t>
            </a:r>
          </a:p>
        </p:txBody>
      </p:sp>
    </p:spTree>
    <p:extLst>
      <p:ext uri="{BB962C8B-B14F-4D97-AF65-F5344CB8AC3E}">
        <p14:creationId xmlns:p14="http://schemas.microsoft.com/office/powerpoint/2010/main" val="84104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Deixar exibido durante a arguição.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B9E7C7BE-7A4D-0807-AA4D-0F817EA7A9B7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24082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84" imgH="486" progId="TCLayout.ActiveDocument.1">
                  <p:embed/>
                </p:oleObj>
              </mc:Choice>
              <mc:Fallback>
                <p:oleObj name="thinkcell Slide" r:id="rId4" imgW="484" imgH="4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 userDrawn="1">
          <p15:clr>
            <a:srgbClr val="F26B43"/>
          </p15:clr>
        </p15:guide>
        <p15:guide id="2" orient="horz" pos="552" userDrawn="1">
          <p15:clr>
            <a:srgbClr val="F26B43"/>
          </p15:clr>
        </p15:guide>
        <p15:guide id="3" orient="horz" pos="4136" userDrawn="1">
          <p15:clr>
            <a:srgbClr val="F26B43"/>
          </p15:clr>
        </p15:guide>
        <p15:guide id="4" pos="208" userDrawn="1">
          <p15:clr>
            <a:srgbClr val="F26B43"/>
          </p15:clr>
        </p15:guide>
        <p15:guide id="5" pos="74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jp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cell data - do not delete" hidden="1">
            <a:extLst>
              <a:ext uri="{FF2B5EF4-FFF2-40B4-BE49-F238E27FC236}">
                <a16:creationId xmlns:a16="http://schemas.microsoft.com/office/drawing/2014/main" id="{B35AA73D-9D4C-E5B2-15D3-6F96AD16778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6515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84" imgH="486" progId="TCLayout.ActiveDocument.1">
                  <p:embed/>
                </p:oleObj>
              </mc:Choice>
              <mc:Fallback>
                <p:oleObj name="thinkcell Slide" r:id="rId5" imgW="484" imgH="4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large body of water with plants growing out of it&#10;&#10;AI-generated content may be incorrect.">
            <a:extLst>
              <a:ext uri="{FF2B5EF4-FFF2-40B4-BE49-F238E27FC236}">
                <a16:creationId xmlns:a16="http://schemas.microsoft.com/office/drawing/2014/main" id="{C46135BA-DF78-CEF7-CBB6-72E9500B1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2" y="0"/>
            <a:ext cx="12165496" cy="6858000"/>
          </a:xfrm>
          <a:prstGeom prst="rect">
            <a:avLst/>
          </a:prstGeom>
        </p:spPr>
      </p:pic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80F59817-DFB4-5A84-2549-8D9239046CF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3" name="btfpColumnGapBlocker562103">
              <a:extLst>
                <a:ext uri="{FF2B5EF4-FFF2-40B4-BE49-F238E27FC236}">
                  <a16:creationId xmlns:a16="http://schemas.microsoft.com/office/drawing/2014/main" id="{A8F2596B-B6CB-A0CA-0F99-CFFAA4C0AD6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550233">
              <a:extLst>
                <a:ext uri="{FF2B5EF4-FFF2-40B4-BE49-F238E27FC236}">
                  <a16:creationId xmlns:a16="http://schemas.microsoft.com/office/drawing/2014/main" id="{26D446FB-9BF1-7949-6A6A-B7F93D8298A3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48767">
              <a:extLst>
                <a:ext uri="{FF2B5EF4-FFF2-40B4-BE49-F238E27FC236}">
                  <a16:creationId xmlns:a16="http://schemas.microsoft.com/office/drawing/2014/main" id="{0C7D4634-CAF1-4B7F-5338-4C27C790E7AF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640364">
              <a:extLst>
                <a:ext uri="{FF2B5EF4-FFF2-40B4-BE49-F238E27FC236}">
                  <a16:creationId xmlns:a16="http://schemas.microsoft.com/office/drawing/2014/main" id="{75C6FFE8-020E-78A9-DAF8-244FADC8C273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70717A2F-5321-4F98-2090-37EF0B9AA89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483162">
              <a:extLst>
                <a:ext uri="{FF2B5EF4-FFF2-40B4-BE49-F238E27FC236}">
                  <a16:creationId xmlns:a16="http://schemas.microsoft.com/office/drawing/2014/main" id="{84DACA66-EC6B-1F5A-20BB-D23B256E70A0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btfpColumnGapBlocker531774">
              <a:extLst>
                <a:ext uri="{FF2B5EF4-FFF2-40B4-BE49-F238E27FC236}">
                  <a16:creationId xmlns:a16="http://schemas.microsoft.com/office/drawing/2014/main" id="{781341AF-3258-54AB-FBB7-52182FD9F6B7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btfpColumnIndicator804305">
              <a:extLst>
                <a:ext uri="{FF2B5EF4-FFF2-40B4-BE49-F238E27FC236}">
                  <a16:creationId xmlns:a16="http://schemas.microsoft.com/office/drawing/2014/main" id="{A4FEAD22-7345-F744-052B-C8C1B9BA43C3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231322">
              <a:extLst>
                <a:ext uri="{FF2B5EF4-FFF2-40B4-BE49-F238E27FC236}">
                  <a16:creationId xmlns:a16="http://schemas.microsoft.com/office/drawing/2014/main" id="{E50400DC-4C9A-BE8B-AB28-42810E79B2E4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29A2454-74E7-C5A2-3B8C-AC2B009848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C24724-53B2-20A0-6648-EEE14249DE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81A3B454-CC29-94CF-801B-1ADB0F1A92D1}"/>
              </a:ext>
            </a:extLst>
          </p:cNvPr>
          <p:cNvSpPr/>
          <p:nvPr/>
        </p:nvSpPr>
        <p:spPr>
          <a:xfrm>
            <a:off x="687324" y="2370273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climáticas</a:t>
            </a:r>
            <a:endParaRPr lang="en-US" sz="38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atuarial</a:t>
            </a:r>
            <a:endParaRPr lang="en-US" sz="38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CF7499F-4EE5-3E79-BDD3-F52866B1BA20}"/>
              </a:ext>
            </a:extLst>
          </p:cNvPr>
          <p:cNvSpPr/>
          <p:nvPr/>
        </p:nvSpPr>
        <p:spPr>
          <a:xfrm>
            <a:off x="687324" y="4487727"/>
            <a:ext cx="10817352" cy="69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 Barboza Machado das Neves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Patrick Oliveira da Silva Filho</a:t>
            </a:r>
            <a:endParaRPr lang="en-US" sz="16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1BC9849-EDF0-F02C-D0EC-89E10BFF74AE}"/>
              </a:ext>
            </a:extLst>
          </p:cNvPr>
          <p:cNvSpPr/>
          <p:nvPr/>
        </p:nvSpPr>
        <p:spPr>
          <a:xfrm>
            <a:off x="687324" y="5577069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Mariane Alves, Thais Fonseca e Viviana Lobo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839ED0C-3CE8-A70B-3FE6-0B667A2348B2}"/>
              </a:ext>
            </a:extLst>
          </p:cNvPr>
          <p:cNvSpPr/>
          <p:nvPr/>
        </p:nvSpPr>
        <p:spPr>
          <a:xfrm>
            <a:off x="687324" y="6334125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15ª Semana de Integração Acadêmica — SIAc 2026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2BF3-03C3-1556-7433-1EB72BBB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B1FF6E76-E704-E35F-1AF0-BAB3366F152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3" name="btfpColumnGapBlocker562103">
              <a:extLst>
                <a:ext uri="{FF2B5EF4-FFF2-40B4-BE49-F238E27FC236}">
                  <a16:creationId xmlns:a16="http://schemas.microsoft.com/office/drawing/2014/main" id="{8AA0B203-4AFB-9B42-C947-E4AEC6BD947A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550233">
              <a:extLst>
                <a:ext uri="{FF2B5EF4-FFF2-40B4-BE49-F238E27FC236}">
                  <a16:creationId xmlns:a16="http://schemas.microsoft.com/office/drawing/2014/main" id="{A82201FD-0EFA-3F26-B547-8187C3D78CD2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48767">
              <a:extLst>
                <a:ext uri="{FF2B5EF4-FFF2-40B4-BE49-F238E27FC236}">
                  <a16:creationId xmlns:a16="http://schemas.microsoft.com/office/drawing/2014/main" id="{08D81A42-9A47-E08E-5031-D55A8B887D94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640364">
              <a:extLst>
                <a:ext uri="{FF2B5EF4-FFF2-40B4-BE49-F238E27FC236}">
                  <a16:creationId xmlns:a16="http://schemas.microsoft.com/office/drawing/2014/main" id="{5575CB0C-3AEA-452D-B91A-2D8A68311294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C41F1AFA-6956-9FD4-D56B-1BA4E9E5DE3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483162">
              <a:extLst>
                <a:ext uri="{FF2B5EF4-FFF2-40B4-BE49-F238E27FC236}">
                  <a16:creationId xmlns:a16="http://schemas.microsoft.com/office/drawing/2014/main" id="{5E38F04A-4ECF-7DA3-C19E-76D9406AF867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btfpColumnGapBlocker531774">
              <a:extLst>
                <a:ext uri="{FF2B5EF4-FFF2-40B4-BE49-F238E27FC236}">
                  <a16:creationId xmlns:a16="http://schemas.microsoft.com/office/drawing/2014/main" id="{C5484633-AE17-3CCB-0E50-BB4DF1F3B42F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btfpColumnIndicator804305">
              <a:extLst>
                <a:ext uri="{FF2B5EF4-FFF2-40B4-BE49-F238E27FC236}">
                  <a16:creationId xmlns:a16="http://schemas.microsoft.com/office/drawing/2014/main" id="{87E27982-0347-F755-3E16-241CF3F623DF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231322">
              <a:extLst>
                <a:ext uri="{FF2B5EF4-FFF2-40B4-BE49-F238E27FC236}">
                  <a16:creationId xmlns:a16="http://schemas.microsoft.com/office/drawing/2014/main" id="{44AE17D8-739D-2B45-067A-FB67FF04F9AC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5BD4312E-9FEC-473A-CC6C-50D3ACEE7546}"/>
              </a:ext>
            </a:extLst>
          </p:cNvPr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CONTEXTO</a:t>
            </a:r>
          </a:p>
        </p:txBody>
      </p:sp>
      <p:sp>
        <p:nvSpPr>
          <p:cNvPr id="3" name="Action title">
            <a:extLst>
              <a:ext uri="{FF2B5EF4-FFF2-40B4-BE49-F238E27FC236}">
                <a16:creationId xmlns:a16="http://schemas.microsoft.com/office/drawing/2014/main" id="{22E6540D-871F-945C-650E-28BCE7E41927}"/>
              </a:ext>
            </a:extLst>
          </p:cNvPr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Desastres climáticos atingiram em 2021–2025 o maior número das últimas duas décadas, elevando a incerteza sobre o risco segurado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86DC3-2CB2-CFA0-A2D9-ECA0D409F47F}"/>
              </a:ext>
            </a:extLst>
          </p:cNvPr>
          <p:cNvSpPr txBox="1"/>
          <p:nvPr/>
        </p:nvSpPr>
        <p:spPr>
          <a:xfrm>
            <a:off x="685800" y="16459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Número de desastres climáticos no mundo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16DC9-F70F-0BFA-B350-C0B1D9345FE6}"/>
              </a:ext>
            </a:extLst>
          </p:cNvPr>
          <p:cNvSpPr txBox="1"/>
          <p:nvPr/>
        </p:nvSpPr>
        <p:spPr>
          <a:xfrm>
            <a:off x="685800" y="190195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# de eventos por período de 5 anos</a:t>
            </a:r>
          </a:p>
        </p:txBody>
      </p:sp>
      <p:graphicFrame>
        <p:nvGraphicFramePr>
          <p:cNvPr id="8" name="Chart: desastres climáticos">
            <a:extLst>
              <a:ext uri="{FF2B5EF4-FFF2-40B4-BE49-F238E27FC236}">
                <a16:creationId xmlns:a16="http://schemas.microsoft.com/office/drawing/2014/main" id="{E7714C66-3748-F7C4-0C69-A8EBF6C26A2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194560"/>
          <a:ext cx="69037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otal 2001–2005">
            <a:extLst>
              <a:ext uri="{FF2B5EF4-FFF2-40B4-BE49-F238E27FC236}">
                <a16:creationId xmlns:a16="http://schemas.microsoft.com/office/drawing/2014/main" id="{432571CE-54BB-5E39-F02F-903BAC70870F}"/>
              </a:ext>
            </a:extLst>
          </p:cNvPr>
          <p:cNvSpPr txBox="1"/>
          <p:nvPr/>
        </p:nvSpPr>
        <p:spPr>
          <a:xfrm>
            <a:off x="937991" y="2978813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1.712</a:t>
            </a:r>
          </a:p>
        </p:txBody>
      </p:sp>
      <p:sp>
        <p:nvSpPr>
          <p:cNvPr id="10" name="Total 2006–2010">
            <a:extLst>
              <a:ext uri="{FF2B5EF4-FFF2-40B4-BE49-F238E27FC236}">
                <a16:creationId xmlns:a16="http://schemas.microsoft.com/office/drawing/2014/main" id="{2700CA20-9801-B7AA-C83F-3903344961EA}"/>
              </a:ext>
            </a:extLst>
          </p:cNvPr>
          <p:cNvSpPr txBox="1"/>
          <p:nvPr/>
        </p:nvSpPr>
        <p:spPr>
          <a:xfrm>
            <a:off x="2263505" y="29407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1.745</a:t>
            </a:r>
          </a:p>
        </p:txBody>
      </p:sp>
      <p:sp>
        <p:nvSpPr>
          <p:cNvPr id="11" name="Total 2011–2015">
            <a:extLst>
              <a:ext uri="{FF2B5EF4-FFF2-40B4-BE49-F238E27FC236}">
                <a16:creationId xmlns:a16="http://schemas.microsoft.com/office/drawing/2014/main" id="{2A215A40-498A-9978-3FF3-4F82A934BC2B}"/>
              </a:ext>
            </a:extLst>
          </p:cNvPr>
          <p:cNvSpPr txBox="1"/>
          <p:nvPr/>
        </p:nvSpPr>
        <p:spPr>
          <a:xfrm>
            <a:off x="3589020" y="3163601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1.552</a:t>
            </a:r>
          </a:p>
        </p:txBody>
      </p:sp>
      <p:sp>
        <p:nvSpPr>
          <p:cNvPr id="12" name="Total 2016–2020">
            <a:extLst>
              <a:ext uri="{FF2B5EF4-FFF2-40B4-BE49-F238E27FC236}">
                <a16:creationId xmlns:a16="http://schemas.microsoft.com/office/drawing/2014/main" id="{73469530-99CC-AA61-3242-3D8644E25050}"/>
              </a:ext>
            </a:extLst>
          </p:cNvPr>
          <p:cNvSpPr txBox="1"/>
          <p:nvPr/>
        </p:nvSpPr>
        <p:spPr>
          <a:xfrm>
            <a:off x="4914534" y="3051573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1.649</a:t>
            </a:r>
          </a:p>
        </p:txBody>
      </p:sp>
      <p:sp>
        <p:nvSpPr>
          <p:cNvPr id="13" name="Total 2021–2025">
            <a:extLst>
              <a:ext uri="{FF2B5EF4-FFF2-40B4-BE49-F238E27FC236}">
                <a16:creationId xmlns:a16="http://schemas.microsoft.com/office/drawing/2014/main" id="{6D4DD20A-F754-7D2E-AC6A-27881D642214}"/>
              </a:ext>
            </a:extLst>
          </p:cNvPr>
          <p:cNvSpPr txBox="1"/>
          <p:nvPr/>
        </p:nvSpPr>
        <p:spPr>
          <a:xfrm>
            <a:off x="6240048" y="269354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2263A"/>
                </a:solidFill>
                <a:latin typeface="Arial"/>
              </a:rPr>
              <a:t>1.959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6D08AA4D-F52D-3417-EABE-C1782D1223ED}"/>
              </a:ext>
            </a:extLst>
          </p:cNvPr>
          <p:cNvCxnSpPr/>
          <p:nvPr/>
        </p:nvCxnSpPr>
        <p:spPr>
          <a:xfrm flipV="1">
            <a:off x="5463174" y="2464946"/>
            <a:ext cx="0" cy="550051"/>
          </a:xfrm>
          <a:prstGeom prst="line">
            <a:avLst/>
          </a:prstGeom>
          <a:ln w="1587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5158BCD8-9AE9-E9BC-10B1-72BD93B12753}"/>
              </a:ext>
            </a:extLst>
          </p:cNvPr>
          <p:cNvCxnSpPr/>
          <p:nvPr/>
        </p:nvCxnSpPr>
        <p:spPr>
          <a:xfrm>
            <a:off x="5463174" y="2464946"/>
            <a:ext cx="1325514" cy="0"/>
          </a:xfrm>
          <a:prstGeom prst="line">
            <a:avLst/>
          </a:prstGeom>
          <a:ln w="1587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408E788E-DA41-B72A-5676-06B5B9F80000}"/>
              </a:ext>
            </a:extLst>
          </p:cNvPr>
          <p:cNvCxnSpPr/>
          <p:nvPr/>
        </p:nvCxnSpPr>
        <p:spPr>
          <a:xfrm>
            <a:off x="6788688" y="2464946"/>
            <a:ext cx="0" cy="164592"/>
          </a:xfrm>
          <a:prstGeom prst="line">
            <a:avLst/>
          </a:prstGeom>
          <a:ln w="15875">
            <a:solidFill>
              <a:srgbClr val="D55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lta +19%">
            <a:extLst>
              <a:ext uri="{FF2B5EF4-FFF2-40B4-BE49-F238E27FC236}">
                <a16:creationId xmlns:a16="http://schemas.microsoft.com/office/drawing/2014/main" id="{9B8D5EAF-B7C3-F285-D5B2-F0B4E02C68DA}"/>
              </a:ext>
            </a:extLst>
          </p:cNvPr>
          <p:cNvSpPr/>
          <p:nvPr/>
        </p:nvSpPr>
        <p:spPr>
          <a:xfrm>
            <a:off x="5741883" y="231864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 dirty="0">
                <a:solidFill>
                  <a:srgbClr val="D55E00"/>
                </a:solidFill>
                <a:latin typeface="Arial"/>
              </a:rPr>
              <a:t>+19%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BA018-E9D5-2953-6B3F-8AAD44DDB8F6}"/>
              </a:ext>
            </a:extLst>
          </p:cNvPr>
          <p:cNvSpPr txBox="1"/>
          <p:nvPr/>
        </p:nvSpPr>
        <p:spPr>
          <a:xfrm>
            <a:off x="685800" y="608076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5A6672"/>
                </a:solidFill>
                <a:latin typeface="Arial"/>
              </a:rPr>
              <a:t>Fonte: EM-DAT (CRED/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UCLouvain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). 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Exclui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desastres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geofísicos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.</a:t>
            </a:r>
          </a:p>
        </p:txBody>
      </p:sp>
      <p:sp>
        <p:nvSpPr>
          <p:cNvPr id="19" name="Painel implicação">
            <a:extLst>
              <a:ext uri="{FF2B5EF4-FFF2-40B4-BE49-F238E27FC236}">
                <a16:creationId xmlns:a16="http://schemas.microsoft.com/office/drawing/2014/main" id="{E99689E1-F481-3166-FCE1-3B2F0AB535E2}"/>
              </a:ext>
            </a:extLst>
          </p:cNvPr>
          <p:cNvSpPr/>
          <p:nvPr/>
        </p:nvSpPr>
        <p:spPr>
          <a:xfrm>
            <a:off x="8001000" y="169164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A854EF-1480-6D15-29F8-7E2F810BF2BD}"/>
              </a:ext>
            </a:extLst>
          </p:cNvPr>
          <p:cNvSpPr txBox="1"/>
          <p:nvPr/>
        </p:nvSpPr>
        <p:spPr>
          <a:xfrm>
            <a:off x="8275320" y="224028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2263A"/>
                </a:solidFill>
                <a:latin typeface="Arial"/>
              </a:rPr>
              <a:t>1.959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desastres climáticos em 2021–2025, o maior valor da série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168FC511-B4DA-5A10-9BFA-9CD03C84D7C6}"/>
              </a:ext>
            </a:extLst>
          </p:cNvPr>
          <p:cNvCxnSpPr/>
          <p:nvPr/>
        </p:nvCxnSpPr>
        <p:spPr>
          <a:xfrm>
            <a:off x="8275320" y="3611880"/>
            <a:ext cx="2953512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A5EC48-35DB-6F99-2F39-E5E9E50B9551}"/>
              </a:ext>
            </a:extLst>
          </p:cNvPr>
          <p:cNvSpPr txBox="1"/>
          <p:nvPr/>
        </p:nvSpPr>
        <p:spPr>
          <a:xfrm>
            <a:off x="8275320" y="374903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Implicação para seguros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732930-E880-94E1-5657-0FCA47757145}"/>
              </a:ext>
            </a:extLst>
          </p:cNvPr>
          <p:cNvSpPr txBox="1"/>
          <p:nvPr/>
        </p:nvSpPr>
        <p:spPr>
          <a:xfrm>
            <a:off x="8275320" y="41148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B1B1B"/>
                </a:solidFill>
                <a:latin typeface="Arial"/>
              </a:rPr>
              <a:t>Com eventos mais frequentes, o histórico médio passa a refletir menos o risco atual, e a frequência de sinistros fica mais incerta.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8866F9B9-61B5-55D7-DA2B-FAEABF750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70636DC7-8C33-CAD2-CD89-F6ABC9997879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2</a:t>
            </a:fld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886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tfpColumnIndicatorGroup2">
            <a:extLst>
              <a:ext uri="{FF2B5EF4-FFF2-40B4-BE49-F238E27FC236}">
                <a16:creationId xmlns:a16="http://schemas.microsoft.com/office/drawing/2014/main" id="{1730BB4C-8022-A189-E26D-2AED7F90124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7" name="btfpColumnGapBlocker132245">
              <a:extLst>
                <a:ext uri="{FF2B5EF4-FFF2-40B4-BE49-F238E27FC236}">
                  <a16:creationId xmlns:a16="http://schemas.microsoft.com/office/drawing/2014/main" id="{5C6B9DAA-03F8-3E57-2837-76704F7340D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btfpColumnGapBlocker628349">
              <a:extLst>
                <a:ext uri="{FF2B5EF4-FFF2-40B4-BE49-F238E27FC236}">
                  <a16:creationId xmlns:a16="http://schemas.microsoft.com/office/drawing/2014/main" id="{B0622825-F451-88E3-AC33-F21D8B9DCF84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3" name="btfpColumnIndicator712044">
              <a:extLst>
                <a:ext uri="{FF2B5EF4-FFF2-40B4-BE49-F238E27FC236}">
                  <a16:creationId xmlns:a16="http://schemas.microsoft.com/office/drawing/2014/main" id="{8163E2B9-FB42-73ED-6F3C-4F42EB8A177B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btfpColumnIndicator785876">
              <a:extLst>
                <a:ext uri="{FF2B5EF4-FFF2-40B4-BE49-F238E27FC236}">
                  <a16:creationId xmlns:a16="http://schemas.microsoft.com/office/drawing/2014/main" id="{0C1D294A-4571-BC46-513F-0BB203B0A262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btfpColumnIndicatorGroup1">
            <a:extLst>
              <a:ext uri="{FF2B5EF4-FFF2-40B4-BE49-F238E27FC236}">
                <a16:creationId xmlns:a16="http://schemas.microsoft.com/office/drawing/2014/main" id="{F0910CFE-CA4F-E64A-B979-4052B9A96E9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6" name="btfpColumnGapBlocker954747">
              <a:extLst>
                <a:ext uri="{FF2B5EF4-FFF2-40B4-BE49-F238E27FC236}">
                  <a16:creationId xmlns:a16="http://schemas.microsoft.com/office/drawing/2014/main" id="{A61FFAA3-433D-0B27-6B87-619B22F17810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btfpColumnGapBlocker190235">
              <a:extLst>
                <a:ext uri="{FF2B5EF4-FFF2-40B4-BE49-F238E27FC236}">
                  <a16:creationId xmlns:a16="http://schemas.microsoft.com/office/drawing/2014/main" id="{94894531-65E1-6ADB-B5B7-47E0C3402DB2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2" name="btfpColumnIndicator469649">
              <a:extLst>
                <a:ext uri="{FF2B5EF4-FFF2-40B4-BE49-F238E27FC236}">
                  <a16:creationId xmlns:a16="http://schemas.microsoft.com/office/drawing/2014/main" id="{8DC8813D-EE1D-9283-5742-9D85FB55CA83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btfpColumnIndicator454865">
              <a:extLst>
                <a:ext uri="{FF2B5EF4-FFF2-40B4-BE49-F238E27FC236}">
                  <a16:creationId xmlns:a16="http://schemas.microsoft.com/office/drawing/2014/main" id="{56D2AB02-A249-DCC6-6861-010AE2632553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CONTEXTO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Eventos climáticos extremos podem tornar a frequência de sinistros mais volátil e menos previsível pela média histórica</a:t>
            </a:r>
          </a:p>
        </p:txBody>
      </p:sp>
      <p:sp>
        <p:nvSpPr>
          <p:cNvPr id="6" name="Etapa Clima"/>
          <p:cNvSpPr/>
          <p:nvPr/>
        </p:nvSpPr>
        <p:spPr>
          <a:xfrm>
            <a:off x="685800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438912" cy="43891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928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72B2"/>
                </a:solidFill>
                <a:latin typeface="Arial"/>
              </a:rPr>
              <a:t>Clima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Chuva extrema e eventos concentrados em poucos dias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59" y="2354580"/>
            <a:ext cx="356617" cy="0"/>
          </a:xfrm>
          <a:prstGeom prst="line">
            <a:avLst/>
          </a:prstGeom>
          <a:ln w="2540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tapa Sinistros"/>
          <p:cNvSpPr/>
          <p:nvPr/>
        </p:nvSpPr>
        <p:spPr>
          <a:xfrm>
            <a:off x="4471416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00016" y="1920240"/>
            <a:ext cx="438912" cy="43891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18928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D55E00"/>
                </a:solidFill>
                <a:latin typeface="Arial"/>
              </a:rPr>
              <a:t>Sinistros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441448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Picos de frequência em meses e regiões específicos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08975" y="2354580"/>
            <a:ext cx="356617" cy="0"/>
          </a:xfrm>
          <a:prstGeom prst="line">
            <a:avLst/>
          </a:prstGeom>
          <a:ln w="2540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tapa Precificação"/>
          <p:cNvSpPr/>
          <p:nvPr/>
        </p:nvSpPr>
        <p:spPr>
          <a:xfrm>
            <a:off x="8257031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5632" y="1920240"/>
            <a:ext cx="438912" cy="438912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18928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Arial"/>
              </a:rPr>
              <a:t>Precificação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441448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A média histórica deixa de antecipar o mês seguinte</a:t>
            </a:r>
          </a:p>
        </p:txBody>
      </p:sp>
      <p:sp>
        <p:nvSpPr>
          <p:cNvPr id="20" name="Painel esquema"/>
          <p:cNvSpPr/>
          <p:nvPr/>
        </p:nvSpPr>
        <p:spPr>
          <a:xfrm>
            <a:off x="685800" y="3337560"/>
            <a:ext cx="10817352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5021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Sinistros mensais em uma região</a:t>
            </a:r>
          </a:p>
        </p:txBody>
      </p:sp>
      <p:sp>
        <p:nvSpPr>
          <p:cNvPr id="22" name="Tag ilustrativo"/>
          <p:cNvSpPr/>
          <p:nvPr/>
        </p:nvSpPr>
        <p:spPr>
          <a:xfrm>
            <a:off x="9354312" y="3502152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5A6672"/>
                </a:solidFill>
                <a:latin typeface="Arial"/>
              </a:rPr>
              <a:t>Esquema ilustrativo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5715000"/>
            <a:ext cx="7754112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érie esquemática"/>
          <p:cNvSpPr/>
          <p:nvPr/>
        </p:nvSpPr>
        <p:spPr>
          <a:xfrm>
            <a:off x="1097280" y="4107942"/>
            <a:ext cx="7754112" cy="1268730"/>
          </a:xfrm>
          <a:custGeom>
            <a:avLst/>
            <a:gdLst/>
            <a:ahLst/>
            <a:cxnLst/>
            <a:rect l="l" t="t" r="r" b="b"/>
            <a:pathLst>
              <a:path w="7754112" h="1268730">
                <a:moveTo>
                  <a:pt x="0" y="1234897"/>
                </a:moveTo>
                <a:lnTo>
                  <a:pt x="408111" y="1133398"/>
                </a:lnTo>
                <a:lnTo>
                  <a:pt x="816222" y="1268730"/>
                </a:lnTo>
                <a:lnTo>
                  <a:pt x="1224333" y="1099566"/>
                </a:lnTo>
                <a:lnTo>
                  <a:pt x="1632444" y="1184148"/>
                </a:lnTo>
                <a:lnTo>
                  <a:pt x="2040555" y="1048816"/>
                </a:lnTo>
                <a:lnTo>
                  <a:pt x="2448666" y="1201064"/>
                </a:lnTo>
                <a:lnTo>
                  <a:pt x="2856778" y="1099566"/>
                </a:lnTo>
                <a:lnTo>
                  <a:pt x="3264889" y="0"/>
                </a:lnTo>
                <a:lnTo>
                  <a:pt x="3673000" y="558241"/>
                </a:lnTo>
                <a:lnTo>
                  <a:pt x="4081111" y="1150315"/>
                </a:lnTo>
                <a:lnTo>
                  <a:pt x="4489222" y="1234897"/>
                </a:lnTo>
                <a:lnTo>
                  <a:pt x="4897333" y="1082649"/>
                </a:lnTo>
                <a:lnTo>
                  <a:pt x="5305445" y="1167231"/>
                </a:lnTo>
                <a:lnTo>
                  <a:pt x="5713556" y="253746"/>
                </a:lnTo>
                <a:lnTo>
                  <a:pt x="6121667" y="1014984"/>
                </a:lnTo>
                <a:lnTo>
                  <a:pt x="6529778" y="1184148"/>
                </a:lnTo>
                <a:lnTo>
                  <a:pt x="6937889" y="1116482"/>
                </a:lnTo>
                <a:lnTo>
                  <a:pt x="7346000" y="1217980"/>
                </a:lnTo>
                <a:lnTo>
                  <a:pt x="7754112" y="1099566"/>
                </a:lnTo>
              </a:path>
            </a:pathLst>
          </a:custGeom>
          <a:noFill/>
          <a:ln w="285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Média histórica"/>
          <p:cNvCxnSpPr/>
          <p:nvPr/>
        </p:nvCxnSpPr>
        <p:spPr>
          <a:xfrm>
            <a:off x="1097280" y="5125463"/>
            <a:ext cx="7754112" cy="0"/>
          </a:xfrm>
          <a:prstGeom prst="line">
            <a:avLst/>
          </a:prstGeom>
          <a:ln w="19050">
            <a:solidFill>
              <a:srgbClr val="5A66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61119" y="498830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A6672"/>
                </a:solidFill>
                <a:latin typeface="Arial"/>
              </a:rPr>
              <a:t>Média histórica</a:t>
            </a:r>
          </a:p>
        </p:txBody>
      </p:sp>
      <p:sp>
        <p:nvSpPr>
          <p:cNvPr id="27" name="Pico"/>
          <p:cNvSpPr/>
          <p:nvPr/>
        </p:nvSpPr>
        <p:spPr>
          <a:xfrm>
            <a:off x="4261585" y="4007358"/>
            <a:ext cx="201168" cy="201168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0769" y="399821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55E00"/>
                </a:solidFill>
                <a:latin typeface="Arial"/>
              </a:rPr>
              <a:t>Evento extremo: pico não antecipado pela média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406908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263A"/>
                </a:solidFill>
                <a:latin typeface="Arial"/>
              </a:rPr>
              <a:t>O risco fica menos estável, não apenas maior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9E6CB34A-F11B-8CB0-BDDB-D2C1317C4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ADA89502-137E-779E-3952-675860F4D40E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3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btfpColumnIndicatorGroup2">
            <a:extLst>
              <a:ext uri="{FF2B5EF4-FFF2-40B4-BE49-F238E27FC236}">
                <a16:creationId xmlns:a16="http://schemas.microsoft.com/office/drawing/2014/main" id="{5CF6ECEE-BD96-F48B-25E8-82A0DEB11C1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9" name="btfpColumnGapBlocker200090">
              <a:extLst>
                <a:ext uri="{FF2B5EF4-FFF2-40B4-BE49-F238E27FC236}">
                  <a16:creationId xmlns:a16="http://schemas.microsoft.com/office/drawing/2014/main" id="{DD475275-F163-68BC-5F8D-8BBE980CD8B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btfpColumnGapBlocker721289">
              <a:extLst>
                <a:ext uri="{FF2B5EF4-FFF2-40B4-BE49-F238E27FC236}">
                  <a16:creationId xmlns:a16="http://schemas.microsoft.com/office/drawing/2014/main" id="{095BE1FF-64D7-2616-94A2-FBC5C3C85528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5" name="btfpColumnIndicator783318">
              <a:extLst>
                <a:ext uri="{FF2B5EF4-FFF2-40B4-BE49-F238E27FC236}">
                  <a16:creationId xmlns:a16="http://schemas.microsoft.com/office/drawing/2014/main" id="{8D2FBA0A-8A85-9FF4-2D07-4034CBD781B1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btfpColumnIndicator807279">
              <a:extLst>
                <a:ext uri="{FF2B5EF4-FFF2-40B4-BE49-F238E27FC236}">
                  <a16:creationId xmlns:a16="http://schemas.microsoft.com/office/drawing/2014/main" id="{1E77667D-1D7F-A703-3D87-8C094BD960C7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btfpColumnIndicatorGroup1">
            <a:extLst>
              <a:ext uri="{FF2B5EF4-FFF2-40B4-BE49-F238E27FC236}">
                <a16:creationId xmlns:a16="http://schemas.microsoft.com/office/drawing/2014/main" id="{6BFB14FA-0D58-7DEA-7E16-2492D43C082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8" name="btfpColumnGapBlocker338620">
              <a:extLst>
                <a:ext uri="{FF2B5EF4-FFF2-40B4-BE49-F238E27FC236}">
                  <a16:creationId xmlns:a16="http://schemas.microsoft.com/office/drawing/2014/main" id="{B042F75A-0F4E-6F82-DD34-B55A9BC9DC16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btfpColumnGapBlocker798953">
              <a:extLst>
                <a:ext uri="{FF2B5EF4-FFF2-40B4-BE49-F238E27FC236}">
                  <a16:creationId xmlns:a16="http://schemas.microsoft.com/office/drawing/2014/main" id="{74B7B5E8-D820-EA63-E589-9662ECD4BB63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4" name="btfpColumnIndicator439930">
              <a:extLst>
                <a:ext uri="{FF2B5EF4-FFF2-40B4-BE49-F238E27FC236}">
                  <a16:creationId xmlns:a16="http://schemas.microsoft.com/office/drawing/2014/main" id="{241B2FF6-2C82-3BC4-F1FD-89345092BEA2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510853">
              <a:extLst>
                <a:ext uri="{FF2B5EF4-FFF2-40B4-BE49-F238E27FC236}">
                  <a16:creationId xmlns:a16="http://schemas.microsoft.com/office/drawing/2014/main" id="{3DAD7B12-11C5-BC91-2F54-EAA55A4B2220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O PROBLEMA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Quando o mesmo evento atinge áreas próximas, os sinistros deixam de ser independentes entre regiões</a:t>
            </a:r>
          </a:p>
        </p:txBody>
      </p:sp>
      <p:sp>
        <p:nvSpPr>
          <p:cNvPr id="6" name="Grid evento r0c0"/>
          <p:cNvSpPr/>
          <p:nvPr/>
        </p:nvSpPr>
        <p:spPr>
          <a:xfrm>
            <a:off x="960120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Grid evento r0c1"/>
          <p:cNvSpPr/>
          <p:nvPr/>
        </p:nvSpPr>
        <p:spPr>
          <a:xfrm>
            <a:off x="1709928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Grid evento r0c2"/>
          <p:cNvSpPr/>
          <p:nvPr/>
        </p:nvSpPr>
        <p:spPr>
          <a:xfrm>
            <a:off x="2459736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Grid evento r0c3"/>
          <p:cNvSpPr/>
          <p:nvPr/>
        </p:nvSpPr>
        <p:spPr>
          <a:xfrm>
            <a:off x="3209544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Grid evento r0c4"/>
          <p:cNvSpPr/>
          <p:nvPr/>
        </p:nvSpPr>
        <p:spPr>
          <a:xfrm>
            <a:off x="3959352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Grid evento r1c0"/>
          <p:cNvSpPr/>
          <p:nvPr/>
        </p:nvSpPr>
        <p:spPr>
          <a:xfrm>
            <a:off x="960120" y="2532888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Grid evento r1c1"/>
          <p:cNvSpPr/>
          <p:nvPr/>
        </p:nvSpPr>
        <p:spPr>
          <a:xfrm>
            <a:off x="1709928" y="2532888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Grid evento r1c2"/>
          <p:cNvSpPr/>
          <p:nvPr/>
        </p:nvSpPr>
        <p:spPr>
          <a:xfrm>
            <a:off x="2459736" y="2532888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Grid evento r1c3"/>
          <p:cNvSpPr/>
          <p:nvPr/>
        </p:nvSpPr>
        <p:spPr>
          <a:xfrm>
            <a:off x="3209544" y="2532888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Grid evento r1c4"/>
          <p:cNvSpPr/>
          <p:nvPr/>
        </p:nvSpPr>
        <p:spPr>
          <a:xfrm>
            <a:off x="3959352" y="2532888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Grid evento r2c0"/>
          <p:cNvSpPr/>
          <p:nvPr/>
        </p:nvSpPr>
        <p:spPr>
          <a:xfrm>
            <a:off x="960120" y="3282696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Grid evento r2c1"/>
          <p:cNvSpPr/>
          <p:nvPr/>
        </p:nvSpPr>
        <p:spPr>
          <a:xfrm>
            <a:off x="1709928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Grid evento r2c2"/>
          <p:cNvSpPr/>
          <p:nvPr/>
        </p:nvSpPr>
        <p:spPr>
          <a:xfrm>
            <a:off x="2459736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Grid evento r2c3"/>
          <p:cNvSpPr/>
          <p:nvPr/>
        </p:nvSpPr>
        <p:spPr>
          <a:xfrm>
            <a:off x="3209544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Grid evento r2c4"/>
          <p:cNvSpPr/>
          <p:nvPr/>
        </p:nvSpPr>
        <p:spPr>
          <a:xfrm>
            <a:off x="3959352" y="3282696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Grid evento r3c0"/>
          <p:cNvSpPr/>
          <p:nvPr/>
        </p:nvSpPr>
        <p:spPr>
          <a:xfrm>
            <a:off x="960120" y="4032504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Grid evento r3c1"/>
          <p:cNvSpPr/>
          <p:nvPr/>
        </p:nvSpPr>
        <p:spPr>
          <a:xfrm>
            <a:off x="1709928" y="4032504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Grid evento r3c2"/>
          <p:cNvSpPr/>
          <p:nvPr/>
        </p:nvSpPr>
        <p:spPr>
          <a:xfrm>
            <a:off x="2459736" y="4032504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Grid evento r3c3"/>
          <p:cNvSpPr/>
          <p:nvPr/>
        </p:nvSpPr>
        <p:spPr>
          <a:xfrm>
            <a:off x="3209544" y="4032504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Grid evento r3c4"/>
          <p:cNvSpPr/>
          <p:nvPr/>
        </p:nvSpPr>
        <p:spPr>
          <a:xfrm>
            <a:off x="3959352" y="4032504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Grid evento r4c0"/>
          <p:cNvSpPr/>
          <p:nvPr/>
        </p:nvSpPr>
        <p:spPr>
          <a:xfrm>
            <a:off x="960120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Grid evento r4c1"/>
          <p:cNvSpPr/>
          <p:nvPr/>
        </p:nvSpPr>
        <p:spPr>
          <a:xfrm>
            <a:off x="1709928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Grid evento r4c2"/>
          <p:cNvSpPr/>
          <p:nvPr/>
        </p:nvSpPr>
        <p:spPr>
          <a:xfrm>
            <a:off x="2459736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Grid evento r4c3"/>
          <p:cNvSpPr/>
          <p:nvPr/>
        </p:nvSpPr>
        <p:spPr>
          <a:xfrm>
            <a:off x="3209544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Grid evento r4c4"/>
          <p:cNvSpPr/>
          <p:nvPr/>
        </p:nvSpPr>
        <p:spPr>
          <a:xfrm>
            <a:off x="3959352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Área do evento"/>
          <p:cNvSpPr/>
          <p:nvPr/>
        </p:nvSpPr>
        <p:spPr>
          <a:xfrm>
            <a:off x="1579168" y="2402128"/>
            <a:ext cx="2474366" cy="2474366"/>
          </a:xfrm>
          <a:prstGeom prst="ellipse">
            <a:avLst/>
          </a:prstGeom>
          <a:solidFill>
            <a:srgbClr val="D55E00">
              <a:alpha val="12000"/>
            </a:srgbClr>
          </a:solidFill>
          <a:ln w="19050">
            <a:solidFill>
              <a:srgbClr val="D55E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641848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Arial"/>
              </a:rPr>
              <a:t>Área atingida por um mesmo evento climático</a:t>
            </a:r>
          </a:p>
        </p:txBody>
      </p:sp>
      <p:sp>
        <p:nvSpPr>
          <p:cNvPr id="33" name="Oval 32"/>
          <p:cNvSpPr/>
          <p:nvPr/>
        </p:nvSpPr>
        <p:spPr>
          <a:xfrm>
            <a:off x="5806440" y="1874519"/>
            <a:ext cx="502920" cy="5029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1847088"/>
            <a:ext cx="493776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2263A"/>
                </a:solidFill>
                <a:latin typeface="Arial"/>
              </a:rPr>
              <a:t>Um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evento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vári</a:t>
            </a:r>
            <a:r>
              <a:rPr lang="en-US" sz="1900" b="1" i="0" dirty="0" err="1">
                <a:solidFill>
                  <a:srgbClr val="12263A"/>
                </a:solidFill>
                <a:latin typeface="Arial"/>
              </a:rPr>
              <a:t>as</a:t>
            </a:r>
            <a:r>
              <a:rPr lang="en-US"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lang="en-US" sz="1900" b="1" i="0" dirty="0" err="1">
                <a:solidFill>
                  <a:srgbClr val="12263A"/>
                </a:solidFill>
                <a:latin typeface="Arial"/>
              </a:rPr>
              <a:t>células</a:t>
            </a:r>
            <a:endParaRPr sz="19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37960" y="2240279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672"/>
                </a:solidFill>
                <a:latin typeface="Arial"/>
              </a:rPr>
              <a:t>A mesma chuva intensa atinge células vizinhas no mesmo mês</a:t>
            </a:r>
          </a:p>
        </p:txBody>
      </p:sp>
      <p:sp>
        <p:nvSpPr>
          <p:cNvPr id="36" name="Oval 35"/>
          <p:cNvSpPr/>
          <p:nvPr/>
        </p:nvSpPr>
        <p:spPr>
          <a:xfrm>
            <a:off x="5806440" y="3200400"/>
            <a:ext cx="502920" cy="5029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1729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Sinistros sobem juntos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66160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dirty="0" err="1">
                <a:solidFill>
                  <a:srgbClr val="5A6672"/>
                </a:solidFill>
                <a:latin typeface="Arial"/>
              </a:rPr>
              <a:t>Células</a:t>
            </a:r>
            <a:r>
              <a:rPr lang="en-US" sz="150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500" dirty="0" err="1">
                <a:solidFill>
                  <a:srgbClr val="5A6672"/>
                </a:solidFill>
                <a:latin typeface="Arial"/>
              </a:rPr>
              <a:t>próximas</a:t>
            </a:r>
            <a:r>
              <a:rPr lang="en-US" sz="150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tendem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a registrar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picos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ao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mesmo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tempo</a:t>
            </a:r>
          </a:p>
        </p:txBody>
      </p:sp>
      <p:sp>
        <p:nvSpPr>
          <p:cNvPr id="39" name="Oval 38"/>
          <p:cNvSpPr/>
          <p:nvPr/>
        </p:nvSpPr>
        <p:spPr>
          <a:xfrm>
            <a:off x="5806440" y="4526279"/>
            <a:ext cx="502920" cy="5029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98847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Independência deixa de valer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92040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5A6672"/>
                </a:solidFill>
                <a:latin typeface="Arial"/>
              </a:rPr>
              <a:t>Tratar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cada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500" b="0" i="0" dirty="0" err="1">
                <a:solidFill>
                  <a:srgbClr val="5A6672"/>
                </a:solidFill>
                <a:latin typeface="Arial"/>
              </a:rPr>
              <a:t>célula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isoladamente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ignora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essa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co-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ocorrência</a:t>
            </a:r>
            <a:endParaRPr sz="1500" b="0" i="0" dirty="0">
              <a:solidFill>
                <a:srgbClr val="5A6672"/>
              </a:solidFill>
              <a:latin typeface="Arial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44249D9B-CE4D-6F06-F9C9-F93724FFE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29797351-387D-EBA7-8B91-86573C0F4FD0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4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btfpColumnIndicatorGroup2">
            <a:extLst>
              <a:ext uri="{FF2B5EF4-FFF2-40B4-BE49-F238E27FC236}">
                <a16:creationId xmlns:a16="http://schemas.microsoft.com/office/drawing/2014/main" id="{FE4F4044-E07E-696A-088A-0C877470383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0" name="btfpColumnGapBlocker247869">
              <a:extLst>
                <a:ext uri="{FF2B5EF4-FFF2-40B4-BE49-F238E27FC236}">
                  <a16:creationId xmlns:a16="http://schemas.microsoft.com/office/drawing/2014/main" id="{8B5B2101-0FB4-2C35-116C-FF3A8E991E13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btfpColumnGapBlocker225751">
              <a:extLst>
                <a:ext uri="{FF2B5EF4-FFF2-40B4-BE49-F238E27FC236}">
                  <a16:creationId xmlns:a16="http://schemas.microsoft.com/office/drawing/2014/main" id="{2926EA79-ED33-F8D8-98E2-05B43F2BCE36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6" name="btfpColumnIndicator438772">
              <a:extLst>
                <a:ext uri="{FF2B5EF4-FFF2-40B4-BE49-F238E27FC236}">
                  <a16:creationId xmlns:a16="http://schemas.microsoft.com/office/drawing/2014/main" id="{48253EDF-1AE2-B37E-3FD0-93DDC2040111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btfpColumnIndicator942357">
              <a:extLst>
                <a:ext uri="{FF2B5EF4-FFF2-40B4-BE49-F238E27FC236}">
                  <a16:creationId xmlns:a16="http://schemas.microsoft.com/office/drawing/2014/main" id="{DD9D3DD2-0A64-95A4-0D77-91C74EB261B2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btfpColumnIndicatorGroup1">
            <a:extLst>
              <a:ext uri="{FF2B5EF4-FFF2-40B4-BE49-F238E27FC236}">
                <a16:creationId xmlns:a16="http://schemas.microsoft.com/office/drawing/2014/main" id="{00D2B889-FEC2-D5B7-0281-27FDDF47B2A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9" name="btfpColumnGapBlocker201548">
              <a:extLst>
                <a:ext uri="{FF2B5EF4-FFF2-40B4-BE49-F238E27FC236}">
                  <a16:creationId xmlns:a16="http://schemas.microsoft.com/office/drawing/2014/main" id="{1B3C1CA6-BE31-A778-BD23-BCD56FE25716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btfpColumnGapBlocker526511">
              <a:extLst>
                <a:ext uri="{FF2B5EF4-FFF2-40B4-BE49-F238E27FC236}">
                  <a16:creationId xmlns:a16="http://schemas.microsoft.com/office/drawing/2014/main" id="{E93EA331-2FBF-5B21-C275-F0D9C2150D2A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5" name="btfpColumnIndicator611813">
              <a:extLst>
                <a:ext uri="{FF2B5EF4-FFF2-40B4-BE49-F238E27FC236}">
                  <a16:creationId xmlns:a16="http://schemas.microsoft.com/office/drawing/2014/main" id="{954FB015-4E3C-561D-6FF3-D14556E1614B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btfpColumnIndicator481488">
              <a:extLst>
                <a:ext uri="{FF2B5EF4-FFF2-40B4-BE49-F238E27FC236}">
                  <a16:creationId xmlns:a16="http://schemas.microsoft.com/office/drawing/2014/main" id="{E988A7E7-1AE3-7186-22BF-D08AAE30D229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MODELOS CONVENCIONAIS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Modelos convencionais captam exposição, risco e clima, mas não representam explicitamente a dependência espacial</a:t>
            </a:r>
          </a:p>
        </p:txBody>
      </p:sp>
      <p:sp>
        <p:nvSpPr>
          <p:cNvPr id="6" name="Header Negative Binomial (NB)"/>
          <p:cNvSpPr/>
          <p:nvPr/>
        </p:nvSpPr>
        <p:spPr>
          <a:xfrm>
            <a:off x="2468880" y="1691640"/>
            <a:ext cx="4416552" cy="41148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Negative Binomial (NB)</a:t>
            </a:r>
          </a:p>
        </p:txBody>
      </p:sp>
      <p:sp>
        <p:nvSpPr>
          <p:cNvPr id="7" name="Header Random Forest (RF)"/>
          <p:cNvSpPr/>
          <p:nvPr/>
        </p:nvSpPr>
        <p:spPr>
          <a:xfrm>
            <a:off x="7086600" y="1691640"/>
            <a:ext cx="4416552" cy="411480"/>
          </a:xfrm>
          <a:prstGeom prst="roundRect">
            <a:avLst>
              <a:gd name="adj" fmla="val 4000"/>
            </a:avLst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Random Forest (RF)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600200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Estrutura</a:t>
            </a:r>
          </a:p>
        </p:txBody>
      </p:sp>
      <p:sp>
        <p:nvSpPr>
          <p:cNvPr id="9" name="Célula Estrutura"/>
          <p:cNvSpPr/>
          <p:nvPr/>
        </p:nvSpPr>
        <p:spPr>
          <a:xfrm>
            <a:off x="2468880" y="2194560"/>
            <a:ext cx="4416552" cy="1874519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Célula Estrutura"/>
          <p:cNvSpPr/>
          <p:nvPr/>
        </p:nvSpPr>
        <p:spPr>
          <a:xfrm>
            <a:off x="7086600" y="2194560"/>
            <a:ext cx="4416552" cy="1874519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Captura</a:t>
            </a:r>
          </a:p>
        </p:txBody>
      </p:sp>
      <p:sp>
        <p:nvSpPr>
          <p:cNvPr id="12" name="Célula Captura"/>
          <p:cNvSpPr/>
          <p:nvPr/>
        </p:nvSpPr>
        <p:spPr>
          <a:xfrm>
            <a:off x="2468880" y="4160520"/>
            <a:ext cx="4416552" cy="8686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Célula Captura"/>
          <p:cNvSpPr/>
          <p:nvPr/>
        </p:nvSpPr>
        <p:spPr>
          <a:xfrm>
            <a:off x="7086600" y="4160520"/>
            <a:ext cx="4416552" cy="8686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1600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Arial"/>
              </a:rPr>
              <a:t>Fica faltando</a:t>
            </a:r>
          </a:p>
        </p:txBody>
      </p:sp>
      <p:sp>
        <p:nvSpPr>
          <p:cNvPr id="15" name="Célula Fica faltando"/>
          <p:cNvSpPr/>
          <p:nvPr/>
        </p:nvSpPr>
        <p:spPr>
          <a:xfrm>
            <a:off x="2468880" y="5120640"/>
            <a:ext cx="4416552" cy="9601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Célula Fica faltando"/>
          <p:cNvSpPr/>
          <p:nvPr/>
        </p:nvSpPr>
        <p:spPr>
          <a:xfrm>
            <a:off x="7086600" y="5120640"/>
            <a:ext cx="4416552" cy="9601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97480" y="2331720"/>
            <a:ext cx="39593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1">
                <a:solidFill>
                  <a:srgbClr val="12263A"/>
                </a:solidFill>
                <a:latin typeface="Cambria"/>
              </a:rPr>
              <a:t>Y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~ NB(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μ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, φ)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761488"/>
            <a:ext cx="39593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1">
                <a:solidFill>
                  <a:srgbClr val="12263A"/>
                </a:solidFill>
                <a:latin typeface="Cambria"/>
              </a:rPr>
              <a:t>log μ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= log 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E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+ β</a:t>
            </a:r>
            <a:r>
              <a:rPr sz="1900" b="0" i="0" baseline="-25000">
                <a:solidFill>
                  <a:srgbClr val="12263A"/>
                </a:solidFill>
                <a:latin typeface="Cambria"/>
              </a:rPr>
              <a:t>0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+ β′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X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91839"/>
            <a:ext cx="386791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2263A"/>
                </a:solidFill>
                <a:latin typeface="Arial"/>
              </a:rPr>
              <a:t>Y</a:t>
            </a:r>
            <a:r>
              <a:rPr sz="1200" b="1" i="0" baseline="-25000" dirty="0" err="1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sinistros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n</a:t>
            </a:r>
            <a:r>
              <a:rPr lang="en-US" sz="1200" b="0" i="0" dirty="0" err="1">
                <a:solidFill>
                  <a:srgbClr val="5A6672"/>
                </a:solidFill>
                <a:latin typeface="Arial"/>
              </a:rPr>
              <a:t>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2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g,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mês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t</a:t>
            </a:r>
          </a:p>
          <a:p>
            <a:pPr algn="l"/>
            <a:r>
              <a:rPr sz="1200" b="1" i="0" dirty="0" err="1">
                <a:solidFill>
                  <a:srgbClr val="12263A"/>
                </a:solidFill>
                <a:latin typeface="Arial"/>
              </a:rPr>
              <a:t>E</a:t>
            </a:r>
            <a:r>
              <a:rPr sz="1200" b="1" i="0" baseline="-25000" dirty="0" err="1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exposição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(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domicílios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segurados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)</a:t>
            </a:r>
          </a:p>
          <a:p>
            <a:pPr algn="l"/>
            <a:r>
              <a:rPr sz="1200" b="1" i="0" dirty="0" err="1">
                <a:solidFill>
                  <a:srgbClr val="12263A"/>
                </a:solidFill>
                <a:latin typeface="Arial"/>
              </a:rPr>
              <a:t>X</a:t>
            </a:r>
            <a:r>
              <a:rPr sz="1200" b="1" i="0" baseline="-25000" dirty="0" err="1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covariáveis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de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clima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e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carteira</a:t>
            </a:r>
            <a:endParaRPr sz="1200" b="0" i="0" dirty="0">
              <a:solidFill>
                <a:srgbClr val="5A6672"/>
              </a:solidFill>
              <a:latin typeface="Arial"/>
            </a:endParaRPr>
          </a:p>
        </p:txBody>
      </p:sp>
      <p:cxnSp>
        <p:nvCxnSpPr>
          <p:cNvPr id="20" name="Connector 19"/>
          <p:cNvCxnSpPr/>
          <p:nvPr/>
        </p:nvCxnSpPr>
        <p:spPr>
          <a:xfrm flipH="1">
            <a:off x="7662671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2395728"/>
            <a:ext cx="292609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498079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62671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882127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89519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7473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24927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54111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H="1">
            <a:off x="8622792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15400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458200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22792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42248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49640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3485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85048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714232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H="1">
            <a:off x="9582912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75520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418320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82912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802368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509760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09497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345168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74352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78440" y="2606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69F00"/>
                </a:solidFill>
                <a:latin typeface="Arial"/>
              </a:rPr>
              <a:t>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3291839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Arial"/>
              </a:rPr>
              <a:t>Média de muitas árvores de decisão,</a:t>
            </a:r>
          </a:p>
          <a:p>
            <a:pPr algn="ctr"/>
            <a:r>
              <a:rPr sz="1300" b="0" i="0">
                <a:solidFill>
                  <a:srgbClr val="5A6672"/>
                </a:solidFill>
                <a:latin typeface="Arial"/>
              </a:rPr>
              <a:t>cada uma treinada numa amostra dos dados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251959"/>
            <a:ext cx="386791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Contagens com sobredispersão</a:t>
            </a:r>
          </a:p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Exposição como escala do risco (offset)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251959"/>
            <a:ext cx="386791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Relações não lineares e interações</a:t>
            </a:r>
          </a:p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Sem forma funcional imposta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385255"/>
            <a:ext cx="386791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D55E00"/>
                </a:solidFill>
                <a:latin typeface="Arial"/>
              </a:rPr>
              <a:t>Dadas as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covariáveis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,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cada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</a:t>
            </a:r>
            <a:r>
              <a:rPr lang="en-US" sz="1400" b="1" i="0" dirty="0" err="1">
                <a:solidFill>
                  <a:srgbClr val="D55E00"/>
                </a:solidFill>
                <a:latin typeface="Arial"/>
              </a:rPr>
              <a:t>célula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é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tratad</a:t>
            </a:r>
            <a:r>
              <a:rPr lang="en-US" sz="1400" b="1" i="0" dirty="0" err="1">
                <a:solidFill>
                  <a:srgbClr val="D55E00"/>
                </a:solidFill>
                <a:latin typeface="Arial"/>
              </a:rPr>
              <a:t>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como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independente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d</a:t>
            </a:r>
            <a:r>
              <a:rPr lang="en-US" sz="1400" b="1" i="0" dirty="0">
                <a:solidFill>
                  <a:srgbClr val="D55E00"/>
                </a:solidFill>
                <a:latin typeface="Arial"/>
              </a:rPr>
              <a:t>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s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vizinh</a:t>
            </a:r>
            <a:r>
              <a:rPr lang="en-US" sz="1400" b="1" i="0" dirty="0" err="1">
                <a:solidFill>
                  <a:srgbClr val="D55E00"/>
                </a:solidFill>
                <a:latin typeface="Arial"/>
              </a:rPr>
              <a:t>a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s</a:t>
            </a:r>
            <a:endParaRPr sz="1400" b="1" i="0" dirty="0">
              <a:solidFill>
                <a:srgbClr val="D55E00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60920" y="5212079"/>
            <a:ext cx="38679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Nenhuma estrutura espacial explícita; exposição entra como variável comum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26349DB9-2641-7C7B-A8C9-AC1977166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64" name="Slide Number Placeholder 5">
            <a:extLst>
              <a:ext uri="{FF2B5EF4-FFF2-40B4-BE49-F238E27FC236}">
                <a16:creationId xmlns:a16="http://schemas.microsoft.com/office/drawing/2014/main" id="{263DFC8B-B7BB-FB2D-E28E-1CE3C8B0112C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5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btfpColumnIndicatorGroup2">
            <a:extLst>
              <a:ext uri="{FF2B5EF4-FFF2-40B4-BE49-F238E27FC236}">
                <a16:creationId xmlns:a16="http://schemas.microsoft.com/office/drawing/2014/main" id="{B4E5A343-15D9-B05B-5DBF-D75178A42ED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1" name="btfpColumnGapBlocker566784">
              <a:extLst>
                <a:ext uri="{FF2B5EF4-FFF2-40B4-BE49-F238E27FC236}">
                  <a16:creationId xmlns:a16="http://schemas.microsoft.com/office/drawing/2014/main" id="{7079F274-4E19-798D-E840-A8462C7648F9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btfpColumnGapBlocker534276">
              <a:extLst>
                <a:ext uri="{FF2B5EF4-FFF2-40B4-BE49-F238E27FC236}">
                  <a16:creationId xmlns:a16="http://schemas.microsoft.com/office/drawing/2014/main" id="{C1779364-5634-7958-4CB8-B816805C31D7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7" name="btfpColumnIndicator304517">
              <a:extLst>
                <a:ext uri="{FF2B5EF4-FFF2-40B4-BE49-F238E27FC236}">
                  <a16:creationId xmlns:a16="http://schemas.microsoft.com/office/drawing/2014/main" id="{3F3009D4-75FD-88E4-5639-53CBAE65E74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382775">
              <a:extLst>
                <a:ext uri="{FF2B5EF4-FFF2-40B4-BE49-F238E27FC236}">
                  <a16:creationId xmlns:a16="http://schemas.microsoft.com/office/drawing/2014/main" id="{BC5CCBE3-74EE-8DA4-D382-DEFEE5268068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btfpColumnIndicatorGroup1">
            <a:extLst>
              <a:ext uri="{FF2B5EF4-FFF2-40B4-BE49-F238E27FC236}">
                <a16:creationId xmlns:a16="http://schemas.microsoft.com/office/drawing/2014/main" id="{CA43C0BF-A354-7A30-F1F2-9CFD049EC5B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0" name="btfpColumnGapBlocker514881">
              <a:extLst>
                <a:ext uri="{FF2B5EF4-FFF2-40B4-BE49-F238E27FC236}">
                  <a16:creationId xmlns:a16="http://schemas.microsoft.com/office/drawing/2014/main" id="{E54561FF-2907-E929-B0B3-88A95E1E84A1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btfpColumnGapBlocker314384">
              <a:extLst>
                <a:ext uri="{FF2B5EF4-FFF2-40B4-BE49-F238E27FC236}">
                  <a16:creationId xmlns:a16="http://schemas.microsoft.com/office/drawing/2014/main" id="{4412543D-BC8A-4551-A3AC-655DCC53E7FF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6" name="btfpColumnIndicator592545">
              <a:extLst>
                <a:ext uri="{FF2B5EF4-FFF2-40B4-BE49-F238E27FC236}">
                  <a16:creationId xmlns:a16="http://schemas.microsoft.com/office/drawing/2014/main" id="{06A4C4D5-F91B-FC8B-6871-E89AA9608FD0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btfpColumnIndicator405996">
              <a:extLst>
                <a:ext uri="{FF2B5EF4-FFF2-40B4-BE49-F238E27FC236}">
                  <a16:creationId xmlns:a16="http://schemas.microsoft.com/office/drawing/2014/main" id="{85FD664D-D840-B056-5813-7E75DC430395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600" b="1" i="0" dirty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pt-BR" sz="2600" b="1" i="0" dirty="0">
                <a:solidFill>
                  <a:srgbClr val="12263A"/>
                </a:solidFill>
                <a:latin typeface="Arial"/>
              </a:rPr>
              <a:t>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lang="pt-BR" sz="2600" b="1" dirty="0">
                <a:solidFill>
                  <a:srgbClr val="12263A"/>
                </a:solidFill>
                <a:latin typeface="Arial"/>
              </a:rPr>
              <a:t>modelo proposto</a:t>
            </a:r>
            <a:r>
              <a:rPr lang="pt-BR" sz="2600" b="1" i="0" dirty="0">
                <a:solidFill>
                  <a:srgbClr val="12263A"/>
                </a:solidFill>
                <a:latin typeface="Arial"/>
              </a:rPr>
              <a:t> (SP-NB)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adiciona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risco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próprio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cada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lang="en-US" sz="2600" b="1" i="0" dirty="0" err="1">
                <a:solidFill>
                  <a:srgbClr val="12263A"/>
                </a:solidFill>
                <a:latin typeface="Arial"/>
              </a:rPr>
              <a:t>célula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informação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ocorrência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anormal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sinistros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vizinhos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Bloco risco próprio"/>
          <p:cNvSpPr/>
          <p:nvPr/>
        </p:nvSpPr>
        <p:spPr>
          <a:xfrm>
            <a:off x="685800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606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2263A"/>
                </a:solidFill>
                <a:latin typeface="Arial"/>
              </a:rPr>
              <a:t>Risco </a:t>
            </a:r>
            <a:r>
              <a:rPr sz="1800" b="1" i="0" dirty="0" err="1">
                <a:solidFill>
                  <a:srgbClr val="12263A"/>
                </a:solidFill>
                <a:latin typeface="Arial"/>
              </a:rPr>
              <a:t>próprio</a:t>
            </a:r>
            <a:r>
              <a:rPr sz="1800" b="1" i="0" dirty="0">
                <a:solidFill>
                  <a:srgbClr val="12263A"/>
                </a:solidFill>
                <a:latin typeface="Arial"/>
              </a:rPr>
              <a:t> d</a:t>
            </a:r>
            <a:r>
              <a:rPr lang="en-US" sz="1800" b="1" i="0" dirty="0">
                <a:solidFill>
                  <a:srgbClr val="12263A"/>
                </a:solidFill>
                <a:latin typeface="Arial"/>
              </a:rPr>
              <a:t>a </a:t>
            </a:r>
            <a:r>
              <a:rPr lang="en-US" sz="1800" b="1" i="0" dirty="0" err="1">
                <a:solidFill>
                  <a:srgbClr val="12263A"/>
                </a:solidFill>
                <a:latin typeface="Arial"/>
              </a:rPr>
              <a:t>célula</a:t>
            </a:r>
            <a:endParaRPr sz="18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8" name="Oval 7"/>
          <p:cNvSpPr/>
          <p:nvPr/>
        </p:nvSpPr>
        <p:spPr>
          <a:xfrm>
            <a:off x="960120" y="2670048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60604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Exposição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nº de domicílios segurados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328416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264408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Clima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chuva no mês e no mês anterior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986784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922776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Carteira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pisos, qualidade e idade dos imóveis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1888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A6672"/>
                </a:solidFill>
                <a:latin typeface="Arial"/>
              </a:rPr>
              <a:t>o que a NB já 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80360"/>
            <a:ext cx="685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5A6672"/>
                </a:solidFill>
                <a:latin typeface="Arial"/>
              </a:rPr>
              <a:t>+</a:t>
            </a:r>
          </a:p>
        </p:txBody>
      </p:sp>
      <p:sp>
        <p:nvSpPr>
          <p:cNvPr id="16" name="Bloco vizinhos"/>
          <p:cNvSpPr/>
          <p:nvPr/>
        </p:nvSpPr>
        <p:spPr>
          <a:xfrm>
            <a:off x="4526280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20116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55E00"/>
                </a:solidFill>
                <a:latin typeface="Arial"/>
              </a:rPr>
              <a:t>Choque nos vizinhos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7548" y="2560320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11596" y="2560320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95644" y="2560320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27548" y="2944368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11596" y="2944368"/>
            <a:ext cx="347472" cy="347472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5644" y="2944368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27548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11596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95644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3849624"/>
            <a:ext cx="260604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dirty="0" err="1">
                <a:solidFill>
                  <a:srgbClr val="1B1B1B"/>
                </a:solidFill>
                <a:latin typeface="Arial"/>
              </a:rPr>
              <a:t>Vizinhos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com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sinistros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acima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do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esperado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no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mês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anterior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elevam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a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expectativa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d</a:t>
            </a:r>
            <a:r>
              <a:rPr lang="en-US" sz="1300" dirty="0">
                <a:solidFill>
                  <a:srgbClr val="1B1B1B"/>
                </a:solidFill>
                <a:latin typeface="Arial"/>
              </a:rPr>
              <a:t>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300" b="0" i="0" dirty="0" err="1">
                <a:solidFill>
                  <a:srgbClr val="1B1B1B"/>
                </a:solidFill>
                <a:latin typeface="Arial"/>
              </a:rPr>
              <a:t>célula</a:t>
            </a:r>
            <a:r>
              <a:rPr lang="en-US"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81888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>
                <a:solidFill>
                  <a:srgbClr val="D55E00"/>
                </a:solidFill>
                <a:latin typeface="Arial"/>
              </a:rPr>
              <a:t>o que o SP-NB </a:t>
            </a:r>
            <a:r>
              <a:rPr sz="1200" b="0" i="1" dirty="0" err="1">
                <a:solidFill>
                  <a:srgbClr val="D55E00"/>
                </a:solidFill>
                <a:latin typeface="Arial"/>
              </a:rPr>
              <a:t>acrescenta</a:t>
            </a:r>
            <a:endParaRPr sz="1200" b="0" i="1" dirty="0">
              <a:solidFill>
                <a:srgbClr val="D55E00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2880360"/>
            <a:ext cx="6675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5A6672"/>
                </a:solidFill>
                <a:latin typeface="Arial"/>
              </a:rPr>
              <a:t>=</a:t>
            </a:r>
          </a:p>
        </p:txBody>
      </p:sp>
      <p:sp>
        <p:nvSpPr>
          <p:cNvPr id="30" name="Bloco resultado"/>
          <p:cNvSpPr/>
          <p:nvPr/>
        </p:nvSpPr>
        <p:spPr>
          <a:xfrm>
            <a:off x="8348472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22792" y="20116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Sinistros esperados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2560320"/>
            <a:ext cx="260604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 err="1">
                <a:solidFill>
                  <a:srgbClr val="C9D6E2"/>
                </a:solidFill>
                <a:latin typeface="Arial"/>
              </a:rPr>
              <a:t>n</a:t>
            </a:r>
            <a:r>
              <a:rPr lang="en-US" sz="1500" b="0" i="0" dirty="0" err="1">
                <a:solidFill>
                  <a:srgbClr val="C9D6E2"/>
                </a:solidFill>
                <a:latin typeface="Arial"/>
              </a:rPr>
              <a:t>a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lang="en-US" sz="1500" b="0" i="0" dirty="0" err="1">
                <a:solidFill>
                  <a:srgbClr val="C9D6E2"/>
                </a:solidFill>
                <a:latin typeface="Arial"/>
              </a:rPr>
              <a:t>célula</a:t>
            </a:r>
            <a:r>
              <a:rPr lang="en-US"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1" dirty="0">
                <a:solidFill>
                  <a:srgbClr val="C9D6E2"/>
                </a:solidFill>
                <a:latin typeface="Cambria"/>
              </a:rPr>
              <a:t>g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no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mês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1" dirty="0">
                <a:solidFill>
                  <a:srgbClr val="C9D6E2"/>
                </a:solidFill>
                <a:latin typeface="Cambria"/>
              </a:rPr>
              <a:t>t</a:t>
            </a:r>
          </a:p>
          <a:p>
            <a:pPr algn="l"/>
            <a:endParaRPr sz="1500" b="0" i="1" dirty="0">
              <a:solidFill>
                <a:srgbClr val="C9D6E2"/>
              </a:solidFill>
              <a:latin typeface="Cambria"/>
            </a:endParaRPr>
          </a:p>
          <a:p>
            <a:pPr algn="l"/>
            <a:r>
              <a:rPr sz="1500" b="0" i="0" dirty="0">
                <a:solidFill>
                  <a:srgbClr val="C9D6E2"/>
                </a:solidFill>
                <a:latin typeface="Arial"/>
              </a:rPr>
              <a:t>Sobe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quando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o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próprio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risco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é alto </a:t>
            </a:r>
            <a:r>
              <a:rPr sz="1500" b="1" i="0" dirty="0" err="1">
                <a:solidFill>
                  <a:srgbClr val="E69F00"/>
                </a:solidFill>
                <a:latin typeface="Arial"/>
              </a:rPr>
              <a:t>ou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quando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a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vizinhança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acabou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de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sofrer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um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choque</a:t>
            </a:r>
            <a:endParaRPr sz="1500" b="0" i="0" dirty="0">
              <a:solidFill>
                <a:srgbClr val="C9D6E2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Sem vizinhos em choque no mês anterior, o SP-NB reduz-se à própria NB.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62AFA34-2D2C-96AC-AE48-29D344B0E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C3FAEB22-6204-F44A-B354-6C0FACCF50A0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6</a:t>
            </a:fld>
            <a:endParaRPr lang="pt-B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61F53F-E91C-4C7C-5EB8-F34C855B0D0D}"/>
              </a:ext>
            </a:extLst>
          </p:cNvPr>
          <p:cNvSpPr txBox="1"/>
          <p:nvPr/>
        </p:nvSpPr>
        <p:spPr>
          <a:xfrm>
            <a:off x="685800" y="6071235"/>
            <a:ext cx="10817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dirty="0">
                <a:solidFill>
                  <a:srgbClr val="5A6672"/>
                </a:solidFill>
                <a:latin typeface="Arial"/>
              </a:rPr>
              <a:t>Fonte: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Gudmundarson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,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Tzougas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e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Christopoulos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(2026).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Insurance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ratemaking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for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climate-related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claim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counts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using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mixed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Poisson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spatio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-temporal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and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Besag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regression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models.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European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Actuarial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Journal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.</a:t>
            </a:r>
            <a:endParaRPr sz="1000" b="0" i="0" dirty="0">
              <a:solidFill>
                <a:srgbClr val="5A6672"/>
              </a:solidFill>
              <a:latin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B5A059EE-F11A-11AA-D604-3D3D1953AA8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3" name="btfpColumnGapBlocker364098">
              <a:extLst>
                <a:ext uri="{FF2B5EF4-FFF2-40B4-BE49-F238E27FC236}">
                  <a16:creationId xmlns:a16="http://schemas.microsoft.com/office/drawing/2014/main" id="{D7E03B11-792D-9B96-813E-2AF4321138B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196067">
              <a:extLst>
                <a:ext uri="{FF2B5EF4-FFF2-40B4-BE49-F238E27FC236}">
                  <a16:creationId xmlns:a16="http://schemas.microsoft.com/office/drawing/2014/main" id="{9798C3E8-785A-9963-30D6-5FC7BBEADD67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34559">
              <a:extLst>
                <a:ext uri="{FF2B5EF4-FFF2-40B4-BE49-F238E27FC236}">
                  <a16:creationId xmlns:a16="http://schemas.microsoft.com/office/drawing/2014/main" id="{950BBAB4-6145-B0A7-A6BF-300123B6D4D9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786209">
              <a:extLst>
                <a:ext uri="{FF2B5EF4-FFF2-40B4-BE49-F238E27FC236}">
                  <a16:creationId xmlns:a16="http://schemas.microsoft.com/office/drawing/2014/main" id="{00B4089F-5631-DB23-9D17-2E017B8F50C4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B2DD0B4F-8978-61BC-DADE-998F4ECD392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525287">
              <a:extLst>
                <a:ext uri="{FF2B5EF4-FFF2-40B4-BE49-F238E27FC236}">
                  <a16:creationId xmlns:a16="http://schemas.microsoft.com/office/drawing/2014/main" id="{FFE0EAD0-38F7-B613-527D-9E591E5D5103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btfpColumnGapBlocker115069">
              <a:extLst>
                <a:ext uri="{FF2B5EF4-FFF2-40B4-BE49-F238E27FC236}">
                  <a16:creationId xmlns:a16="http://schemas.microsoft.com/office/drawing/2014/main" id="{92E90C9C-E6D6-FD9F-9813-142133614FEB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btfpColumnIndicator984313">
              <a:extLst>
                <a:ext uri="{FF2B5EF4-FFF2-40B4-BE49-F238E27FC236}">
                  <a16:creationId xmlns:a16="http://schemas.microsoft.com/office/drawing/2014/main" id="{36B6A4A4-FF08-EAD5-65B9-9C494592E275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441825">
              <a:extLst>
                <a:ext uri="{FF2B5EF4-FFF2-40B4-BE49-F238E27FC236}">
                  <a16:creationId xmlns:a16="http://schemas.microsoft.com/office/drawing/2014/main" id="{7F001B10-3014-783A-6731-8548C4E163EE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A intensidade esperada combina exposição, características do risco e propagação espaço-temporal</a:t>
            </a:r>
          </a:p>
        </p:txBody>
      </p:sp>
      <p:sp>
        <p:nvSpPr>
          <p:cNvPr id="6" name="Equações SP-NB"/>
          <p:cNvSpPr/>
          <p:nvPr/>
        </p:nvSpPr>
        <p:spPr>
          <a:xfrm>
            <a:off x="685800" y="1691640"/>
            <a:ext cx="10817352" cy="169164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1">
                <a:solidFill>
                  <a:srgbClr val="12263A"/>
                </a:solidFill>
                <a:latin typeface="Cambria"/>
              </a:rPr>
              <a:t>Y</a:t>
            </a:r>
            <a:r>
              <a:rPr sz="26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600" b="0" i="0">
                <a:solidFill>
                  <a:srgbClr val="12263A"/>
                </a:solidFill>
                <a:latin typeface="Cambria"/>
              </a:rPr>
              <a:t> ~ NB(</a:t>
            </a:r>
            <a:r>
              <a:rPr sz="2600" b="0" i="1">
                <a:solidFill>
                  <a:srgbClr val="12263A"/>
                </a:solidFill>
                <a:latin typeface="Cambria"/>
              </a:rPr>
              <a:t>λ</a:t>
            </a:r>
            <a:r>
              <a:rPr sz="26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600" b="0" i="0">
                <a:solidFill>
                  <a:srgbClr val="12263A"/>
                </a:solidFill>
                <a:latin typeface="Cambria"/>
              </a:rPr>
              <a:t>, 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1045159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1">
                <a:solidFill>
                  <a:srgbClr val="12263A"/>
                </a:solidFill>
                <a:latin typeface="Cambria"/>
              </a:rPr>
              <a:t>λ</a:t>
            </a:r>
            <a:r>
              <a:rPr sz="28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= </a:t>
            </a:r>
            <a:r>
              <a:rPr sz="2800" b="1" i="1">
                <a:solidFill>
                  <a:srgbClr val="5A6672"/>
                </a:solidFill>
                <a:latin typeface="Cambria"/>
              </a:rPr>
              <a:t>E</a:t>
            </a:r>
            <a:r>
              <a:rPr sz="2800" b="1" i="1" baseline="-25000">
                <a:solidFill>
                  <a:srgbClr val="5A6672"/>
                </a:solidFill>
                <a:latin typeface="Cambria"/>
              </a:rPr>
              <a:t>g,t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· [ </a:t>
            </a:r>
            <a:r>
              <a:rPr sz="2800" b="1" i="1">
                <a:solidFill>
                  <a:srgbClr val="0072B2"/>
                </a:solidFill>
                <a:latin typeface="Cambria"/>
              </a:rPr>
              <a:t>exp(β′X</a:t>
            </a:r>
            <a:r>
              <a:rPr sz="2800" b="1" i="1" baseline="-25000">
                <a:solidFill>
                  <a:srgbClr val="0072B2"/>
                </a:solidFill>
                <a:latin typeface="Cambria"/>
              </a:rPr>
              <a:t>g,t</a:t>
            </a:r>
            <a:r>
              <a:rPr sz="2800" b="1" i="1">
                <a:solidFill>
                  <a:srgbClr val="0072B2"/>
                </a:solidFill>
                <a:latin typeface="Cambria"/>
              </a:rPr>
              <a:t>)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 +  </a:t>
            </a:r>
            <a:r>
              <a:rPr sz="2800" b="1" i="1">
                <a:solidFill>
                  <a:srgbClr val="D55E00"/>
                </a:solidFill>
                <a:latin typeface="Cambria"/>
              </a:rPr>
              <a:t>ψ</a:t>
            </a:r>
            <a:r>
              <a:rPr sz="2800" b="1" i="1" baseline="-25000">
                <a:solidFill>
                  <a:srgbClr val="D55E00"/>
                </a:solidFill>
                <a:latin typeface="Cambria"/>
              </a:rPr>
              <a:t>g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· 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Σ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j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 A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gj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 Ȳ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j,t−1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]</a:t>
            </a:r>
          </a:p>
        </p:txBody>
      </p:sp>
      <p:sp>
        <p:nvSpPr>
          <p:cNvPr id="9" name="Termo Exposição"/>
          <p:cNvSpPr/>
          <p:nvPr/>
        </p:nvSpPr>
        <p:spPr>
          <a:xfrm>
            <a:off x="685800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5A6672"/>
                </a:solidFill>
                <a:latin typeface="Cambria"/>
              </a:rPr>
              <a:t>E</a:t>
            </a:r>
            <a:r>
              <a:rPr sz="1900" b="1" i="1" baseline="-25000">
                <a:solidFill>
                  <a:srgbClr val="5A6672"/>
                </a:solidFill>
                <a:latin typeface="Cambria"/>
              </a:rPr>
              <a:t>g,t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Exposição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21671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Escala a taxa pelo nº de domicílios segurados</a:t>
            </a:r>
          </a:p>
        </p:txBody>
      </p:sp>
      <p:sp>
        <p:nvSpPr>
          <p:cNvPr id="13" name="Termo Risco próprio"/>
          <p:cNvSpPr/>
          <p:nvPr/>
        </p:nvSpPr>
        <p:spPr>
          <a:xfrm>
            <a:off x="3447288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0072B2"/>
                </a:solidFill>
                <a:latin typeface="Cambria"/>
              </a:rPr>
              <a:t>exp(β′X</a:t>
            </a:r>
            <a:r>
              <a:rPr sz="1900" b="1" i="1" baseline="-25000">
                <a:solidFill>
                  <a:srgbClr val="0072B2"/>
                </a:solidFill>
                <a:latin typeface="Cambria"/>
              </a:rPr>
              <a:t>g,t</a:t>
            </a:r>
            <a:r>
              <a:rPr sz="1900" b="1" i="1">
                <a:solidFill>
                  <a:srgbClr val="0072B2"/>
                </a:solidFill>
                <a:latin typeface="Cambria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31596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Risco próprio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663440"/>
            <a:ext cx="21671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Efeito do clima e da composição da carteira</a:t>
            </a:r>
          </a:p>
        </p:txBody>
      </p:sp>
      <p:sp>
        <p:nvSpPr>
          <p:cNvPr id="17" name="Termo Sensibilidade do grid"/>
          <p:cNvSpPr/>
          <p:nvPr/>
        </p:nvSpPr>
        <p:spPr>
          <a:xfrm>
            <a:off x="6208776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6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D55E00"/>
                </a:solidFill>
                <a:latin typeface="Cambria"/>
              </a:rPr>
              <a:t>ψ</a:t>
            </a:r>
            <a:r>
              <a:rPr sz="1900" b="1" i="1" baseline="-25000">
                <a:solidFill>
                  <a:srgbClr val="D55E00"/>
                </a:solidFill>
                <a:latin typeface="Cambria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315968"/>
            <a:ext cx="21671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B1B1B"/>
                </a:solidFill>
                <a:latin typeface="Arial"/>
              </a:rPr>
              <a:t>Sensibilidade</a:t>
            </a:r>
            <a:r>
              <a:rPr sz="1500" b="1" i="0" dirty="0">
                <a:solidFill>
                  <a:srgbClr val="1B1B1B"/>
                </a:solidFill>
                <a:latin typeface="Arial"/>
              </a:rPr>
              <a:t> d</a:t>
            </a:r>
            <a:r>
              <a:rPr lang="en-US" sz="1500" b="1" i="0" dirty="0">
                <a:solidFill>
                  <a:srgbClr val="1B1B1B"/>
                </a:solidFill>
                <a:latin typeface="Arial"/>
              </a:rPr>
              <a:t>a</a:t>
            </a:r>
            <a:r>
              <a:rPr sz="1500" b="1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pt-BR" sz="1500" b="1" i="0" dirty="0">
                <a:solidFill>
                  <a:srgbClr val="1B1B1B"/>
                </a:solidFill>
                <a:latin typeface="Arial"/>
              </a:rPr>
              <a:t>célula</a:t>
            </a:r>
            <a:endParaRPr sz="1500" b="1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91656" y="4663440"/>
            <a:ext cx="2167128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5A6672"/>
                </a:solidFill>
                <a:latin typeface="Arial"/>
              </a:rPr>
              <a:t>Intensidade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da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propagação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para g;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estimada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por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300" b="0" i="0" dirty="0" err="1">
                <a:solidFill>
                  <a:srgbClr val="5A6672"/>
                </a:solidFill>
                <a:latin typeface="Arial"/>
              </a:rPr>
              <a:t>célula</a:t>
            </a:r>
            <a:r>
              <a:rPr lang="en-US" sz="1300" dirty="0">
                <a:solidFill>
                  <a:srgbClr val="5A6672"/>
                </a:solidFill>
                <a:latin typeface="Arial"/>
              </a:rPr>
              <a:t>,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não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negativa</a:t>
            </a:r>
            <a:endParaRPr sz="1300" b="0" i="0" dirty="0">
              <a:solidFill>
                <a:srgbClr val="5A6672"/>
              </a:solidFill>
              <a:latin typeface="Arial"/>
            </a:endParaRPr>
          </a:p>
        </p:txBody>
      </p:sp>
      <p:sp>
        <p:nvSpPr>
          <p:cNvPr id="21" name="Termo Vizinhos em choque"/>
          <p:cNvSpPr/>
          <p:nvPr/>
        </p:nvSpPr>
        <p:spPr>
          <a:xfrm>
            <a:off x="8970264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53144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E69F00"/>
                </a:solidFill>
                <a:latin typeface="Cambria"/>
              </a:rPr>
              <a:t>Σ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j</a:t>
            </a:r>
            <a:r>
              <a:rPr sz="1900" b="1" i="1">
                <a:solidFill>
                  <a:srgbClr val="E69F00"/>
                </a:solidFill>
                <a:latin typeface="Cambria"/>
              </a:rPr>
              <a:t> A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gj</a:t>
            </a:r>
            <a:r>
              <a:rPr sz="1900" b="1" i="1">
                <a:solidFill>
                  <a:srgbClr val="E69F00"/>
                </a:solidFill>
                <a:latin typeface="Cambria"/>
              </a:rPr>
              <a:t> Ȳ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j,t−1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431596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Vizinhos em choque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4663440"/>
            <a:ext cx="21671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Nº de vizinhos Queen em choque no mês anterior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6DD60C70-C9C4-3342-DC9B-6FBCE7BB5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D701AC50-89B1-D7DB-D1D8-6CE6C68B102C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7</a:t>
            </a:fld>
            <a:endParaRPr lang="pt-B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52C1A9-F569-4691-879F-64549232B605}"/>
              </a:ext>
            </a:extLst>
          </p:cNvPr>
          <p:cNvSpPr txBox="1"/>
          <p:nvPr/>
        </p:nvSpPr>
        <p:spPr>
          <a:xfrm>
            <a:off x="685800" y="6071235"/>
            <a:ext cx="10817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dirty="0">
                <a:solidFill>
                  <a:srgbClr val="5A6672"/>
                </a:solidFill>
                <a:latin typeface="Arial"/>
              </a:rPr>
              <a:t>Fonte: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Gudmundarson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,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Tzougas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e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Christopoulos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(2026).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Insurance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ratemaking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for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climate-related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claim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counts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using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mixed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Poisson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spatio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-temporal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and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Besag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regression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models.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European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Actuarial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Journal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.</a:t>
            </a:r>
            <a:endParaRPr sz="1000" b="0" i="0" dirty="0">
              <a:solidFill>
                <a:srgbClr val="5A6672"/>
              </a:solidFill>
              <a:latin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btfpColumnIndicatorGroup2">
            <a:extLst>
              <a:ext uri="{FF2B5EF4-FFF2-40B4-BE49-F238E27FC236}">
                <a16:creationId xmlns:a16="http://schemas.microsoft.com/office/drawing/2014/main" id="{FFC16C27-F29F-157D-6AB7-02196F76FE8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95" name="btfpColumnGapBlocker510032">
              <a:extLst>
                <a:ext uri="{FF2B5EF4-FFF2-40B4-BE49-F238E27FC236}">
                  <a16:creationId xmlns:a16="http://schemas.microsoft.com/office/drawing/2014/main" id="{F77DCEED-1B14-1444-52DC-5747FE5AB6DC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btfpColumnGapBlocker985133">
              <a:extLst>
                <a:ext uri="{FF2B5EF4-FFF2-40B4-BE49-F238E27FC236}">
                  <a16:creationId xmlns:a16="http://schemas.microsoft.com/office/drawing/2014/main" id="{5E884B3A-3C0D-FD73-565B-B4F0933838A9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1" name="btfpColumnIndicator325776">
              <a:extLst>
                <a:ext uri="{FF2B5EF4-FFF2-40B4-BE49-F238E27FC236}">
                  <a16:creationId xmlns:a16="http://schemas.microsoft.com/office/drawing/2014/main" id="{C027385F-F49C-E76B-0829-A1729F8EDC9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btfpColumnIndicator667353">
              <a:extLst>
                <a:ext uri="{FF2B5EF4-FFF2-40B4-BE49-F238E27FC236}">
                  <a16:creationId xmlns:a16="http://schemas.microsoft.com/office/drawing/2014/main" id="{08D7B245-2DA8-5A58-1CA4-C3C6E3CC61AF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btfpColumnIndicatorGroup1">
            <a:extLst>
              <a:ext uri="{FF2B5EF4-FFF2-40B4-BE49-F238E27FC236}">
                <a16:creationId xmlns:a16="http://schemas.microsoft.com/office/drawing/2014/main" id="{D104DAAC-E7E4-CD04-AAFC-3B499BB672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4" name="btfpColumnGapBlocker596085">
              <a:extLst>
                <a:ext uri="{FF2B5EF4-FFF2-40B4-BE49-F238E27FC236}">
                  <a16:creationId xmlns:a16="http://schemas.microsoft.com/office/drawing/2014/main" id="{057A4675-92D0-B288-981C-2F62C642AA8D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btfpColumnGapBlocker195266">
              <a:extLst>
                <a:ext uri="{FF2B5EF4-FFF2-40B4-BE49-F238E27FC236}">
                  <a16:creationId xmlns:a16="http://schemas.microsoft.com/office/drawing/2014/main" id="{387E4A82-F40E-77AC-EEFE-F19BE6353709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0" name="btfpColumnIndicator895617">
              <a:extLst>
                <a:ext uri="{FF2B5EF4-FFF2-40B4-BE49-F238E27FC236}">
                  <a16:creationId xmlns:a16="http://schemas.microsoft.com/office/drawing/2014/main" id="{39DEDC08-3527-1A1E-D2FF-094F7DF5395D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btfpColumnIndicator806368">
              <a:extLst>
                <a:ext uri="{FF2B5EF4-FFF2-40B4-BE49-F238E27FC236}">
                  <a16:creationId xmlns:a16="http://schemas.microsoft.com/office/drawing/2014/main" id="{781F438D-6565-92FB-465D-E92284BBF52A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matriz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Queen define quais </a:t>
            </a:r>
            <a:r>
              <a:rPr lang="en-US" sz="2600" b="1" i="0" dirty="0" err="1">
                <a:solidFill>
                  <a:srgbClr val="12263A"/>
                </a:solidFill>
                <a:latin typeface="Arial"/>
              </a:rPr>
              <a:t>células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compartilham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informação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espacial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Queen r0c0"/>
          <p:cNvSpPr/>
          <p:nvPr/>
        </p:nvSpPr>
        <p:spPr>
          <a:xfrm>
            <a:off x="86868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Queen r0c1"/>
          <p:cNvSpPr/>
          <p:nvPr/>
        </p:nvSpPr>
        <p:spPr>
          <a:xfrm>
            <a:off x="160020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Queen r0c2"/>
          <p:cNvSpPr/>
          <p:nvPr/>
        </p:nvSpPr>
        <p:spPr>
          <a:xfrm>
            <a:off x="233172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Queen r0c3"/>
          <p:cNvSpPr/>
          <p:nvPr/>
        </p:nvSpPr>
        <p:spPr>
          <a:xfrm>
            <a:off x="306324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Queen r0c4"/>
          <p:cNvSpPr/>
          <p:nvPr/>
        </p:nvSpPr>
        <p:spPr>
          <a:xfrm>
            <a:off x="379476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Queen r1c0"/>
          <p:cNvSpPr/>
          <p:nvPr/>
        </p:nvSpPr>
        <p:spPr>
          <a:xfrm>
            <a:off x="868680" y="251460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Queen r1c1"/>
          <p:cNvSpPr/>
          <p:nvPr/>
        </p:nvSpPr>
        <p:spPr>
          <a:xfrm>
            <a:off x="160020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3" name="Queen r1c2"/>
          <p:cNvSpPr/>
          <p:nvPr/>
        </p:nvSpPr>
        <p:spPr>
          <a:xfrm>
            <a:off x="233172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4" name="Queen r1c3"/>
          <p:cNvSpPr/>
          <p:nvPr/>
        </p:nvSpPr>
        <p:spPr>
          <a:xfrm>
            <a:off x="306324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5" name="Queen r1c4"/>
          <p:cNvSpPr/>
          <p:nvPr/>
        </p:nvSpPr>
        <p:spPr>
          <a:xfrm>
            <a:off x="3794760" y="251460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Queen r2c0"/>
          <p:cNvSpPr/>
          <p:nvPr/>
        </p:nvSpPr>
        <p:spPr>
          <a:xfrm>
            <a:off x="868680" y="324612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Queen r2c1"/>
          <p:cNvSpPr/>
          <p:nvPr/>
        </p:nvSpPr>
        <p:spPr>
          <a:xfrm>
            <a:off x="1600200" y="324612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8" name="Queen r2c2"/>
          <p:cNvSpPr/>
          <p:nvPr/>
        </p:nvSpPr>
        <p:spPr>
          <a:xfrm>
            <a:off x="2331720" y="3246120"/>
            <a:ext cx="694944" cy="694944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19" name="Queen r2c3"/>
          <p:cNvSpPr/>
          <p:nvPr/>
        </p:nvSpPr>
        <p:spPr>
          <a:xfrm>
            <a:off x="3063240" y="324612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0" name="Queen r2c4"/>
          <p:cNvSpPr/>
          <p:nvPr/>
        </p:nvSpPr>
        <p:spPr>
          <a:xfrm>
            <a:off x="3794760" y="324612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Queen r3c0"/>
          <p:cNvSpPr/>
          <p:nvPr/>
        </p:nvSpPr>
        <p:spPr>
          <a:xfrm>
            <a:off x="868680" y="397764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Queen r3c1"/>
          <p:cNvSpPr/>
          <p:nvPr/>
        </p:nvSpPr>
        <p:spPr>
          <a:xfrm>
            <a:off x="160020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3" name="Queen r3c2"/>
          <p:cNvSpPr/>
          <p:nvPr/>
        </p:nvSpPr>
        <p:spPr>
          <a:xfrm>
            <a:off x="233172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4" name="Queen r3c3"/>
          <p:cNvSpPr/>
          <p:nvPr/>
        </p:nvSpPr>
        <p:spPr>
          <a:xfrm>
            <a:off x="306324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5" name="Queen r3c4"/>
          <p:cNvSpPr/>
          <p:nvPr/>
        </p:nvSpPr>
        <p:spPr>
          <a:xfrm>
            <a:off x="3794760" y="397764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Queen r4c0"/>
          <p:cNvSpPr/>
          <p:nvPr/>
        </p:nvSpPr>
        <p:spPr>
          <a:xfrm>
            <a:off x="86868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Queen r4c1"/>
          <p:cNvSpPr/>
          <p:nvPr/>
        </p:nvSpPr>
        <p:spPr>
          <a:xfrm>
            <a:off x="160020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Queen r4c2"/>
          <p:cNvSpPr/>
          <p:nvPr/>
        </p:nvSpPr>
        <p:spPr>
          <a:xfrm>
            <a:off x="233172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Queen r4c3"/>
          <p:cNvSpPr/>
          <p:nvPr/>
        </p:nvSpPr>
        <p:spPr>
          <a:xfrm>
            <a:off x="306324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Queen r4c4"/>
          <p:cNvSpPr/>
          <p:nvPr/>
        </p:nvSpPr>
        <p:spPr>
          <a:xfrm>
            <a:off x="379476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3657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i="0" dirty="0">
                <a:solidFill>
                  <a:srgbClr val="12263A"/>
                </a:solidFill>
                <a:latin typeface="Arial"/>
              </a:rPr>
              <a:t>Célula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 intern</a:t>
            </a:r>
            <a:r>
              <a:rPr lang="en-US" sz="1300" b="1" i="0" dirty="0">
                <a:solidFill>
                  <a:srgbClr val="12263A"/>
                </a:solidFill>
                <a:latin typeface="Arial"/>
              </a:rPr>
              <a:t>a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: 8 </a:t>
            </a:r>
            <a:r>
              <a:rPr sz="1300" b="1" i="0" dirty="0" err="1">
                <a:solidFill>
                  <a:srgbClr val="12263A"/>
                </a:solidFill>
                <a:latin typeface="Arial"/>
              </a:rPr>
              <a:t>vizinhos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 (</a:t>
            </a:r>
            <a:r>
              <a:rPr sz="1300" b="1" i="0" dirty="0" err="1">
                <a:solidFill>
                  <a:srgbClr val="12263A"/>
                </a:solidFill>
                <a:latin typeface="Arial"/>
              </a:rPr>
              <a:t>lados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 + </a:t>
            </a:r>
            <a:r>
              <a:rPr sz="1300" b="1" i="0" dirty="0" err="1">
                <a:solidFill>
                  <a:srgbClr val="12263A"/>
                </a:solidFill>
                <a:latin typeface="Arial"/>
              </a:rPr>
              <a:t>diagonais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)</a:t>
            </a:r>
          </a:p>
        </p:txBody>
      </p:sp>
      <p:sp>
        <p:nvSpPr>
          <p:cNvPr id="32" name="Definição A"/>
          <p:cNvSpPr/>
          <p:nvPr/>
        </p:nvSpPr>
        <p:spPr>
          <a:xfrm>
            <a:off x="4983480" y="1783080"/>
            <a:ext cx="6519672" cy="141732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800" y="1901952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1">
                <a:solidFill>
                  <a:srgbClr val="12263A"/>
                </a:solidFill>
                <a:latin typeface="Cambria"/>
              </a:rPr>
              <a:t>A</a:t>
            </a:r>
            <a:r>
              <a:rPr sz="1700" b="1" i="1" baseline="-25000">
                <a:solidFill>
                  <a:srgbClr val="12263A"/>
                </a:solidFill>
                <a:latin typeface="Cambria"/>
              </a:rPr>
              <a:t>gj</a:t>
            </a:r>
            <a:r>
              <a:rPr sz="1700" b="0" i="0">
                <a:solidFill>
                  <a:srgbClr val="12263A"/>
                </a:solidFill>
                <a:latin typeface="Cambria"/>
              </a:rPr>
              <a:t> = 1</a:t>
            </a:r>
            <a:r>
              <a:rPr sz="1700" b="0" i="0">
                <a:solidFill>
                  <a:srgbClr val="1B1B1B"/>
                </a:solidFill>
                <a:latin typeface="Arial"/>
              </a:rPr>
              <a:t>   se g e j compartilham um lado ou um vértice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487168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1">
                <a:solidFill>
                  <a:srgbClr val="12263A"/>
                </a:solidFill>
                <a:latin typeface="Cambria"/>
              </a:rPr>
              <a:t>A</a:t>
            </a:r>
            <a:r>
              <a:rPr sz="1700" b="1" i="1" baseline="-25000">
                <a:solidFill>
                  <a:srgbClr val="12263A"/>
                </a:solidFill>
                <a:latin typeface="Cambria"/>
              </a:rPr>
              <a:t>gj</a:t>
            </a:r>
            <a:r>
              <a:rPr sz="1700" b="0" i="0">
                <a:solidFill>
                  <a:srgbClr val="12263A"/>
                </a:solidFill>
                <a:latin typeface="Cambria"/>
              </a:rPr>
              <a:t> = 0</a:t>
            </a:r>
            <a:r>
              <a:rPr sz="1700" b="0" i="0">
                <a:solidFill>
                  <a:srgbClr val="1B1B1B"/>
                </a:solidFill>
                <a:latin typeface="Arial"/>
              </a:rPr>
              <a:t>   caso contrário</a:t>
            </a:r>
          </a:p>
        </p:txBody>
      </p:sp>
      <p:sp>
        <p:nvSpPr>
          <p:cNvPr id="35" name="Mini vizinhos na borda r0c0"/>
          <p:cNvSpPr/>
          <p:nvPr/>
        </p:nvSpPr>
        <p:spPr>
          <a:xfrm>
            <a:off x="4983480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Mini vizinhos na borda r0c1"/>
          <p:cNvSpPr/>
          <p:nvPr/>
        </p:nvSpPr>
        <p:spPr>
          <a:xfrm>
            <a:off x="5312664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Mini vizinhos na borda r0c2"/>
          <p:cNvSpPr/>
          <p:nvPr/>
        </p:nvSpPr>
        <p:spPr>
          <a:xfrm>
            <a:off x="5641848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Mini vizinhos na borda r0c3"/>
          <p:cNvSpPr/>
          <p:nvPr/>
        </p:nvSpPr>
        <p:spPr>
          <a:xfrm>
            <a:off x="5971032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Mini vizinhos na borda r0c4"/>
          <p:cNvSpPr/>
          <p:nvPr/>
        </p:nvSpPr>
        <p:spPr>
          <a:xfrm>
            <a:off x="6300216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Mini vizinhos na borda r1c0"/>
          <p:cNvSpPr/>
          <p:nvPr/>
        </p:nvSpPr>
        <p:spPr>
          <a:xfrm>
            <a:off x="4983480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1" name="Mini vizinhos na borda r1c1"/>
          <p:cNvSpPr/>
          <p:nvPr/>
        </p:nvSpPr>
        <p:spPr>
          <a:xfrm>
            <a:off x="5312664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Mini vizinhos na borda r1c2"/>
          <p:cNvSpPr/>
          <p:nvPr/>
        </p:nvSpPr>
        <p:spPr>
          <a:xfrm>
            <a:off x="5641848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Mini vizinhos na borda r1c3"/>
          <p:cNvSpPr/>
          <p:nvPr/>
        </p:nvSpPr>
        <p:spPr>
          <a:xfrm>
            <a:off x="5971032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Mini vizinhos na borda r1c4"/>
          <p:cNvSpPr/>
          <p:nvPr/>
        </p:nvSpPr>
        <p:spPr>
          <a:xfrm>
            <a:off x="6300216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Mini vizinhos na borda r2c0"/>
          <p:cNvSpPr/>
          <p:nvPr/>
        </p:nvSpPr>
        <p:spPr>
          <a:xfrm>
            <a:off x="4983480" y="4178808"/>
            <a:ext cx="301751" cy="301751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Mini vizinhos na borda r2c1"/>
          <p:cNvSpPr/>
          <p:nvPr/>
        </p:nvSpPr>
        <p:spPr>
          <a:xfrm>
            <a:off x="5312664" y="4178808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Mini vizinhos na borda r2c2"/>
          <p:cNvSpPr/>
          <p:nvPr/>
        </p:nvSpPr>
        <p:spPr>
          <a:xfrm>
            <a:off x="5641848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Mini vizinhos na borda r2c3"/>
          <p:cNvSpPr/>
          <p:nvPr/>
        </p:nvSpPr>
        <p:spPr>
          <a:xfrm>
            <a:off x="5971032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Mini vizinhos na borda r2c4"/>
          <p:cNvSpPr/>
          <p:nvPr/>
        </p:nvSpPr>
        <p:spPr>
          <a:xfrm>
            <a:off x="6300216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0" name="Mini vizinhos na borda r3c0"/>
          <p:cNvSpPr/>
          <p:nvPr/>
        </p:nvSpPr>
        <p:spPr>
          <a:xfrm>
            <a:off x="4983480" y="4507992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Mini vizinhos na borda r3c1"/>
          <p:cNvSpPr/>
          <p:nvPr/>
        </p:nvSpPr>
        <p:spPr>
          <a:xfrm>
            <a:off x="5312664" y="4507992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Mini vizinhos na borda r3c2"/>
          <p:cNvSpPr/>
          <p:nvPr/>
        </p:nvSpPr>
        <p:spPr>
          <a:xfrm>
            <a:off x="5641848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Mini vizinhos na borda r3c3"/>
          <p:cNvSpPr/>
          <p:nvPr/>
        </p:nvSpPr>
        <p:spPr>
          <a:xfrm>
            <a:off x="5971032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Mini vizinhos na borda r3c4"/>
          <p:cNvSpPr/>
          <p:nvPr/>
        </p:nvSpPr>
        <p:spPr>
          <a:xfrm>
            <a:off x="6300216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Mini vizinhos na borda r4c0"/>
          <p:cNvSpPr/>
          <p:nvPr/>
        </p:nvSpPr>
        <p:spPr>
          <a:xfrm>
            <a:off x="4983480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Mini vizinhos na borda r4c1"/>
          <p:cNvSpPr/>
          <p:nvPr/>
        </p:nvSpPr>
        <p:spPr>
          <a:xfrm>
            <a:off x="5312664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7" name="Mini vizinhos na borda r4c2"/>
          <p:cNvSpPr/>
          <p:nvPr/>
        </p:nvSpPr>
        <p:spPr>
          <a:xfrm>
            <a:off x="5641848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Mini vizinhos na borda r4c3"/>
          <p:cNvSpPr/>
          <p:nvPr/>
        </p:nvSpPr>
        <p:spPr>
          <a:xfrm>
            <a:off x="5971032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9" name="Mini vizinhos na borda r4c4"/>
          <p:cNvSpPr/>
          <p:nvPr/>
        </p:nvSpPr>
        <p:spPr>
          <a:xfrm>
            <a:off x="6300216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03720" y="384048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72B2"/>
                </a:solidFill>
                <a:latin typeface="Arial"/>
              </a:rPr>
              <a:t>5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vizinhos na borda</a:t>
            </a:r>
          </a:p>
        </p:txBody>
      </p:sp>
      <p:sp>
        <p:nvSpPr>
          <p:cNvPr id="61" name="Mini vizinhos no canto r0c0"/>
          <p:cNvSpPr/>
          <p:nvPr/>
        </p:nvSpPr>
        <p:spPr>
          <a:xfrm>
            <a:off x="8366760" y="3520440"/>
            <a:ext cx="301751" cy="301751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2" name="Mini vizinhos no canto r0c1"/>
          <p:cNvSpPr/>
          <p:nvPr/>
        </p:nvSpPr>
        <p:spPr>
          <a:xfrm>
            <a:off x="8695944" y="3520440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Mini vizinhos no canto r0c2"/>
          <p:cNvSpPr/>
          <p:nvPr/>
        </p:nvSpPr>
        <p:spPr>
          <a:xfrm>
            <a:off x="9025128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4" name="Mini vizinhos no canto r0c3"/>
          <p:cNvSpPr/>
          <p:nvPr/>
        </p:nvSpPr>
        <p:spPr>
          <a:xfrm>
            <a:off x="9354312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5" name="Mini vizinhos no canto r0c4"/>
          <p:cNvSpPr/>
          <p:nvPr/>
        </p:nvSpPr>
        <p:spPr>
          <a:xfrm>
            <a:off x="9683496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6" name="Mini vizinhos no canto r1c0"/>
          <p:cNvSpPr/>
          <p:nvPr/>
        </p:nvSpPr>
        <p:spPr>
          <a:xfrm>
            <a:off x="8366760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7" name="Mini vizinhos no canto r1c1"/>
          <p:cNvSpPr/>
          <p:nvPr/>
        </p:nvSpPr>
        <p:spPr>
          <a:xfrm>
            <a:off x="8695944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8" name="Mini vizinhos no canto r1c2"/>
          <p:cNvSpPr/>
          <p:nvPr/>
        </p:nvSpPr>
        <p:spPr>
          <a:xfrm>
            <a:off x="9025128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9" name="Mini vizinhos no canto r1c3"/>
          <p:cNvSpPr/>
          <p:nvPr/>
        </p:nvSpPr>
        <p:spPr>
          <a:xfrm>
            <a:off x="9354312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0" name="Mini vizinhos no canto r1c4"/>
          <p:cNvSpPr/>
          <p:nvPr/>
        </p:nvSpPr>
        <p:spPr>
          <a:xfrm>
            <a:off x="9683496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1" name="Mini vizinhos no canto r2c0"/>
          <p:cNvSpPr/>
          <p:nvPr/>
        </p:nvSpPr>
        <p:spPr>
          <a:xfrm>
            <a:off x="8366760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2" name="Mini vizinhos no canto r2c1"/>
          <p:cNvSpPr/>
          <p:nvPr/>
        </p:nvSpPr>
        <p:spPr>
          <a:xfrm>
            <a:off x="8695944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3" name="Mini vizinhos no canto r2c2"/>
          <p:cNvSpPr/>
          <p:nvPr/>
        </p:nvSpPr>
        <p:spPr>
          <a:xfrm>
            <a:off x="9025128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4" name="Mini vizinhos no canto r2c3"/>
          <p:cNvSpPr/>
          <p:nvPr/>
        </p:nvSpPr>
        <p:spPr>
          <a:xfrm>
            <a:off x="9354312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5" name="Mini vizinhos no canto r2c4"/>
          <p:cNvSpPr/>
          <p:nvPr/>
        </p:nvSpPr>
        <p:spPr>
          <a:xfrm>
            <a:off x="9683496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6" name="Mini vizinhos no canto r3c0"/>
          <p:cNvSpPr/>
          <p:nvPr/>
        </p:nvSpPr>
        <p:spPr>
          <a:xfrm>
            <a:off x="8366760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7" name="Mini vizinhos no canto r3c1"/>
          <p:cNvSpPr/>
          <p:nvPr/>
        </p:nvSpPr>
        <p:spPr>
          <a:xfrm>
            <a:off x="8695944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8" name="Mini vizinhos no canto r3c2"/>
          <p:cNvSpPr/>
          <p:nvPr/>
        </p:nvSpPr>
        <p:spPr>
          <a:xfrm>
            <a:off x="9025128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9" name="Mini vizinhos no canto r3c3"/>
          <p:cNvSpPr/>
          <p:nvPr/>
        </p:nvSpPr>
        <p:spPr>
          <a:xfrm>
            <a:off x="9354312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0" name="Mini vizinhos no canto r3c4"/>
          <p:cNvSpPr/>
          <p:nvPr/>
        </p:nvSpPr>
        <p:spPr>
          <a:xfrm>
            <a:off x="9683496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1" name="Mini vizinhos no canto r4c0"/>
          <p:cNvSpPr/>
          <p:nvPr/>
        </p:nvSpPr>
        <p:spPr>
          <a:xfrm>
            <a:off x="8366760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2" name="Mini vizinhos no canto r4c1"/>
          <p:cNvSpPr/>
          <p:nvPr/>
        </p:nvSpPr>
        <p:spPr>
          <a:xfrm>
            <a:off x="8695944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3" name="Mini vizinhos no canto r4c2"/>
          <p:cNvSpPr/>
          <p:nvPr/>
        </p:nvSpPr>
        <p:spPr>
          <a:xfrm>
            <a:off x="9025128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4" name="Mini vizinhos no canto r4c3"/>
          <p:cNvSpPr/>
          <p:nvPr/>
        </p:nvSpPr>
        <p:spPr>
          <a:xfrm>
            <a:off x="9354312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5" name="Mini vizinhos no canto r4c4"/>
          <p:cNvSpPr/>
          <p:nvPr/>
        </p:nvSpPr>
        <p:spPr>
          <a:xfrm>
            <a:off x="9683496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287000" y="384048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72B2"/>
                </a:solidFill>
                <a:latin typeface="Arial"/>
              </a:rPr>
              <a:t>3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vizinhos no canto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83480" y="5349240"/>
            <a:ext cx="6519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5A6672"/>
                </a:solidFill>
                <a:latin typeface="Arial"/>
              </a:rPr>
              <a:t>N</a:t>
            </a:r>
            <a:r>
              <a:rPr lang="en-US" sz="1400" b="0" i="0" dirty="0">
                <a:solidFill>
                  <a:srgbClr val="5A6672"/>
                </a:solidFill>
                <a:latin typeface="Arial"/>
              </a:rPr>
              <a:t>o 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caso</a:t>
            </a:r>
            <a:r>
              <a:rPr lang="en-US" sz="14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estudado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 : 9 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células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A6672"/>
                </a:solidFill>
                <a:latin typeface="Arial"/>
              </a:rPr>
              <a:t>intern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a</a:t>
            </a:r>
            <a:r>
              <a:rPr sz="1400" b="0" i="0" dirty="0" err="1">
                <a:solidFill>
                  <a:srgbClr val="5A6672"/>
                </a:solidFill>
                <a:latin typeface="Arial"/>
              </a:rPr>
              <a:t>s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, 12 de </a:t>
            </a:r>
            <a:r>
              <a:rPr sz="1400" b="0" i="0" dirty="0" err="1">
                <a:solidFill>
                  <a:srgbClr val="5A6672"/>
                </a:solidFill>
                <a:latin typeface="Arial"/>
              </a:rPr>
              <a:t>borda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 e 4 de canto</a:t>
            </a:r>
          </a:p>
        </p:txBody>
      </p:sp>
      <p:pic>
        <p:nvPicPr>
          <p:cNvPr id="98" name="Graphic 97">
            <a:extLst>
              <a:ext uri="{FF2B5EF4-FFF2-40B4-BE49-F238E27FC236}">
                <a16:creationId xmlns:a16="http://schemas.microsoft.com/office/drawing/2014/main" id="{99CAAE46-A04C-5925-86D2-0959A5346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99" name="Slide Number Placeholder 5">
            <a:extLst>
              <a:ext uri="{FF2B5EF4-FFF2-40B4-BE49-F238E27FC236}">
                <a16:creationId xmlns:a16="http://schemas.microsoft.com/office/drawing/2014/main" id="{556B7032-84FD-F4DC-B005-9893146BA83E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8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btfpColumnIndicatorGroup2">
            <a:extLst>
              <a:ext uri="{FF2B5EF4-FFF2-40B4-BE49-F238E27FC236}">
                <a16:creationId xmlns:a16="http://schemas.microsoft.com/office/drawing/2014/main" id="{96D4B6B7-1347-3AD6-6EFF-331BA2ED9B5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0" name="btfpColumnGapBlocker239195">
              <a:extLst>
                <a:ext uri="{FF2B5EF4-FFF2-40B4-BE49-F238E27FC236}">
                  <a16:creationId xmlns:a16="http://schemas.microsoft.com/office/drawing/2014/main" id="{AAB49FF8-59EF-0507-5444-76B2CAE39E06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btfpColumnGapBlocker417637">
              <a:extLst>
                <a:ext uri="{FF2B5EF4-FFF2-40B4-BE49-F238E27FC236}">
                  <a16:creationId xmlns:a16="http://schemas.microsoft.com/office/drawing/2014/main" id="{742221BC-205F-5CD0-EB39-9AD750E0C321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6" name="btfpColumnIndicator101961">
              <a:extLst>
                <a:ext uri="{FF2B5EF4-FFF2-40B4-BE49-F238E27FC236}">
                  <a16:creationId xmlns:a16="http://schemas.microsoft.com/office/drawing/2014/main" id="{CAB2E5BE-E68A-5BDF-EF4B-45B18A52455A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btfpColumnIndicator372681">
              <a:extLst>
                <a:ext uri="{FF2B5EF4-FFF2-40B4-BE49-F238E27FC236}">
                  <a16:creationId xmlns:a16="http://schemas.microsoft.com/office/drawing/2014/main" id="{D32B3059-AAF1-76CE-CF36-4F6ECDD228CA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btfpColumnIndicatorGroup1">
            <a:extLst>
              <a:ext uri="{FF2B5EF4-FFF2-40B4-BE49-F238E27FC236}">
                <a16:creationId xmlns:a16="http://schemas.microsoft.com/office/drawing/2014/main" id="{D66C79B7-927B-8A2A-0BF2-695DCF01E6C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9" name="btfpColumnGapBlocker499808">
              <a:extLst>
                <a:ext uri="{FF2B5EF4-FFF2-40B4-BE49-F238E27FC236}">
                  <a16:creationId xmlns:a16="http://schemas.microsoft.com/office/drawing/2014/main" id="{DC0CD456-0F29-5858-FCCD-518F3D73FB6E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btfpColumnGapBlocker792520">
              <a:extLst>
                <a:ext uri="{FF2B5EF4-FFF2-40B4-BE49-F238E27FC236}">
                  <a16:creationId xmlns:a16="http://schemas.microsoft.com/office/drawing/2014/main" id="{82F8BEE9-EB01-E424-A8B5-1010905B9951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5" name="btfpColumnIndicator625122">
              <a:extLst>
                <a:ext uri="{FF2B5EF4-FFF2-40B4-BE49-F238E27FC236}">
                  <a16:creationId xmlns:a16="http://schemas.microsoft.com/office/drawing/2014/main" id="{D143A9DB-141F-92D1-DFFD-C836F6D36E68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btfpColumnIndicator962490">
              <a:extLst>
                <a:ext uri="{FF2B5EF4-FFF2-40B4-BE49-F238E27FC236}">
                  <a16:creationId xmlns:a16="http://schemas.microsoft.com/office/drawing/2014/main" id="{BC1A3060-4B31-2AF2-1506-706CC9BC5BA5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Uma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célula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entra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estado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choque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quando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sinistros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superam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nível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esperado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para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sua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exposição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4" name="Painel esquema choque"/>
          <p:cNvSpPr/>
          <p:nvPr/>
        </p:nvSpPr>
        <p:spPr>
          <a:xfrm>
            <a:off x="685800" y="1691640"/>
            <a:ext cx="603504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Sinistros mensais de uma célula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87452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5A6672"/>
                </a:solidFill>
                <a:latin typeface="Arial"/>
              </a:rPr>
              <a:t>Esquema ilustrativo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2313432"/>
            <a:ext cx="457200" cy="0"/>
          </a:xfrm>
          <a:prstGeom prst="line">
            <a:avLst/>
          </a:prstGeom>
          <a:ln w="22225">
            <a:solidFill>
              <a:srgbClr val="1226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08760" y="21762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2263A"/>
                </a:solidFill>
                <a:latin typeface="Arial"/>
              </a:rPr>
              <a:t>P80 dos sinistros esperados</a:t>
            </a:r>
          </a:p>
        </p:txBody>
      </p:sp>
      <p:sp>
        <p:nvSpPr>
          <p:cNvPr id="9" name="Barra mês 1"/>
          <p:cNvSpPr/>
          <p:nvPr/>
        </p:nvSpPr>
        <p:spPr>
          <a:xfrm>
            <a:off x="1197864" y="4421124"/>
            <a:ext cx="324611" cy="928115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1" name="Barra mês 2"/>
          <p:cNvSpPr/>
          <p:nvPr/>
        </p:nvSpPr>
        <p:spPr>
          <a:xfrm>
            <a:off x="1632204" y="4235500"/>
            <a:ext cx="324611" cy="1113739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733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3" name="Barra mês 3"/>
          <p:cNvSpPr/>
          <p:nvPr/>
        </p:nvSpPr>
        <p:spPr>
          <a:xfrm>
            <a:off x="2066543" y="4553712"/>
            <a:ext cx="324611" cy="795527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7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5" name="Barra mês 4"/>
          <p:cNvSpPr/>
          <p:nvPr/>
        </p:nvSpPr>
        <p:spPr>
          <a:xfrm>
            <a:off x="2500884" y="3280867"/>
            <a:ext cx="324611" cy="2068372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6020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17" name="Barra mês 5"/>
          <p:cNvSpPr/>
          <p:nvPr/>
        </p:nvSpPr>
        <p:spPr>
          <a:xfrm>
            <a:off x="2935223" y="4288536"/>
            <a:ext cx="324611" cy="1060704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5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9" name="Barra mês 6"/>
          <p:cNvSpPr/>
          <p:nvPr/>
        </p:nvSpPr>
        <p:spPr>
          <a:xfrm>
            <a:off x="3369563" y="4474159"/>
            <a:ext cx="324611" cy="875080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469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1" name="Barra mês 7"/>
          <p:cNvSpPr/>
          <p:nvPr/>
        </p:nvSpPr>
        <p:spPr>
          <a:xfrm>
            <a:off x="3803903" y="4155948"/>
            <a:ext cx="324611" cy="1193291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3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3" name="Barra mês 8"/>
          <p:cNvSpPr/>
          <p:nvPr/>
        </p:nvSpPr>
        <p:spPr>
          <a:xfrm>
            <a:off x="4238243" y="2962656"/>
            <a:ext cx="324611" cy="2386583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8337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25" name="Barra mês 9"/>
          <p:cNvSpPr/>
          <p:nvPr/>
        </p:nvSpPr>
        <p:spPr>
          <a:xfrm>
            <a:off x="4672583" y="3705148"/>
            <a:ext cx="324611" cy="1644091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1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27" name="Barra mês 10"/>
          <p:cNvSpPr/>
          <p:nvPr/>
        </p:nvSpPr>
        <p:spPr>
          <a:xfrm>
            <a:off x="5106923" y="4341571"/>
            <a:ext cx="324611" cy="1007668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5205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9" name="Barra mês 11"/>
          <p:cNvSpPr/>
          <p:nvPr/>
        </p:nvSpPr>
        <p:spPr>
          <a:xfrm>
            <a:off x="5541263" y="4553712"/>
            <a:ext cx="324611" cy="795527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39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31" name="Barra mês 12"/>
          <p:cNvSpPr/>
          <p:nvPr/>
        </p:nvSpPr>
        <p:spPr>
          <a:xfrm>
            <a:off x="5975603" y="4262018"/>
            <a:ext cx="324611" cy="1087221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2073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cxnSp>
        <p:nvCxnSpPr>
          <p:cNvPr id="33" name="P80"/>
          <p:cNvCxnSpPr/>
          <p:nvPr/>
        </p:nvCxnSpPr>
        <p:spPr>
          <a:xfrm>
            <a:off x="1143000" y="3890772"/>
            <a:ext cx="5212079" cy="0"/>
          </a:xfrm>
          <a:prstGeom prst="line">
            <a:avLst/>
          </a:prstGeom>
          <a:ln w="22225">
            <a:solidFill>
              <a:srgbClr val="1226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42239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1">
                <a:solidFill>
                  <a:srgbClr val="5A6672"/>
                </a:solidFill>
                <a:latin typeface="Cambria"/>
              </a:rPr>
              <a:t>Ȳ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5349240"/>
            <a:ext cx="5212079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43000" y="5733288"/>
            <a:ext cx="5212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meses</a:t>
            </a:r>
          </a:p>
        </p:txBody>
      </p:sp>
      <p:sp>
        <p:nvSpPr>
          <p:cNvPr id="37" name="Oval 36"/>
          <p:cNvSpPr/>
          <p:nvPr/>
        </p:nvSpPr>
        <p:spPr>
          <a:xfrm>
            <a:off x="7040880" y="1783080"/>
            <a:ext cx="457200" cy="457200"/>
          </a:xfrm>
          <a:prstGeom prst="ellipse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1746504"/>
            <a:ext cx="382219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Observado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112264"/>
            <a:ext cx="38221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Sinistros da célula no mês, </a:t>
            </a:r>
            <a:r>
              <a:rPr sz="1400" b="1" i="1">
                <a:solidFill>
                  <a:srgbClr val="1B1B1B"/>
                </a:solidFill>
                <a:latin typeface="Cambria"/>
              </a:rPr>
              <a:t>Y</a:t>
            </a:r>
            <a:r>
              <a:rPr sz="1400" b="1" i="1" baseline="-25000">
                <a:solidFill>
                  <a:srgbClr val="1B1B1B"/>
                </a:solidFill>
                <a:latin typeface="Cambria"/>
              </a:rPr>
              <a:t>g,t</a:t>
            </a:r>
          </a:p>
        </p:txBody>
      </p:sp>
      <p:sp>
        <p:nvSpPr>
          <p:cNvPr id="40" name="Oval 39"/>
          <p:cNvSpPr/>
          <p:nvPr/>
        </p:nvSpPr>
        <p:spPr>
          <a:xfrm>
            <a:off x="7040880" y="2697480"/>
            <a:ext cx="457200" cy="4572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60904"/>
            <a:ext cx="382219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Referência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026664"/>
            <a:ext cx="38221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Frequência média da carteira ajustada pelo nº de casas seguradas na célula</a:t>
            </a:r>
          </a:p>
        </p:txBody>
      </p:sp>
      <p:sp>
        <p:nvSpPr>
          <p:cNvPr id="43" name="Fórmula esperados"/>
          <p:cNvSpPr/>
          <p:nvPr/>
        </p:nvSpPr>
        <p:spPr>
          <a:xfrm>
            <a:off x="7680960" y="3675887"/>
            <a:ext cx="3822191" cy="4572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 i="0">
                <a:solidFill>
                  <a:srgbClr val="12263A"/>
                </a:solidFill>
                <a:latin typeface="Arial"/>
              </a:rPr>
              <a:t>Esperados = Frequência média × Casas seguradas</a:t>
            </a:r>
          </a:p>
        </p:txBody>
      </p:sp>
      <p:sp>
        <p:nvSpPr>
          <p:cNvPr id="44" name="Oval 43"/>
          <p:cNvSpPr/>
          <p:nvPr/>
        </p:nvSpPr>
        <p:spPr>
          <a:xfrm>
            <a:off x="7040880" y="4343400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306824"/>
            <a:ext cx="382219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D55E00"/>
                </a:solidFill>
                <a:latin typeface="Arial"/>
              </a:rPr>
              <a:t>Choque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672584"/>
            <a:ext cx="38221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Observado acima do percentil 80 do esperado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138928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1">
                <a:solidFill>
                  <a:srgbClr val="12263A"/>
                </a:solidFill>
                <a:latin typeface="Cambria"/>
              </a:rPr>
              <a:t>Ȳ</a:t>
            </a:r>
            <a:r>
              <a:rPr sz="1700" b="1" i="1" baseline="-25000">
                <a:solidFill>
                  <a:srgbClr val="12263A"/>
                </a:solidFill>
                <a:latin typeface="Cambria"/>
              </a:rPr>
              <a:t>g,t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138928"/>
            <a:ext cx="228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2263A"/>
                </a:solidFill>
                <a:latin typeface="Cambria"/>
              </a:rPr>
              <a:t>=</a:t>
            </a:r>
          </a:p>
        </p:txBody>
      </p:sp>
      <p:sp>
        <p:nvSpPr>
          <p:cNvPr id="49" name="Chave"/>
          <p:cNvSpPr/>
          <p:nvPr/>
        </p:nvSpPr>
        <p:spPr>
          <a:xfrm>
            <a:off x="8458200" y="5120640"/>
            <a:ext cx="128016" cy="603504"/>
          </a:xfrm>
          <a:prstGeom prst="leftBrace">
            <a:avLst/>
          </a:prstGeom>
          <a:noFill/>
          <a:ln w="15875">
            <a:solidFill>
              <a:srgbClr val="1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59368" y="51206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Cambria"/>
              </a:rPr>
              <a:t>1</a:t>
            </a:r>
            <a:r>
              <a:rPr sz="1400" b="0" i="0">
                <a:solidFill>
                  <a:srgbClr val="1B1B1B"/>
                </a:solidFill>
                <a:latin typeface="Cambria"/>
              </a:rPr>
              <a:t>   se observado &gt; P80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59368" y="54315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A6672"/>
                </a:solidFill>
                <a:latin typeface="Cambria"/>
              </a:rPr>
              <a:t>0</a:t>
            </a:r>
            <a:r>
              <a:rPr sz="1400" b="0" i="0">
                <a:solidFill>
                  <a:srgbClr val="1B1B1B"/>
                </a:solidFill>
                <a:latin typeface="Cambria"/>
              </a:rPr>
              <a:t>   caso contrário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108192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A6672"/>
                </a:solidFill>
                <a:latin typeface="Arial"/>
              </a:rPr>
              <a:t>P80: percentil 80 de uma Poisson com média igual aos sinistros esperados (Gudmundarson et al., 2026).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78E45A5A-382C-0557-22BA-A3DCE392A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64" name="Slide Number Placeholder 5">
            <a:extLst>
              <a:ext uri="{FF2B5EF4-FFF2-40B4-BE49-F238E27FC236}">
                <a16:creationId xmlns:a16="http://schemas.microsoft.com/office/drawing/2014/main" id="{B282039C-5D26-27ED-96FD-AE7A18680736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9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btfpColumnIndicatorGroup2">
            <a:extLst>
              <a:ext uri="{FF2B5EF4-FFF2-40B4-BE49-F238E27FC236}">
                <a16:creationId xmlns:a16="http://schemas.microsoft.com/office/drawing/2014/main" id="{9D28FCBF-3E1C-D914-324D-4643CEC528B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7" name="btfpColumnGapBlocker976575">
              <a:extLst>
                <a:ext uri="{FF2B5EF4-FFF2-40B4-BE49-F238E27FC236}">
                  <a16:creationId xmlns:a16="http://schemas.microsoft.com/office/drawing/2014/main" id="{68F7E083-8248-286D-45C9-63AA5A9196EA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btfpColumnGapBlocker750230">
              <a:extLst>
                <a:ext uri="{FF2B5EF4-FFF2-40B4-BE49-F238E27FC236}">
                  <a16:creationId xmlns:a16="http://schemas.microsoft.com/office/drawing/2014/main" id="{1C9968D2-BF6D-C223-788F-BD211E8C9DAA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3" name="btfpColumnIndicator807459">
              <a:extLst>
                <a:ext uri="{FF2B5EF4-FFF2-40B4-BE49-F238E27FC236}">
                  <a16:creationId xmlns:a16="http://schemas.microsoft.com/office/drawing/2014/main" id="{00ADCFF8-C66E-3D7C-D038-8542FDA1A94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btfpColumnIndicator321780">
              <a:extLst>
                <a:ext uri="{FF2B5EF4-FFF2-40B4-BE49-F238E27FC236}">
                  <a16:creationId xmlns:a16="http://schemas.microsoft.com/office/drawing/2014/main" id="{49DB71BD-2348-BC18-74C4-8A684EB92743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btfpColumnIndicatorGroup1">
            <a:extLst>
              <a:ext uri="{FF2B5EF4-FFF2-40B4-BE49-F238E27FC236}">
                <a16:creationId xmlns:a16="http://schemas.microsoft.com/office/drawing/2014/main" id="{28AE0FFC-909B-96D2-D934-01CDD1B59D1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6" name="btfpColumnGapBlocker817860">
              <a:extLst>
                <a:ext uri="{FF2B5EF4-FFF2-40B4-BE49-F238E27FC236}">
                  <a16:creationId xmlns:a16="http://schemas.microsoft.com/office/drawing/2014/main" id="{5A6D9BA2-A887-C15A-CBA6-73068DC77F58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btfpColumnGapBlocker135804">
              <a:extLst>
                <a:ext uri="{FF2B5EF4-FFF2-40B4-BE49-F238E27FC236}">
                  <a16:creationId xmlns:a16="http://schemas.microsoft.com/office/drawing/2014/main" id="{F4D60E1C-D8DB-E709-6043-0E5AD96F9D84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2" name="btfpColumnIndicator406048">
              <a:extLst>
                <a:ext uri="{FF2B5EF4-FFF2-40B4-BE49-F238E27FC236}">
                  <a16:creationId xmlns:a16="http://schemas.microsoft.com/office/drawing/2014/main" id="{26FC71EC-82C4-3ED0-A69D-FCA620C3D5A2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btfpColumnIndicator684327">
              <a:extLst>
                <a:ext uri="{FF2B5EF4-FFF2-40B4-BE49-F238E27FC236}">
                  <a16:creationId xmlns:a16="http://schemas.microsoft.com/office/drawing/2014/main" id="{AD61AB28-5914-0D56-9DCC-FC63866E3AED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 err="1">
                <a:solidFill>
                  <a:srgbClr val="12263A"/>
                </a:solidFill>
                <a:latin typeface="Arial"/>
              </a:rPr>
              <a:t>Construímos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um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painel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mensal de 25 </a:t>
            </a:r>
            <a:r>
              <a:rPr lang="en-US" sz="2600" b="1" i="0" dirty="0" err="1">
                <a:solidFill>
                  <a:srgbClr val="12263A"/>
                </a:solidFill>
                <a:latin typeface="Arial"/>
              </a:rPr>
              <a:t>células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no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entorno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Taquari (RS) para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testar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abordagem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Área r0c0"/>
          <p:cNvSpPr/>
          <p:nvPr/>
        </p:nvSpPr>
        <p:spPr>
          <a:xfrm>
            <a:off x="868680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Área r0c1"/>
          <p:cNvSpPr/>
          <p:nvPr/>
        </p:nvSpPr>
        <p:spPr>
          <a:xfrm>
            <a:off x="1581912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Área r0c2"/>
          <p:cNvSpPr/>
          <p:nvPr/>
        </p:nvSpPr>
        <p:spPr>
          <a:xfrm>
            <a:off x="2295144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Área r0c3"/>
          <p:cNvSpPr/>
          <p:nvPr/>
        </p:nvSpPr>
        <p:spPr>
          <a:xfrm>
            <a:off x="3008376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Área r0c4"/>
          <p:cNvSpPr/>
          <p:nvPr/>
        </p:nvSpPr>
        <p:spPr>
          <a:xfrm>
            <a:off x="3721608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Área r1c0"/>
          <p:cNvSpPr/>
          <p:nvPr/>
        </p:nvSpPr>
        <p:spPr>
          <a:xfrm>
            <a:off x="868680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Área r1c1"/>
          <p:cNvSpPr/>
          <p:nvPr/>
        </p:nvSpPr>
        <p:spPr>
          <a:xfrm>
            <a:off x="1581912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Área r1c2"/>
          <p:cNvSpPr/>
          <p:nvPr/>
        </p:nvSpPr>
        <p:spPr>
          <a:xfrm>
            <a:off x="2295144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Área r1c3"/>
          <p:cNvSpPr/>
          <p:nvPr/>
        </p:nvSpPr>
        <p:spPr>
          <a:xfrm>
            <a:off x="3008376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Área r1c4"/>
          <p:cNvSpPr/>
          <p:nvPr/>
        </p:nvSpPr>
        <p:spPr>
          <a:xfrm>
            <a:off x="3721608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Área r2c0"/>
          <p:cNvSpPr/>
          <p:nvPr/>
        </p:nvSpPr>
        <p:spPr>
          <a:xfrm>
            <a:off x="868680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Área r2c1"/>
          <p:cNvSpPr/>
          <p:nvPr/>
        </p:nvSpPr>
        <p:spPr>
          <a:xfrm>
            <a:off x="1581912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Área r2c2"/>
          <p:cNvSpPr/>
          <p:nvPr/>
        </p:nvSpPr>
        <p:spPr>
          <a:xfrm>
            <a:off x="2295144" y="3300984"/>
            <a:ext cx="676656" cy="676656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Taquari</a:t>
            </a:r>
          </a:p>
        </p:txBody>
      </p:sp>
      <p:sp>
        <p:nvSpPr>
          <p:cNvPr id="19" name="Área r2c3"/>
          <p:cNvSpPr/>
          <p:nvPr/>
        </p:nvSpPr>
        <p:spPr>
          <a:xfrm>
            <a:off x="3008376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Área r2c4"/>
          <p:cNvSpPr/>
          <p:nvPr/>
        </p:nvSpPr>
        <p:spPr>
          <a:xfrm>
            <a:off x="3721608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Área r3c0"/>
          <p:cNvSpPr/>
          <p:nvPr/>
        </p:nvSpPr>
        <p:spPr>
          <a:xfrm>
            <a:off x="868680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Área r3c1"/>
          <p:cNvSpPr/>
          <p:nvPr/>
        </p:nvSpPr>
        <p:spPr>
          <a:xfrm>
            <a:off x="1581912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Área r3c2"/>
          <p:cNvSpPr/>
          <p:nvPr/>
        </p:nvSpPr>
        <p:spPr>
          <a:xfrm>
            <a:off x="2295144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Área r3c3"/>
          <p:cNvSpPr/>
          <p:nvPr/>
        </p:nvSpPr>
        <p:spPr>
          <a:xfrm>
            <a:off x="3008376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Área r3c4"/>
          <p:cNvSpPr/>
          <p:nvPr/>
        </p:nvSpPr>
        <p:spPr>
          <a:xfrm>
            <a:off x="3721608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Área r4c0"/>
          <p:cNvSpPr/>
          <p:nvPr/>
        </p:nvSpPr>
        <p:spPr>
          <a:xfrm>
            <a:off x="868680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Área r4c1"/>
          <p:cNvSpPr/>
          <p:nvPr/>
        </p:nvSpPr>
        <p:spPr>
          <a:xfrm>
            <a:off x="1581912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Área r4c2"/>
          <p:cNvSpPr/>
          <p:nvPr/>
        </p:nvSpPr>
        <p:spPr>
          <a:xfrm>
            <a:off x="2295144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Área r4c3"/>
          <p:cNvSpPr/>
          <p:nvPr/>
        </p:nvSpPr>
        <p:spPr>
          <a:xfrm>
            <a:off x="3008376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Área r4c4"/>
          <p:cNvSpPr/>
          <p:nvPr/>
        </p:nvSpPr>
        <p:spPr>
          <a:xfrm>
            <a:off x="3721608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" y="1874519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" y="2587752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95144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19" y="3300984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19" y="4014215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8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19" y="4727448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2</a:t>
            </a:r>
          </a:p>
        </p:txBody>
      </p:sp>
      <p:sp>
        <p:nvSpPr>
          <p:cNvPr id="42" name="KPI grids em malha 5×5"/>
          <p:cNvSpPr/>
          <p:nvPr/>
        </p:nvSpPr>
        <p:spPr>
          <a:xfrm>
            <a:off x="5669280" y="1783080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97880" y="1920240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2514600"/>
            <a:ext cx="244144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s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em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malha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5×5</a:t>
            </a:r>
          </a:p>
        </p:txBody>
      </p:sp>
      <p:sp>
        <p:nvSpPr>
          <p:cNvPr id="45" name="KPI meses: jan/2001 a dez/2025"/>
          <p:cNvSpPr/>
          <p:nvPr/>
        </p:nvSpPr>
        <p:spPr>
          <a:xfrm>
            <a:off x="8705088" y="1783080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33688" y="1920240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3688" y="2514600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meses: jan/2001 a dez/2025</a:t>
            </a:r>
          </a:p>
        </p:txBody>
      </p:sp>
      <p:sp>
        <p:nvSpPr>
          <p:cNvPr id="48" name="KPI observações grid-mês"/>
          <p:cNvSpPr/>
          <p:nvPr/>
        </p:nvSpPr>
        <p:spPr>
          <a:xfrm>
            <a:off x="5669280" y="3227832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97880" y="3364991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7.500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3959352"/>
            <a:ext cx="244144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5A6672"/>
                </a:solidFill>
                <a:latin typeface="Arial"/>
              </a:rPr>
              <a:t>observações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3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-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mês</a:t>
            </a:r>
            <a:endParaRPr sz="1300" b="0" i="0" dirty="0">
              <a:solidFill>
                <a:srgbClr val="5A6672"/>
              </a:solidFill>
              <a:latin typeface="Arial"/>
            </a:endParaRPr>
          </a:p>
        </p:txBody>
      </p:sp>
      <p:sp>
        <p:nvSpPr>
          <p:cNvPr id="51" name="KPI sinistros no período"/>
          <p:cNvSpPr/>
          <p:nvPr/>
        </p:nvSpPr>
        <p:spPr>
          <a:xfrm>
            <a:off x="8705088" y="3227832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33688" y="3364991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12.855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33688" y="3959352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sinistros no período</a:t>
            </a:r>
          </a:p>
        </p:txBody>
      </p:sp>
      <p:sp>
        <p:nvSpPr>
          <p:cNvPr id="54" name="KPI domicílios segurados (exposição média mensal)"/>
          <p:cNvSpPr/>
          <p:nvPr/>
        </p:nvSpPr>
        <p:spPr>
          <a:xfrm>
            <a:off x="5669280" y="4672583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97880" y="4809744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15.000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5404103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domicílios segurados (exposição média mensal)</a:t>
            </a:r>
          </a:p>
        </p:txBody>
      </p:sp>
      <p:sp>
        <p:nvSpPr>
          <p:cNvPr id="57" name="KPI unidade de observação"/>
          <p:cNvSpPr/>
          <p:nvPr/>
        </p:nvSpPr>
        <p:spPr>
          <a:xfrm>
            <a:off x="8705088" y="4672583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33688" y="4908542"/>
            <a:ext cx="244144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400" b="1" i="0" dirty="0" err="1">
                <a:solidFill>
                  <a:srgbClr val="FFFFFF"/>
                </a:solidFill>
                <a:latin typeface="Arial"/>
              </a:rPr>
              <a:t>célula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 × </a:t>
            </a:r>
            <a:r>
              <a:rPr sz="2400" b="1" i="0" dirty="0" err="1">
                <a:solidFill>
                  <a:srgbClr val="FFFFFF"/>
                </a:solidFill>
                <a:latin typeface="Arial"/>
              </a:rPr>
              <a:t>mês</a:t>
            </a:r>
            <a:endParaRPr sz="2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933688" y="5404103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6E2"/>
                </a:solidFill>
                <a:latin typeface="Arial"/>
              </a:rPr>
              <a:t>unidade de observação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ECB12742-6BB0-04C4-57B7-9A1E4BAB1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29D8A159-C85C-42C3-CBFA-EF8DA3606BBD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10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btfpColumnIndicatorGroup2">
            <a:extLst>
              <a:ext uri="{FF2B5EF4-FFF2-40B4-BE49-F238E27FC236}">
                <a16:creationId xmlns:a16="http://schemas.microsoft.com/office/drawing/2014/main" id="{570DBF44-1415-016D-ED30-0DBCC98BC83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3" name="btfpColumnGapBlocker385421">
              <a:extLst>
                <a:ext uri="{FF2B5EF4-FFF2-40B4-BE49-F238E27FC236}">
                  <a16:creationId xmlns:a16="http://schemas.microsoft.com/office/drawing/2014/main" id="{F9F0B374-FE05-9921-AF23-B17C5CBECDC1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btfpColumnGapBlocker104061">
              <a:extLst>
                <a:ext uri="{FF2B5EF4-FFF2-40B4-BE49-F238E27FC236}">
                  <a16:creationId xmlns:a16="http://schemas.microsoft.com/office/drawing/2014/main" id="{0E20356B-783E-D8AA-1364-A42B21FF8B2B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9" name="btfpColumnIndicator112743">
              <a:extLst>
                <a:ext uri="{FF2B5EF4-FFF2-40B4-BE49-F238E27FC236}">
                  <a16:creationId xmlns:a16="http://schemas.microsoft.com/office/drawing/2014/main" id="{E76F0580-A0C7-2CA4-2842-CF3331DA5304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btfpColumnIndicator873144">
              <a:extLst>
                <a:ext uri="{FF2B5EF4-FFF2-40B4-BE49-F238E27FC236}">
                  <a16:creationId xmlns:a16="http://schemas.microsoft.com/office/drawing/2014/main" id="{632EA4E8-18A0-0211-D1D8-53E4DF1495ED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btfpColumnIndicatorGroup1">
            <a:extLst>
              <a:ext uri="{FF2B5EF4-FFF2-40B4-BE49-F238E27FC236}">
                <a16:creationId xmlns:a16="http://schemas.microsoft.com/office/drawing/2014/main" id="{B49B1D31-E2E9-3CDE-8B12-B74584D70C0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2" name="btfpColumnGapBlocker185021">
              <a:extLst>
                <a:ext uri="{FF2B5EF4-FFF2-40B4-BE49-F238E27FC236}">
                  <a16:creationId xmlns:a16="http://schemas.microsoft.com/office/drawing/2014/main" id="{5EE9F2C2-6432-17D6-40D2-ED303156173B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btfpColumnGapBlocker736975">
              <a:extLst>
                <a:ext uri="{FF2B5EF4-FFF2-40B4-BE49-F238E27FC236}">
                  <a16:creationId xmlns:a16="http://schemas.microsoft.com/office/drawing/2014/main" id="{F4D9098F-A037-DD2C-F179-E10BA4209B17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8" name="btfpColumnIndicator441493">
              <a:extLst>
                <a:ext uri="{FF2B5EF4-FFF2-40B4-BE49-F238E27FC236}">
                  <a16:creationId xmlns:a16="http://schemas.microsoft.com/office/drawing/2014/main" id="{78842E2B-1505-3A66-BEAF-752FF92A3F14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btfpColumnIndicator392398">
              <a:extLst>
                <a:ext uri="{FF2B5EF4-FFF2-40B4-BE49-F238E27FC236}">
                  <a16:creationId xmlns:a16="http://schemas.microsoft.com/office/drawing/2014/main" id="{18568D86-ABE2-6B1F-41B1-831A2006F194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Cada </a:t>
            </a:r>
            <a:r>
              <a:rPr lang="pt-BR" sz="2600" b="1" i="0" dirty="0">
                <a:solidFill>
                  <a:srgbClr val="12263A"/>
                </a:solidFill>
                <a:latin typeface="Arial"/>
              </a:rPr>
              <a:t>célula-mês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combina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exposição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clima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composição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carteira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número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sinistros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Faixa linha da base"/>
          <p:cNvSpPr/>
          <p:nvPr/>
        </p:nvSpPr>
        <p:spPr>
          <a:xfrm>
            <a:off x="685800" y="1691640"/>
            <a:ext cx="10817352" cy="45720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Uma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linha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da base  =  </a:t>
            </a:r>
            <a:r>
              <a:rPr lang="pt-BR" sz="1600" b="1" i="0" dirty="0">
                <a:solidFill>
                  <a:srgbClr val="FFFFFF"/>
                </a:solidFill>
                <a:latin typeface="Arial"/>
              </a:rPr>
              <a:t>célula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g  × 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mês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t</a:t>
            </a:r>
          </a:p>
        </p:txBody>
      </p:sp>
      <p:sp>
        <p:nvSpPr>
          <p:cNvPr id="7" name="Grupo Identificação"/>
          <p:cNvSpPr/>
          <p:nvPr/>
        </p:nvSpPr>
        <p:spPr>
          <a:xfrm>
            <a:off x="685800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Arial"/>
              </a:rPr>
              <a:t>Identificação</a:t>
            </a:r>
          </a:p>
        </p:txBody>
      </p:sp>
      <p:sp>
        <p:nvSpPr>
          <p:cNvPr id="9" name="Var Grid (25)"/>
          <p:cNvSpPr/>
          <p:nvPr/>
        </p:nvSpPr>
        <p:spPr>
          <a:xfrm>
            <a:off x="822960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Células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(25)</a:t>
            </a:r>
          </a:p>
        </p:txBody>
      </p:sp>
      <p:sp>
        <p:nvSpPr>
          <p:cNvPr id="10" name="Var Mês (300)"/>
          <p:cNvSpPr/>
          <p:nvPr/>
        </p:nvSpPr>
        <p:spPr>
          <a:xfrm>
            <a:off x="822960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Mês (300)</a:t>
            </a:r>
          </a:p>
        </p:txBody>
      </p:sp>
      <p:sp>
        <p:nvSpPr>
          <p:cNvPr id="11" name="Grupo Sinistros e exposição"/>
          <p:cNvSpPr/>
          <p:nvPr/>
        </p:nvSpPr>
        <p:spPr>
          <a:xfrm>
            <a:off x="2882188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6780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263A"/>
                </a:solidFill>
                <a:latin typeface="Arial"/>
              </a:rPr>
              <a:t>Sinistros e exposição</a:t>
            </a:r>
          </a:p>
        </p:txBody>
      </p:sp>
      <p:sp>
        <p:nvSpPr>
          <p:cNvPr id="13" name="Var Y: nº de sinistros"/>
          <p:cNvSpPr/>
          <p:nvPr/>
        </p:nvSpPr>
        <p:spPr>
          <a:xfrm>
            <a:off x="3019348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Y: nº de sinistros</a:t>
            </a:r>
          </a:p>
        </p:txBody>
      </p:sp>
      <p:sp>
        <p:nvSpPr>
          <p:cNvPr id="14" name="Var E: domicílios segurados"/>
          <p:cNvSpPr/>
          <p:nvPr/>
        </p:nvSpPr>
        <p:spPr>
          <a:xfrm>
            <a:off x="3019348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E: domicílios segurados</a:t>
            </a:r>
          </a:p>
        </p:txBody>
      </p:sp>
      <p:sp>
        <p:nvSpPr>
          <p:cNvPr id="15" name="Grupo Clima"/>
          <p:cNvSpPr/>
          <p:nvPr/>
        </p:nvSpPr>
        <p:spPr>
          <a:xfrm>
            <a:off x="5078577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43169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Arial"/>
              </a:rPr>
              <a:t>Clima</a:t>
            </a:r>
          </a:p>
        </p:txBody>
      </p:sp>
      <p:sp>
        <p:nvSpPr>
          <p:cNvPr id="17" name="Var Precipitação mensal"/>
          <p:cNvSpPr/>
          <p:nvPr/>
        </p:nvSpPr>
        <p:spPr>
          <a:xfrm>
            <a:off x="5215737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mensal</a:t>
            </a:r>
          </a:p>
        </p:txBody>
      </p:sp>
      <p:sp>
        <p:nvSpPr>
          <p:cNvPr id="18" name="Var Precipitação máxima"/>
          <p:cNvSpPr/>
          <p:nvPr/>
        </p:nvSpPr>
        <p:spPr>
          <a:xfrm>
            <a:off x="5215737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máxima</a:t>
            </a:r>
          </a:p>
        </p:txBody>
      </p:sp>
      <p:sp>
        <p:nvSpPr>
          <p:cNvPr id="19" name="Var Dias extremos"/>
          <p:cNvSpPr/>
          <p:nvPr/>
        </p:nvSpPr>
        <p:spPr>
          <a:xfrm>
            <a:off x="5215737" y="3785615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Dias extremos</a:t>
            </a:r>
          </a:p>
        </p:txBody>
      </p:sp>
      <p:sp>
        <p:nvSpPr>
          <p:cNvPr id="20" name="Var Precipitação em t−1"/>
          <p:cNvSpPr/>
          <p:nvPr/>
        </p:nvSpPr>
        <p:spPr>
          <a:xfrm>
            <a:off x="5215737" y="4169663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em t−1</a:t>
            </a:r>
          </a:p>
        </p:txBody>
      </p:sp>
      <p:sp>
        <p:nvSpPr>
          <p:cNvPr id="21" name="Grupo Carteira"/>
          <p:cNvSpPr/>
          <p:nvPr/>
        </p:nvSpPr>
        <p:spPr>
          <a:xfrm>
            <a:off x="7274966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39558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Arial"/>
              </a:rPr>
              <a:t>Carteira</a:t>
            </a:r>
          </a:p>
        </p:txBody>
      </p:sp>
      <p:sp>
        <p:nvSpPr>
          <p:cNvPr id="23" name="Var % imóveis com 2 pisos"/>
          <p:cNvSpPr/>
          <p:nvPr/>
        </p:nvSpPr>
        <p:spPr>
          <a:xfrm>
            <a:off x="7412126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imóveis com 2 pisos</a:t>
            </a:r>
          </a:p>
        </p:txBody>
      </p:sp>
      <p:sp>
        <p:nvSpPr>
          <p:cNvPr id="24" name="Var % imóveis com 3+ pisos"/>
          <p:cNvSpPr/>
          <p:nvPr/>
        </p:nvSpPr>
        <p:spPr>
          <a:xfrm>
            <a:off x="7412126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imóveis com 3+ pisos</a:t>
            </a:r>
          </a:p>
        </p:txBody>
      </p:sp>
      <p:sp>
        <p:nvSpPr>
          <p:cNvPr id="25" name="Var % qualidade média"/>
          <p:cNvSpPr/>
          <p:nvPr/>
        </p:nvSpPr>
        <p:spPr>
          <a:xfrm>
            <a:off x="7412126" y="3785615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qualidade média</a:t>
            </a:r>
          </a:p>
        </p:txBody>
      </p:sp>
      <p:sp>
        <p:nvSpPr>
          <p:cNvPr id="26" name="Var % qualidade baixa"/>
          <p:cNvSpPr/>
          <p:nvPr/>
        </p:nvSpPr>
        <p:spPr>
          <a:xfrm>
            <a:off x="7412126" y="4169663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qualidade baixa</a:t>
            </a:r>
          </a:p>
        </p:txBody>
      </p:sp>
      <p:sp>
        <p:nvSpPr>
          <p:cNvPr id="27" name="Var % idade 11–20 anos"/>
          <p:cNvSpPr/>
          <p:nvPr/>
        </p:nvSpPr>
        <p:spPr>
          <a:xfrm>
            <a:off x="7412126" y="4553712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11–20 anos</a:t>
            </a:r>
          </a:p>
        </p:txBody>
      </p:sp>
      <p:sp>
        <p:nvSpPr>
          <p:cNvPr id="28" name="Var % idade 21–30 anos"/>
          <p:cNvSpPr/>
          <p:nvPr/>
        </p:nvSpPr>
        <p:spPr>
          <a:xfrm>
            <a:off x="7412126" y="493776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21–30 anos</a:t>
            </a:r>
          </a:p>
        </p:txBody>
      </p:sp>
      <p:sp>
        <p:nvSpPr>
          <p:cNvPr id="29" name="Var % idade 30+ anos"/>
          <p:cNvSpPr/>
          <p:nvPr/>
        </p:nvSpPr>
        <p:spPr>
          <a:xfrm>
            <a:off x="7412126" y="532180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30+ anos</a:t>
            </a:r>
          </a:p>
        </p:txBody>
      </p:sp>
      <p:sp>
        <p:nvSpPr>
          <p:cNvPr id="30" name="Grupo Espacial"/>
          <p:cNvSpPr/>
          <p:nvPr/>
        </p:nvSpPr>
        <p:spPr>
          <a:xfrm>
            <a:off x="9471355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35947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Espacial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5947" y="3456432"/>
            <a:ext cx="17574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Arial"/>
              </a:rPr>
              <a:t>apenas no SP-NB</a:t>
            </a:r>
          </a:p>
        </p:txBody>
      </p:sp>
      <p:sp>
        <p:nvSpPr>
          <p:cNvPr id="33" name="Var Vizinhos em choque, t−1"/>
          <p:cNvSpPr/>
          <p:nvPr/>
        </p:nvSpPr>
        <p:spPr>
          <a:xfrm>
            <a:off x="9608515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Vizinhos em choque, t−1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70448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Arial"/>
              </a:rPr>
              <a:t>Covariáveis padronizadas (z-score) antes do ajuste.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FD9DFA82-C968-0357-568B-DD932D6D8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131EFEB7-ECEF-3A06-29B7-822424E52F0A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11</a:t>
            </a:fld>
            <a:endParaRPr lang="pt-B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3AC403-7C09-3C3D-0676-3347AE2FDE15}"/>
              </a:ext>
            </a:extLst>
          </p:cNvPr>
          <p:cNvSpPr txBox="1"/>
          <p:nvPr/>
        </p:nvSpPr>
        <p:spPr>
          <a:xfrm>
            <a:off x="685800" y="6166485"/>
            <a:ext cx="6858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rgbClr val="5A6672"/>
                </a:solidFill>
                <a:latin typeface="Arial"/>
              </a:rPr>
              <a:t>Fonte: 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CHIRPS (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Climate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Hazards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Center, UC Santa Barbara).</a:t>
            </a:r>
            <a:endParaRPr sz="1000" b="0" i="0" dirty="0">
              <a:solidFill>
                <a:srgbClr val="5A6672"/>
              </a:solidFill>
              <a:latin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btfpColumnIndicatorGroup2">
            <a:extLst>
              <a:ext uri="{FF2B5EF4-FFF2-40B4-BE49-F238E27FC236}">
                <a16:creationId xmlns:a16="http://schemas.microsoft.com/office/drawing/2014/main" id="{2387B2D0-D8AD-928D-81F0-BE87519125D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1" name="btfpColumnGapBlocker420861">
              <a:extLst>
                <a:ext uri="{FF2B5EF4-FFF2-40B4-BE49-F238E27FC236}">
                  <a16:creationId xmlns:a16="http://schemas.microsoft.com/office/drawing/2014/main" id="{0D12824E-CC9B-70FB-F761-67EB867447A1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btfpColumnGapBlocker875770">
              <a:extLst>
                <a:ext uri="{FF2B5EF4-FFF2-40B4-BE49-F238E27FC236}">
                  <a16:creationId xmlns:a16="http://schemas.microsoft.com/office/drawing/2014/main" id="{02CB7F3C-0810-5A1E-E4CA-A51FA6639CCB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7" name="btfpColumnIndicator859157">
              <a:extLst>
                <a:ext uri="{FF2B5EF4-FFF2-40B4-BE49-F238E27FC236}">
                  <a16:creationId xmlns:a16="http://schemas.microsoft.com/office/drawing/2014/main" id="{857087D6-A0CF-1748-3D66-EF6DE168416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347715">
              <a:extLst>
                <a:ext uri="{FF2B5EF4-FFF2-40B4-BE49-F238E27FC236}">
                  <a16:creationId xmlns:a16="http://schemas.microsoft.com/office/drawing/2014/main" id="{3B5A737C-CBFF-EE7B-E8F8-295303F1CCF6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btfpColumnIndicatorGroup1">
            <a:extLst>
              <a:ext uri="{FF2B5EF4-FFF2-40B4-BE49-F238E27FC236}">
                <a16:creationId xmlns:a16="http://schemas.microsoft.com/office/drawing/2014/main" id="{6F8C61DF-18C9-2224-2CF4-12C056567DB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0" name="btfpColumnGapBlocker152603">
              <a:extLst>
                <a:ext uri="{FF2B5EF4-FFF2-40B4-BE49-F238E27FC236}">
                  <a16:creationId xmlns:a16="http://schemas.microsoft.com/office/drawing/2014/main" id="{E6DB6C6E-1C8F-CF30-DAED-61FF708352A3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btfpColumnGapBlocker330132">
              <a:extLst>
                <a:ext uri="{FF2B5EF4-FFF2-40B4-BE49-F238E27FC236}">
                  <a16:creationId xmlns:a16="http://schemas.microsoft.com/office/drawing/2014/main" id="{ACA85F75-B704-6807-5C1B-58F155365833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6" name="btfpColumnIndicator632402">
              <a:extLst>
                <a:ext uri="{FF2B5EF4-FFF2-40B4-BE49-F238E27FC236}">
                  <a16:creationId xmlns:a16="http://schemas.microsoft.com/office/drawing/2014/main" id="{D358E4F8-0938-1D43-5F0F-8C8652AEC95F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btfpColumnIndicator517069">
              <a:extLst>
                <a:ext uri="{FF2B5EF4-FFF2-40B4-BE49-F238E27FC236}">
                  <a16:creationId xmlns:a16="http://schemas.microsoft.com/office/drawing/2014/main" id="{772DB05C-2F44-6F5B-7F76-0862E8CCE9C9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NB, Random Forest e SP-NB Queen são comparados sobre a mesma base e o mesmo período de 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263A"/>
                </a:solidFill>
                <a:latin typeface="Arial"/>
              </a:rPr>
              <a:t>Divisão temporal</a:t>
            </a:r>
          </a:p>
        </p:txBody>
      </p:sp>
      <p:sp>
        <p:nvSpPr>
          <p:cNvPr id="7" name="Treino"/>
          <p:cNvSpPr/>
          <p:nvPr/>
        </p:nvSpPr>
        <p:spPr>
          <a:xfrm>
            <a:off x="685800" y="2011680"/>
            <a:ext cx="8617305" cy="566928"/>
          </a:xfrm>
          <a:prstGeom prst="roundRect">
            <a:avLst>
              <a:gd name="adj" fmla="val 10000"/>
            </a:avLst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Treino  2001–2020   ·   6.000 obs.   ·   9.954 sinistros</a:t>
            </a:r>
          </a:p>
        </p:txBody>
      </p:sp>
      <p:sp>
        <p:nvSpPr>
          <p:cNvPr id="8" name="Teste"/>
          <p:cNvSpPr/>
          <p:nvPr/>
        </p:nvSpPr>
        <p:spPr>
          <a:xfrm>
            <a:off x="9339681" y="2011680"/>
            <a:ext cx="2163470" cy="566928"/>
          </a:xfrm>
          <a:prstGeom prst="roundRect">
            <a:avLst>
              <a:gd name="adj" fmla="val 10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Teste  2021–2025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1.500 obs. · 2.901 sinistros</a:t>
            </a:r>
          </a:p>
        </p:txBody>
      </p:sp>
      <p:sp>
        <p:nvSpPr>
          <p:cNvPr id="9" name="Modelo Negative Binomial"/>
          <p:cNvSpPr/>
          <p:nvPr/>
        </p:nvSpPr>
        <p:spPr>
          <a:xfrm>
            <a:off x="685800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Negative Binomial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Benchmark estatístico de contagem</a:t>
            </a:r>
          </a:p>
        </p:txBody>
      </p:sp>
      <p:sp>
        <p:nvSpPr>
          <p:cNvPr id="12" name="Modelo Random Forest"/>
          <p:cNvSpPr/>
          <p:nvPr/>
        </p:nvSpPr>
        <p:spPr>
          <a:xfrm>
            <a:off x="4367784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6384" y="2926080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69F00"/>
                </a:solidFill>
                <a:latin typeface="Arial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384" y="3310128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Benchmark de machine learning</a:t>
            </a:r>
          </a:p>
        </p:txBody>
      </p:sp>
      <p:sp>
        <p:nvSpPr>
          <p:cNvPr id="15" name="Modelo SP-NB Queen"/>
          <p:cNvSpPr/>
          <p:nvPr/>
        </p:nvSpPr>
        <p:spPr>
          <a:xfrm>
            <a:off x="8049768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8368" y="2926080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72B2"/>
                </a:solidFill>
                <a:latin typeface="Arial"/>
              </a:rPr>
              <a:t>SP-NB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8368" y="3310128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NB + choque dos vizinhos em t−1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58768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A6672"/>
                </a:solidFill>
                <a:latin typeface="Arial"/>
              </a:rPr>
              <a:t>Mesmas covariáveis de clima e carteira, mesma janela de treino e de teste</a:t>
            </a:r>
          </a:p>
        </p:txBody>
      </p:sp>
      <p:sp>
        <p:nvSpPr>
          <p:cNvPr id="19" name="Métricas Por observação grid-mês"/>
          <p:cNvSpPr/>
          <p:nvPr/>
        </p:nvSpPr>
        <p:spPr>
          <a:xfrm>
            <a:off x="685800" y="4251960"/>
            <a:ext cx="5294376" cy="1783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48371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0072B2"/>
                </a:solidFill>
                <a:latin typeface="Arial"/>
              </a:rPr>
              <a:t>Por </a:t>
            </a:r>
            <a:r>
              <a:rPr sz="1500" b="1" i="0" dirty="0" err="1">
                <a:solidFill>
                  <a:srgbClr val="0072B2"/>
                </a:solidFill>
                <a:latin typeface="Arial"/>
              </a:rPr>
              <a:t>observação</a:t>
            </a:r>
            <a:r>
              <a:rPr sz="1500" b="1" i="0" dirty="0">
                <a:solidFill>
                  <a:srgbClr val="0072B2"/>
                </a:solidFill>
                <a:latin typeface="Arial"/>
              </a:rPr>
              <a:t> </a:t>
            </a:r>
            <a:r>
              <a:rPr lang="pt-BR" sz="1500" b="1" i="0" dirty="0">
                <a:solidFill>
                  <a:srgbClr val="0072B2"/>
                </a:solidFill>
                <a:latin typeface="Arial"/>
              </a:rPr>
              <a:t>célula-mês</a:t>
            </a:r>
            <a:endParaRPr sz="1500" b="1" i="0" dirty="0">
              <a:solidFill>
                <a:srgbClr val="0072B2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Arial"/>
              </a:rPr>
              <a:t>Erro mês a mês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MAE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26792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RMSE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9184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R²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13831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Correlação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26792" y="5513831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Balance</a:t>
            </a:r>
          </a:p>
        </p:txBody>
      </p:sp>
      <p:sp>
        <p:nvSpPr>
          <p:cNvPr id="27" name="Métricas Por grid, acumulado no teste"/>
          <p:cNvSpPr/>
          <p:nvPr/>
        </p:nvSpPr>
        <p:spPr>
          <a:xfrm>
            <a:off x="6208776" y="4251960"/>
            <a:ext cx="5294376" cy="1783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4370832"/>
            <a:ext cx="48371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0072B2"/>
                </a:solidFill>
                <a:latin typeface="Arial"/>
              </a:rPr>
              <a:t>Por </a:t>
            </a:r>
            <a:r>
              <a:rPr lang="en-US" sz="1500" b="1" i="0" dirty="0" err="1">
                <a:solidFill>
                  <a:srgbClr val="0072B2"/>
                </a:solidFill>
                <a:latin typeface="Arial"/>
              </a:rPr>
              <a:t>célula</a:t>
            </a:r>
            <a:r>
              <a:rPr sz="1500" b="1" i="0" dirty="0">
                <a:solidFill>
                  <a:srgbClr val="0072B2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072B2"/>
                </a:solidFill>
                <a:latin typeface="Arial"/>
              </a:rPr>
              <a:t>acumulado</a:t>
            </a:r>
            <a:r>
              <a:rPr sz="1500" b="1" i="0" dirty="0">
                <a:solidFill>
                  <a:srgbClr val="0072B2"/>
                </a:solidFill>
                <a:latin typeface="Arial"/>
              </a:rPr>
              <a:t> no teste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681728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Arial"/>
              </a:rPr>
              <a:t>Distribuição espacial do total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37376" y="5074920"/>
            <a:ext cx="1609344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 dirty="0" err="1">
                <a:solidFill>
                  <a:srgbClr val="1B1B1B"/>
                </a:solidFill>
                <a:latin typeface="Arial"/>
              </a:rPr>
              <a:t>Acurácia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% </a:t>
            </a:r>
            <a:r>
              <a:rPr sz="11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</a:t>
            </a:r>
            <a:endParaRPr sz="11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08867" y="5074920"/>
            <a:ext cx="1609344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 dirty="0">
                <a:solidFill>
                  <a:srgbClr val="1B1B1B"/>
                </a:solidFill>
                <a:latin typeface="Arial"/>
              </a:rPr>
              <a:t>MAE e RMSE </a:t>
            </a:r>
            <a:r>
              <a:rPr sz="11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</a:t>
            </a:r>
            <a:endParaRPr sz="11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780358" y="5074920"/>
            <a:ext cx="1609344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 dirty="0" err="1">
                <a:solidFill>
                  <a:srgbClr val="1B1B1B"/>
                </a:solidFill>
                <a:latin typeface="Arial"/>
              </a:rPr>
              <a:t>Correlação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</a:t>
            </a:r>
            <a:endParaRPr sz="11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5080" y="6053328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5A6672"/>
                </a:solidFill>
                <a:latin typeface="Cambria"/>
              </a:rPr>
              <a:t>Acurácia</a:t>
            </a:r>
            <a:r>
              <a:rPr sz="1100" b="0" i="1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= 100 · (1 − |Y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− Ŷ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| / 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), truncada em 0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B2A81D90-F08A-137F-6FF7-AB67ECCA9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9471C70B-A5CC-5B50-8607-22591C1F6E9B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12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btfpColumnIndicatorGroup2">
            <a:extLst>
              <a:ext uri="{FF2B5EF4-FFF2-40B4-BE49-F238E27FC236}">
                <a16:creationId xmlns:a16="http://schemas.microsoft.com/office/drawing/2014/main" id="{926C1266-5704-A84D-61E5-BC9B3BD4246F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1" name="btfpColumnGapBlocker397435">
              <a:extLst>
                <a:ext uri="{FF2B5EF4-FFF2-40B4-BE49-F238E27FC236}">
                  <a16:creationId xmlns:a16="http://schemas.microsoft.com/office/drawing/2014/main" id="{72F36557-3CDF-8EFA-6337-950557CE5ABB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btfpColumnGapBlocker925463">
              <a:extLst>
                <a:ext uri="{FF2B5EF4-FFF2-40B4-BE49-F238E27FC236}">
                  <a16:creationId xmlns:a16="http://schemas.microsoft.com/office/drawing/2014/main" id="{8BBDE828-05DF-7702-90E6-7C0A43FCDA84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btfpColumnIndicator610168">
              <a:extLst>
                <a:ext uri="{FF2B5EF4-FFF2-40B4-BE49-F238E27FC236}">
                  <a16:creationId xmlns:a16="http://schemas.microsoft.com/office/drawing/2014/main" id="{53EC33BC-AE57-7645-064F-2DB9B09A96F4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182513">
              <a:extLst>
                <a:ext uri="{FF2B5EF4-FFF2-40B4-BE49-F238E27FC236}">
                  <a16:creationId xmlns:a16="http://schemas.microsoft.com/office/drawing/2014/main" id="{A31CDC6F-61A4-A0F9-500E-91A649708610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btfpColumnIndicatorGroup1">
            <a:extLst>
              <a:ext uri="{FF2B5EF4-FFF2-40B4-BE49-F238E27FC236}">
                <a16:creationId xmlns:a16="http://schemas.microsoft.com/office/drawing/2014/main" id="{0DB32BE6-4846-E4E7-0B8F-1E87E859817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0" name="btfpColumnGapBlocker628364">
              <a:extLst>
                <a:ext uri="{FF2B5EF4-FFF2-40B4-BE49-F238E27FC236}">
                  <a16:creationId xmlns:a16="http://schemas.microsoft.com/office/drawing/2014/main" id="{A42B6D3B-8A07-1957-E658-BDE8CE3E7A30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btfpColumnGapBlocker666998">
              <a:extLst>
                <a:ext uri="{FF2B5EF4-FFF2-40B4-BE49-F238E27FC236}">
                  <a16:creationId xmlns:a16="http://schemas.microsoft.com/office/drawing/2014/main" id="{92EC8F48-4EE2-1EFB-90FA-02D66745D978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" name="btfpColumnIndicator902772">
              <a:extLst>
                <a:ext uri="{FF2B5EF4-FFF2-40B4-BE49-F238E27FC236}">
                  <a16:creationId xmlns:a16="http://schemas.microsoft.com/office/drawing/2014/main" id="{59AC213B-DA81-533A-F04C-10A0D6AE57C4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786688">
              <a:extLst>
                <a:ext uri="{FF2B5EF4-FFF2-40B4-BE49-F238E27FC236}">
                  <a16:creationId xmlns:a16="http://schemas.microsoft.com/office/drawing/2014/main" id="{C487A9B6-41EE-2739-D05E-E2DFF167159B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0072B2"/>
                </a:solidFill>
                <a:latin typeface="Arial"/>
              </a:rPr>
              <a:t>RESULTADOS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O SP-NB Queen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teve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melhor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desempenho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todos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critérios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globais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com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vantagem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modesta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sobre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NB</a:t>
            </a:r>
          </a:p>
        </p:txBody>
      </p:sp>
      <p:graphicFrame>
        <p:nvGraphicFramePr>
          <p:cNvPr id="6" name="Tabela resultado glob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260768"/>
              </p:ext>
            </p:extLst>
          </p:nvPr>
        </p:nvGraphicFramePr>
        <p:xfrm>
          <a:off x="685800" y="1737360"/>
          <a:ext cx="69494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marL="137160" anchor="ctr"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Negative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Binomial</a:t>
                      </a:r>
                    </a:p>
                  </a:txBody>
                  <a:tcPr marL="137160" anchor="ctr"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Random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Forest</a:t>
                      </a:r>
                    </a:p>
                  </a:txBody>
                  <a:tcPr marL="137160" anchor="ctr"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SP-NB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Queen</a:t>
                      </a:r>
                    </a:p>
                  </a:txBody>
                  <a:tcPr marL="137160" anchor="ctr">
                    <a:solidFill>
                      <a:srgbClr val="007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RMSE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-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mês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↓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2,10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3,04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2,09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MAE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-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mês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↓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1,18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1,27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1,17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R²  ↑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0,753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0,482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0,755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Acurácia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média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por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↑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RMSE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agregado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por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↓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17,2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Balance (ideal = 1,00)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1,05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0,91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rgbClr val="0072B2"/>
                          </a:solidFill>
                          <a:latin typeface="Arial"/>
                        </a:rPr>
                        <a:t>1,04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05332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2"/>
                </a:solidFill>
                <a:latin typeface="Arial"/>
              </a:rPr>
              <a:t>↓ menor é melhor   ↑ maior é melhor   ·   Teste 2021–2025: 2.901 sinistros observados</a:t>
            </a:r>
          </a:p>
        </p:txBody>
      </p:sp>
      <p:sp>
        <p:nvSpPr>
          <p:cNvPr id="8" name="Callout vs NB"/>
          <p:cNvSpPr/>
          <p:nvPr/>
        </p:nvSpPr>
        <p:spPr>
          <a:xfrm>
            <a:off x="7955279" y="1737360"/>
            <a:ext cx="3547872" cy="214884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1874519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72B2"/>
                </a:solidFill>
                <a:latin typeface="Arial"/>
              </a:rPr>
              <a:t>Erro do SP-NB vs. 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40280"/>
            <a:ext cx="310896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−0,4%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RMSE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mês</a:t>
            </a:r>
            <a:endParaRPr sz="13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−1,2%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MAE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mês</a:t>
            </a:r>
            <a:endParaRPr sz="13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0072B2"/>
                </a:solidFill>
                <a:latin typeface="Arial"/>
              </a:rPr>
              <a:t>−7,3%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RMSE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endParaRPr sz="13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11" name="Callout RF"/>
          <p:cNvSpPr/>
          <p:nvPr/>
        </p:nvSpPr>
        <p:spPr>
          <a:xfrm>
            <a:off x="7955279" y="4023360"/>
            <a:ext cx="3547872" cy="1874519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Arial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52628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B1B1B"/>
                </a:solidFill>
                <a:latin typeface="Arial"/>
              </a:rPr>
              <a:t>RMSE 45% maior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que a NB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Subestima o total: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2.650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previstos vs. 2.901 observados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FC8A8A1-1AE0-72E9-62CD-05527B2C1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ADFA41E1-B218-7101-6A7E-674EE2DE4FDE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13</a:t>
            </a:fld>
            <a:endParaRPr lang="pt-B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E7B4CC-D4F3-7062-3BFF-4612767B851E}"/>
              </a:ext>
            </a:extLst>
          </p:cNvPr>
          <p:cNvSpPr txBox="1"/>
          <p:nvPr/>
        </p:nvSpPr>
        <p:spPr>
          <a:xfrm>
            <a:off x="6355080" y="6053328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5A6672"/>
                </a:solidFill>
                <a:latin typeface="Cambria"/>
              </a:rPr>
              <a:t>Acurácia</a:t>
            </a:r>
            <a:r>
              <a:rPr sz="1100" b="0" i="1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= 100 · (1 − |Y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− Ŷ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| / 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), truncada em 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btfpColumnIndicatorGroup2">
            <a:extLst>
              <a:ext uri="{FF2B5EF4-FFF2-40B4-BE49-F238E27FC236}">
                <a16:creationId xmlns:a16="http://schemas.microsoft.com/office/drawing/2014/main" id="{F69CF9CA-2054-6CB1-8333-ED228ED483D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9" name="btfpColumnGapBlocker156138">
              <a:extLst>
                <a:ext uri="{FF2B5EF4-FFF2-40B4-BE49-F238E27FC236}">
                  <a16:creationId xmlns:a16="http://schemas.microsoft.com/office/drawing/2014/main" id="{5BC69D96-7ADA-8033-F3F4-6550595715A3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" name="btfpColumnGapBlocker717827">
              <a:extLst>
                <a:ext uri="{FF2B5EF4-FFF2-40B4-BE49-F238E27FC236}">
                  <a16:creationId xmlns:a16="http://schemas.microsoft.com/office/drawing/2014/main" id="{3F208E84-351B-9872-A9CE-CE09A6C86ABF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5" name="btfpColumnIndicator793288">
              <a:extLst>
                <a:ext uri="{FF2B5EF4-FFF2-40B4-BE49-F238E27FC236}">
                  <a16:creationId xmlns:a16="http://schemas.microsoft.com/office/drawing/2014/main" id="{B7646516-BE1C-5EB7-8619-C0066105F429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btfpColumnIndicator755198">
              <a:extLst>
                <a:ext uri="{FF2B5EF4-FFF2-40B4-BE49-F238E27FC236}">
                  <a16:creationId xmlns:a16="http://schemas.microsoft.com/office/drawing/2014/main" id="{A47B7C4D-C6C0-7844-BA70-2ACD36F1B1E2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btfpColumnIndicatorGroup1">
            <a:extLst>
              <a:ext uri="{FF2B5EF4-FFF2-40B4-BE49-F238E27FC236}">
                <a16:creationId xmlns:a16="http://schemas.microsoft.com/office/drawing/2014/main" id="{DF5297D2-4441-06DD-EBDF-C7ED5D9189E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8" name="btfpColumnGapBlocker328293">
              <a:extLst>
                <a:ext uri="{FF2B5EF4-FFF2-40B4-BE49-F238E27FC236}">
                  <a16:creationId xmlns:a16="http://schemas.microsoft.com/office/drawing/2014/main" id="{2012BD09-2859-3675-C9E5-20AC890E604F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" name="btfpColumnGapBlocker790017">
              <a:extLst>
                <a:ext uri="{FF2B5EF4-FFF2-40B4-BE49-F238E27FC236}">
                  <a16:creationId xmlns:a16="http://schemas.microsoft.com/office/drawing/2014/main" id="{A3AA8CF5-5D48-AC9B-2D7A-869DA6216A5E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4" name="btfpColumnIndicator650230">
              <a:extLst>
                <a:ext uri="{FF2B5EF4-FFF2-40B4-BE49-F238E27FC236}">
                  <a16:creationId xmlns:a16="http://schemas.microsoft.com/office/drawing/2014/main" id="{D996C3B7-C48F-940C-FB70-DE0320144869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btfpColumnIndicator750617">
              <a:extLst>
                <a:ext uri="{FF2B5EF4-FFF2-40B4-BE49-F238E27FC236}">
                  <a16:creationId xmlns:a16="http://schemas.microsoft.com/office/drawing/2014/main" id="{B2D7D4A0-B15C-8DDE-2707-8B3CC4F0471C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0072B2"/>
                </a:solidFill>
                <a:latin typeface="Arial"/>
              </a:rPr>
              <a:t>RESULTADOS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No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espaço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o SP-NB Queen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eleva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para 15 </a:t>
            </a:r>
            <a:r>
              <a:rPr lang="en-US" sz="2600" b="1" dirty="0">
                <a:solidFill>
                  <a:srgbClr val="12263A"/>
                </a:solidFill>
                <a:latin typeface="Arial"/>
              </a:rPr>
              <a:t>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s </a:t>
            </a:r>
            <a:r>
              <a:rPr lang="pt-BR" sz="2600" b="1" i="0" dirty="0">
                <a:solidFill>
                  <a:srgbClr val="12263A"/>
                </a:solidFill>
                <a:latin typeface="Arial"/>
              </a:rPr>
              <a:t>célula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s com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acurácia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acima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90%, contra 12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outros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dois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modelos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Header Negative Binomial"/>
          <p:cNvSpPr/>
          <p:nvPr/>
        </p:nvSpPr>
        <p:spPr>
          <a:xfrm>
            <a:off x="685800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2263A"/>
                </a:solidFill>
                <a:latin typeface="Arial"/>
              </a:rPr>
              <a:t>Negative Binomial</a:t>
            </a:r>
          </a:p>
        </p:txBody>
      </p:sp>
      <p:sp>
        <p:nvSpPr>
          <p:cNvPr id="7" name="Heatmap Negative Binomial r0c0"/>
          <p:cNvSpPr/>
          <p:nvPr/>
        </p:nvSpPr>
        <p:spPr>
          <a:xfrm>
            <a:off x="685800" y="2057400"/>
            <a:ext cx="516635" cy="516635"/>
          </a:xfrm>
          <a:prstGeom prst="rect">
            <a:avLst/>
          </a:prstGeom>
          <a:solidFill>
            <a:srgbClr val="4C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93,9</a:t>
            </a:r>
          </a:p>
        </p:txBody>
      </p:sp>
      <p:sp>
        <p:nvSpPr>
          <p:cNvPr id="8" name="Heatmap Negative Binomial r0c1"/>
          <p:cNvSpPr/>
          <p:nvPr/>
        </p:nvSpPr>
        <p:spPr>
          <a:xfrm>
            <a:off x="1234440" y="2057400"/>
            <a:ext cx="516635" cy="516635"/>
          </a:xfrm>
          <a:prstGeom prst="rect">
            <a:avLst/>
          </a:prstGeom>
          <a:solidFill>
            <a:srgbClr val="4B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94,0</a:t>
            </a:r>
          </a:p>
        </p:txBody>
      </p:sp>
      <p:sp>
        <p:nvSpPr>
          <p:cNvPr id="9" name="Heatmap Negative Binomial r0c2"/>
          <p:cNvSpPr/>
          <p:nvPr/>
        </p:nvSpPr>
        <p:spPr>
          <a:xfrm>
            <a:off x="1783080" y="205740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70,5</a:t>
            </a:r>
          </a:p>
        </p:txBody>
      </p:sp>
      <p:sp>
        <p:nvSpPr>
          <p:cNvPr id="10" name="Heatmap Negative Binomial r0c3"/>
          <p:cNvSpPr/>
          <p:nvPr/>
        </p:nvSpPr>
        <p:spPr>
          <a:xfrm>
            <a:off x="2331720" y="2057400"/>
            <a:ext cx="516635" cy="516635"/>
          </a:xfrm>
          <a:prstGeom prst="rect">
            <a:avLst/>
          </a:prstGeom>
          <a:solidFill>
            <a:srgbClr val="298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98,2</a:t>
            </a:r>
          </a:p>
        </p:txBody>
      </p:sp>
      <p:sp>
        <p:nvSpPr>
          <p:cNvPr id="11" name="Heatmap Negative Binomial r0c4"/>
          <p:cNvSpPr/>
          <p:nvPr/>
        </p:nvSpPr>
        <p:spPr>
          <a:xfrm>
            <a:off x="2880360" y="2057400"/>
            <a:ext cx="516635" cy="516635"/>
          </a:xfrm>
          <a:prstGeom prst="rect">
            <a:avLst/>
          </a:prstGeom>
          <a:solidFill>
            <a:srgbClr val="4F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93,5</a:t>
            </a:r>
          </a:p>
        </p:txBody>
      </p:sp>
      <p:sp>
        <p:nvSpPr>
          <p:cNvPr id="12" name="Heatmap Negative Binomial r1c0"/>
          <p:cNvSpPr/>
          <p:nvPr/>
        </p:nvSpPr>
        <p:spPr>
          <a:xfrm>
            <a:off x="685800" y="2606040"/>
            <a:ext cx="516635" cy="516635"/>
          </a:xfrm>
          <a:prstGeom prst="rect">
            <a:avLst/>
          </a:prstGeom>
          <a:solidFill>
            <a:srgbClr val="6D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89,9</a:t>
            </a:r>
          </a:p>
        </p:txBody>
      </p:sp>
      <p:sp>
        <p:nvSpPr>
          <p:cNvPr id="13" name="Heatmap Negative Binomial r1c1"/>
          <p:cNvSpPr/>
          <p:nvPr/>
        </p:nvSpPr>
        <p:spPr>
          <a:xfrm>
            <a:off x="1234440" y="2606040"/>
            <a:ext cx="516635" cy="516635"/>
          </a:xfrm>
          <a:prstGeom prst="rect">
            <a:avLst/>
          </a:prstGeom>
          <a:solidFill>
            <a:srgbClr val="A2D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81,1</a:t>
            </a:r>
          </a:p>
        </p:txBody>
      </p:sp>
      <p:sp>
        <p:nvSpPr>
          <p:cNvPr id="14" name="Heatmap Negative Binomial r1c2"/>
          <p:cNvSpPr/>
          <p:nvPr/>
        </p:nvSpPr>
        <p:spPr>
          <a:xfrm>
            <a:off x="1783080" y="2606040"/>
            <a:ext cx="516635" cy="516635"/>
          </a:xfrm>
          <a:prstGeom prst="rect">
            <a:avLst/>
          </a:prstGeom>
          <a:solidFill>
            <a:srgbClr val="6BB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90,1</a:t>
            </a:r>
          </a:p>
        </p:txBody>
      </p:sp>
      <p:sp>
        <p:nvSpPr>
          <p:cNvPr id="15" name="Heatmap Negative Binomial r1c3"/>
          <p:cNvSpPr/>
          <p:nvPr/>
        </p:nvSpPr>
        <p:spPr>
          <a:xfrm>
            <a:off x="2331720" y="2606040"/>
            <a:ext cx="516635" cy="516635"/>
          </a:xfrm>
          <a:prstGeom prst="rect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100,0</a:t>
            </a:r>
          </a:p>
        </p:txBody>
      </p:sp>
      <p:sp>
        <p:nvSpPr>
          <p:cNvPr id="16" name="Heatmap Negative Binomial r1c4"/>
          <p:cNvSpPr/>
          <p:nvPr/>
        </p:nvSpPr>
        <p:spPr>
          <a:xfrm>
            <a:off x="2880360" y="2606040"/>
            <a:ext cx="516635" cy="516635"/>
          </a:xfrm>
          <a:prstGeom prst="rect">
            <a:avLst/>
          </a:prstGeom>
          <a:solidFill>
            <a:srgbClr val="45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94,8</a:t>
            </a:r>
          </a:p>
        </p:txBody>
      </p:sp>
      <p:sp>
        <p:nvSpPr>
          <p:cNvPr id="17" name="Heatmap Negative Binomial r2c0"/>
          <p:cNvSpPr/>
          <p:nvPr/>
        </p:nvSpPr>
        <p:spPr>
          <a:xfrm>
            <a:off x="685800" y="3154680"/>
            <a:ext cx="516635" cy="516635"/>
          </a:xfrm>
          <a:prstGeom prst="rect">
            <a:avLst/>
          </a:prstGeom>
          <a:solidFill>
            <a:srgbClr val="4E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93,6</a:t>
            </a:r>
          </a:p>
        </p:txBody>
      </p:sp>
      <p:sp>
        <p:nvSpPr>
          <p:cNvPr id="18" name="Heatmap Negative Binomial r2c1"/>
          <p:cNvSpPr/>
          <p:nvPr/>
        </p:nvSpPr>
        <p:spPr>
          <a:xfrm>
            <a:off x="1234440" y="3154680"/>
            <a:ext cx="516635" cy="516635"/>
          </a:xfrm>
          <a:prstGeom prst="rect">
            <a:avLst/>
          </a:prstGeom>
          <a:solidFill>
            <a:srgbClr val="60A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91,5</a:t>
            </a:r>
          </a:p>
        </p:txBody>
      </p:sp>
      <p:sp>
        <p:nvSpPr>
          <p:cNvPr id="19" name="Heatmap Negative Binomial r2c2"/>
          <p:cNvSpPr/>
          <p:nvPr/>
        </p:nvSpPr>
        <p:spPr>
          <a:xfrm>
            <a:off x="1783080" y="3154680"/>
            <a:ext cx="516635" cy="516635"/>
          </a:xfrm>
          <a:prstGeom prst="rect">
            <a:avLst/>
          </a:prstGeom>
          <a:solidFill>
            <a:srgbClr val="E1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64,2</a:t>
            </a:r>
          </a:p>
        </p:txBody>
      </p:sp>
      <p:sp>
        <p:nvSpPr>
          <p:cNvPr id="20" name="Heatmap Negative Binomial r2c3"/>
          <p:cNvSpPr/>
          <p:nvPr/>
        </p:nvSpPr>
        <p:spPr>
          <a:xfrm>
            <a:off x="2331720" y="3154680"/>
            <a:ext cx="516635" cy="516635"/>
          </a:xfrm>
          <a:prstGeom prst="rect">
            <a:avLst/>
          </a:prstGeom>
          <a:solidFill>
            <a:srgbClr val="75B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88,5</a:t>
            </a:r>
          </a:p>
        </p:txBody>
      </p:sp>
      <p:sp>
        <p:nvSpPr>
          <p:cNvPr id="21" name="Heatmap Negative Binomial r2c4"/>
          <p:cNvSpPr/>
          <p:nvPr/>
        </p:nvSpPr>
        <p:spPr>
          <a:xfrm>
            <a:off x="2880360" y="315468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70,4</a:t>
            </a:r>
          </a:p>
        </p:txBody>
      </p:sp>
      <p:sp>
        <p:nvSpPr>
          <p:cNvPr id="22" name="Heatmap Negative Binomial r3c0"/>
          <p:cNvSpPr/>
          <p:nvPr/>
        </p:nvSpPr>
        <p:spPr>
          <a:xfrm>
            <a:off x="685800" y="3703320"/>
            <a:ext cx="516635" cy="516635"/>
          </a:xfrm>
          <a:prstGeom prst="rect">
            <a:avLst/>
          </a:prstGeom>
          <a:solidFill>
            <a:srgbClr val="4A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94,1</a:t>
            </a:r>
          </a:p>
        </p:txBody>
      </p:sp>
      <p:sp>
        <p:nvSpPr>
          <p:cNvPr id="23" name="Heatmap Negative Binomial r3c1"/>
          <p:cNvSpPr/>
          <p:nvPr/>
        </p:nvSpPr>
        <p:spPr>
          <a:xfrm>
            <a:off x="1234440" y="3703320"/>
            <a:ext cx="516635" cy="516635"/>
          </a:xfrm>
          <a:prstGeom prst="rect">
            <a:avLst/>
          </a:prstGeom>
          <a:solidFill>
            <a:srgbClr val="7BB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87,6</a:t>
            </a:r>
          </a:p>
        </p:txBody>
      </p:sp>
      <p:sp>
        <p:nvSpPr>
          <p:cNvPr id="24" name="Heatmap Negative Binomial r3c2"/>
          <p:cNvSpPr/>
          <p:nvPr/>
        </p:nvSpPr>
        <p:spPr>
          <a:xfrm>
            <a:off x="1783080" y="3703320"/>
            <a:ext cx="516635" cy="516635"/>
          </a:xfrm>
          <a:prstGeom prst="rect">
            <a:avLst/>
          </a:prstGeom>
          <a:solidFill>
            <a:srgbClr val="4A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94,1</a:t>
            </a:r>
          </a:p>
        </p:txBody>
      </p:sp>
      <p:sp>
        <p:nvSpPr>
          <p:cNvPr id="25" name="Heatmap Negative Binomial r3c3"/>
          <p:cNvSpPr/>
          <p:nvPr/>
        </p:nvSpPr>
        <p:spPr>
          <a:xfrm>
            <a:off x="2331720" y="3703320"/>
            <a:ext cx="516635" cy="516635"/>
          </a:xfrm>
          <a:prstGeom prst="rect">
            <a:avLst/>
          </a:prstGeom>
          <a:solidFill>
            <a:srgbClr val="78B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88,0</a:t>
            </a:r>
          </a:p>
        </p:txBody>
      </p:sp>
      <p:sp>
        <p:nvSpPr>
          <p:cNvPr id="26" name="Heatmap Negative Binomial r3c4"/>
          <p:cNvSpPr/>
          <p:nvPr/>
        </p:nvSpPr>
        <p:spPr>
          <a:xfrm>
            <a:off x="2880360" y="3703320"/>
            <a:ext cx="516635" cy="516635"/>
          </a:xfrm>
          <a:prstGeom prst="rect">
            <a:avLst/>
          </a:prstGeom>
          <a:solidFill>
            <a:srgbClr val="B8D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77,5</a:t>
            </a:r>
          </a:p>
        </p:txBody>
      </p:sp>
      <p:sp>
        <p:nvSpPr>
          <p:cNvPr id="27" name="Heatmap Negative Binomial r4c0"/>
          <p:cNvSpPr/>
          <p:nvPr/>
        </p:nvSpPr>
        <p:spPr>
          <a:xfrm>
            <a:off x="685800" y="4251960"/>
            <a:ext cx="516635" cy="516635"/>
          </a:xfrm>
          <a:prstGeom prst="rect">
            <a:avLst/>
          </a:prstGeom>
          <a:solidFill>
            <a:srgbClr val="C2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75,8</a:t>
            </a:r>
          </a:p>
        </p:txBody>
      </p:sp>
      <p:sp>
        <p:nvSpPr>
          <p:cNvPr id="28" name="Heatmap Negative Binomial r4c1"/>
          <p:cNvSpPr/>
          <p:nvPr/>
        </p:nvSpPr>
        <p:spPr>
          <a:xfrm>
            <a:off x="1234440" y="425196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70,3</a:t>
            </a:r>
          </a:p>
        </p:txBody>
      </p:sp>
      <p:sp>
        <p:nvSpPr>
          <p:cNvPr id="29" name="Heatmap Negative Binomial r4c2"/>
          <p:cNvSpPr/>
          <p:nvPr/>
        </p:nvSpPr>
        <p:spPr>
          <a:xfrm>
            <a:off x="1783080" y="4251960"/>
            <a:ext cx="516635" cy="516635"/>
          </a:xfrm>
          <a:prstGeom prst="rect">
            <a:avLst/>
          </a:prstGeom>
          <a:solidFill>
            <a:srgbClr val="22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99,0</a:t>
            </a:r>
          </a:p>
        </p:txBody>
      </p:sp>
      <p:sp>
        <p:nvSpPr>
          <p:cNvPr id="30" name="Heatmap Negative Binomial r4c3"/>
          <p:cNvSpPr/>
          <p:nvPr/>
        </p:nvSpPr>
        <p:spPr>
          <a:xfrm>
            <a:off x="2331720" y="425196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31" name="Heatmap Negative Binomial r4c4"/>
          <p:cNvSpPr/>
          <p:nvPr/>
        </p:nvSpPr>
        <p:spPr>
          <a:xfrm>
            <a:off x="2880360" y="4251960"/>
            <a:ext cx="516635" cy="516635"/>
          </a:xfrm>
          <a:prstGeom prst="rect">
            <a:avLst/>
          </a:prstGeom>
          <a:solidFill>
            <a:srgbClr val="6D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93776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12263A"/>
                </a:solidFill>
                <a:latin typeface="Arial"/>
              </a:rPr>
              <a:t>12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s &gt; 90%</a:t>
            </a:r>
          </a:p>
          <a:p>
            <a:pPr algn="ctr"/>
            <a:r>
              <a:rPr sz="1200" b="0" i="0" dirty="0" err="1">
                <a:solidFill>
                  <a:srgbClr val="5A6672"/>
                </a:solidFill>
                <a:latin typeface="Arial"/>
              </a:rPr>
              <a:t>Média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87,1%  ·  Mediana 89,9%</a:t>
            </a:r>
          </a:p>
        </p:txBody>
      </p:sp>
      <p:sp>
        <p:nvSpPr>
          <p:cNvPr id="33" name="Header Random Forest"/>
          <p:cNvSpPr/>
          <p:nvPr/>
        </p:nvSpPr>
        <p:spPr>
          <a:xfrm>
            <a:off x="4722876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2263A"/>
                </a:solidFill>
                <a:latin typeface="Arial"/>
              </a:rPr>
              <a:t>Random Forest</a:t>
            </a:r>
          </a:p>
        </p:txBody>
      </p:sp>
      <p:sp>
        <p:nvSpPr>
          <p:cNvPr id="34" name="Heatmap Random Forest r0c0"/>
          <p:cNvSpPr/>
          <p:nvPr/>
        </p:nvSpPr>
        <p:spPr>
          <a:xfrm>
            <a:off x="4722876" y="2057400"/>
            <a:ext cx="516635" cy="516635"/>
          </a:xfrm>
          <a:prstGeom prst="rect">
            <a:avLst/>
          </a:prstGeom>
          <a:solidFill>
            <a:srgbClr val="2E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97,6</a:t>
            </a:r>
          </a:p>
        </p:txBody>
      </p:sp>
      <p:sp>
        <p:nvSpPr>
          <p:cNvPr id="35" name="Heatmap Random Forest r0c1"/>
          <p:cNvSpPr/>
          <p:nvPr/>
        </p:nvSpPr>
        <p:spPr>
          <a:xfrm>
            <a:off x="5271516" y="2057400"/>
            <a:ext cx="516635" cy="516635"/>
          </a:xfrm>
          <a:prstGeom prst="rect">
            <a:avLst/>
          </a:prstGeom>
          <a:solidFill>
            <a:srgbClr val="36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96,6</a:t>
            </a:r>
          </a:p>
        </p:txBody>
      </p:sp>
      <p:sp>
        <p:nvSpPr>
          <p:cNvPr id="36" name="Heatmap Random Forest r0c2"/>
          <p:cNvSpPr/>
          <p:nvPr/>
        </p:nvSpPr>
        <p:spPr>
          <a:xfrm>
            <a:off x="5820156" y="2057400"/>
            <a:ext cx="516635" cy="516635"/>
          </a:xfrm>
          <a:prstGeom prst="rect">
            <a:avLst/>
          </a:prstGeom>
          <a:solidFill>
            <a:srgbClr val="78B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88,0</a:t>
            </a:r>
          </a:p>
        </p:txBody>
      </p:sp>
      <p:sp>
        <p:nvSpPr>
          <p:cNvPr id="37" name="Heatmap Random Forest r0c3"/>
          <p:cNvSpPr/>
          <p:nvPr/>
        </p:nvSpPr>
        <p:spPr>
          <a:xfrm>
            <a:off x="6368796" y="2057400"/>
            <a:ext cx="516635" cy="516635"/>
          </a:xfrm>
          <a:prstGeom prst="rect">
            <a:avLst/>
          </a:prstGeom>
          <a:solidFill>
            <a:srgbClr val="298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98,2</a:t>
            </a:r>
          </a:p>
        </p:txBody>
      </p:sp>
      <p:sp>
        <p:nvSpPr>
          <p:cNvPr id="38" name="Heatmap Random Forest r0c4"/>
          <p:cNvSpPr/>
          <p:nvPr/>
        </p:nvSpPr>
        <p:spPr>
          <a:xfrm>
            <a:off x="6917436" y="205740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39" name="Heatmap Random Forest r1c0"/>
          <p:cNvSpPr/>
          <p:nvPr/>
        </p:nvSpPr>
        <p:spPr>
          <a:xfrm>
            <a:off x="4722876" y="2606040"/>
            <a:ext cx="516635" cy="516635"/>
          </a:xfrm>
          <a:prstGeom prst="rect">
            <a:avLst/>
          </a:prstGeom>
          <a:solidFill>
            <a:srgbClr val="66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90,7</a:t>
            </a:r>
          </a:p>
        </p:txBody>
      </p:sp>
      <p:sp>
        <p:nvSpPr>
          <p:cNvPr id="40" name="Heatmap Random Forest r1c1"/>
          <p:cNvSpPr/>
          <p:nvPr/>
        </p:nvSpPr>
        <p:spPr>
          <a:xfrm>
            <a:off x="5271516" y="260604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70,6</a:t>
            </a:r>
          </a:p>
        </p:txBody>
      </p:sp>
      <p:sp>
        <p:nvSpPr>
          <p:cNvPr id="41" name="Heatmap Random Forest r1c2"/>
          <p:cNvSpPr/>
          <p:nvPr/>
        </p:nvSpPr>
        <p:spPr>
          <a:xfrm>
            <a:off x="5820156" y="2606040"/>
            <a:ext cx="516635" cy="516635"/>
          </a:xfrm>
          <a:prstGeom prst="rect">
            <a:avLst/>
          </a:prstGeom>
          <a:solidFill>
            <a:srgbClr val="6C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90,0</a:t>
            </a:r>
          </a:p>
        </p:txBody>
      </p:sp>
      <p:sp>
        <p:nvSpPr>
          <p:cNvPr id="42" name="Heatmap Random Forest r1c3"/>
          <p:cNvSpPr/>
          <p:nvPr/>
        </p:nvSpPr>
        <p:spPr>
          <a:xfrm>
            <a:off x="6368796" y="2606040"/>
            <a:ext cx="516635" cy="516635"/>
          </a:xfrm>
          <a:prstGeom prst="rect">
            <a:avLst/>
          </a:prstGeom>
          <a:solidFill>
            <a:srgbClr val="207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99,3</a:t>
            </a:r>
          </a:p>
        </p:txBody>
      </p:sp>
      <p:sp>
        <p:nvSpPr>
          <p:cNvPr id="43" name="Heatmap Random Forest r1c4"/>
          <p:cNvSpPr/>
          <p:nvPr/>
        </p:nvSpPr>
        <p:spPr>
          <a:xfrm>
            <a:off x="6917436" y="2606040"/>
            <a:ext cx="516635" cy="516635"/>
          </a:xfrm>
          <a:prstGeom prst="rect">
            <a:avLst/>
          </a:prstGeom>
          <a:solidFill>
            <a:srgbClr val="35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96,7</a:t>
            </a:r>
          </a:p>
        </p:txBody>
      </p:sp>
      <p:sp>
        <p:nvSpPr>
          <p:cNvPr id="44" name="Heatmap Random Forest r2c0"/>
          <p:cNvSpPr/>
          <p:nvPr/>
        </p:nvSpPr>
        <p:spPr>
          <a:xfrm>
            <a:off x="4722876" y="3154680"/>
            <a:ext cx="516635" cy="516635"/>
          </a:xfrm>
          <a:prstGeom prst="rect">
            <a:avLst/>
          </a:prstGeom>
          <a:solidFill>
            <a:srgbClr val="B4D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78,2</a:t>
            </a:r>
          </a:p>
        </p:txBody>
      </p:sp>
      <p:sp>
        <p:nvSpPr>
          <p:cNvPr id="45" name="Heatmap Random Forest r2c1"/>
          <p:cNvSpPr/>
          <p:nvPr/>
        </p:nvSpPr>
        <p:spPr>
          <a:xfrm>
            <a:off x="5271516" y="3154680"/>
            <a:ext cx="516635" cy="516635"/>
          </a:xfrm>
          <a:prstGeom prst="rect">
            <a:avLst/>
          </a:prstGeom>
          <a:solidFill>
            <a:srgbClr val="5DA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91,8</a:t>
            </a:r>
          </a:p>
        </p:txBody>
      </p:sp>
      <p:sp>
        <p:nvSpPr>
          <p:cNvPr id="46" name="Heatmap Random Forest r2c2"/>
          <p:cNvSpPr/>
          <p:nvPr/>
        </p:nvSpPr>
        <p:spPr>
          <a:xfrm>
            <a:off x="5820156" y="3154680"/>
            <a:ext cx="516635" cy="516635"/>
          </a:xfrm>
          <a:prstGeom prst="rect">
            <a:avLst/>
          </a:prstGeom>
          <a:solidFill>
            <a:srgbClr val="DBE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66,6</a:t>
            </a:r>
          </a:p>
        </p:txBody>
      </p:sp>
      <p:sp>
        <p:nvSpPr>
          <p:cNvPr id="47" name="Heatmap Random Forest r2c3"/>
          <p:cNvSpPr/>
          <p:nvPr/>
        </p:nvSpPr>
        <p:spPr>
          <a:xfrm>
            <a:off x="6368796" y="315468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48" name="Heatmap Random Forest r2c4"/>
          <p:cNvSpPr/>
          <p:nvPr/>
        </p:nvSpPr>
        <p:spPr>
          <a:xfrm>
            <a:off x="6917436" y="3154680"/>
            <a:ext cx="516635" cy="516635"/>
          </a:xfrm>
          <a:prstGeom prst="rect">
            <a:avLst/>
          </a:prstGeom>
          <a:solidFill>
            <a:srgbClr val="9BC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82,3</a:t>
            </a:r>
          </a:p>
        </p:txBody>
      </p:sp>
      <p:sp>
        <p:nvSpPr>
          <p:cNvPr id="49" name="Heatmap Random Forest r3c0"/>
          <p:cNvSpPr/>
          <p:nvPr/>
        </p:nvSpPr>
        <p:spPr>
          <a:xfrm>
            <a:off x="4722876" y="3703320"/>
            <a:ext cx="516635" cy="516635"/>
          </a:xfrm>
          <a:prstGeom prst="rect">
            <a:avLst/>
          </a:prstGeom>
          <a:solidFill>
            <a:srgbClr val="3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96,3</a:t>
            </a:r>
          </a:p>
        </p:txBody>
      </p:sp>
      <p:sp>
        <p:nvSpPr>
          <p:cNvPr id="50" name="Heatmap Random Forest r3c1"/>
          <p:cNvSpPr/>
          <p:nvPr/>
        </p:nvSpPr>
        <p:spPr>
          <a:xfrm>
            <a:off x="5271516" y="3703320"/>
            <a:ext cx="516635" cy="516635"/>
          </a:xfrm>
          <a:prstGeom prst="rect">
            <a:avLst/>
          </a:prstGeom>
          <a:solidFill>
            <a:srgbClr val="D1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71,0</a:t>
            </a:r>
          </a:p>
        </p:txBody>
      </p:sp>
      <p:sp>
        <p:nvSpPr>
          <p:cNvPr id="51" name="Heatmap Random Forest r3c2"/>
          <p:cNvSpPr/>
          <p:nvPr/>
        </p:nvSpPr>
        <p:spPr>
          <a:xfrm>
            <a:off x="5820156" y="3703320"/>
            <a:ext cx="516635" cy="516635"/>
          </a:xfrm>
          <a:prstGeom prst="rect">
            <a:avLst/>
          </a:prstGeom>
          <a:solidFill>
            <a:srgbClr val="A8D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80,1</a:t>
            </a:r>
          </a:p>
        </p:txBody>
      </p:sp>
      <p:sp>
        <p:nvSpPr>
          <p:cNvPr id="52" name="Heatmap Random Forest r3c3"/>
          <p:cNvSpPr/>
          <p:nvPr/>
        </p:nvSpPr>
        <p:spPr>
          <a:xfrm>
            <a:off x="6368796" y="3703320"/>
            <a:ext cx="516635" cy="516635"/>
          </a:xfrm>
          <a:prstGeom prst="rect">
            <a:avLst/>
          </a:prstGeom>
          <a:solidFill>
            <a:srgbClr val="3F9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95,5</a:t>
            </a:r>
          </a:p>
        </p:txBody>
      </p:sp>
      <p:sp>
        <p:nvSpPr>
          <p:cNvPr id="53" name="Heatmap Random Forest r3c4"/>
          <p:cNvSpPr/>
          <p:nvPr/>
        </p:nvSpPr>
        <p:spPr>
          <a:xfrm>
            <a:off x="6917436" y="3703320"/>
            <a:ext cx="516635" cy="516635"/>
          </a:xfrm>
          <a:prstGeom prst="rect">
            <a:avLst/>
          </a:prstGeom>
          <a:solidFill>
            <a:srgbClr val="338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96,9</a:t>
            </a:r>
          </a:p>
        </p:txBody>
      </p:sp>
      <p:sp>
        <p:nvSpPr>
          <p:cNvPr id="54" name="Heatmap Random Forest r4c0"/>
          <p:cNvSpPr/>
          <p:nvPr/>
        </p:nvSpPr>
        <p:spPr>
          <a:xfrm>
            <a:off x="4722876" y="4251960"/>
            <a:ext cx="516635" cy="516635"/>
          </a:xfrm>
          <a:prstGeom prst="rect">
            <a:avLst/>
          </a:prstGeom>
          <a:solidFill>
            <a:srgbClr val="26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98,5</a:t>
            </a:r>
          </a:p>
        </p:txBody>
      </p:sp>
      <p:sp>
        <p:nvSpPr>
          <p:cNvPr id="55" name="Heatmap Random Forest r4c1"/>
          <p:cNvSpPr/>
          <p:nvPr/>
        </p:nvSpPr>
        <p:spPr>
          <a:xfrm>
            <a:off x="5271516" y="4251960"/>
            <a:ext cx="516635" cy="516635"/>
          </a:xfrm>
          <a:prstGeom prst="rect">
            <a:avLst/>
          </a:prstGeom>
          <a:solidFill>
            <a:srgbClr val="4F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93,5</a:t>
            </a:r>
          </a:p>
        </p:txBody>
      </p:sp>
      <p:sp>
        <p:nvSpPr>
          <p:cNvPr id="56" name="Heatmap Random Forest r4c2"/>
          <p:cNvSpPr/>
          <p:nvPr/>
        </p:nvSpPr>
        <p:spPr>
          <a:xfrm>
            <a:off x="5820156" y="4251960"/>
            <a:ext cx="516635" cy="516635"/>
          </a:xfrm>
          <a:prstGeom prst="rect">
            <a:avLst/>
          </a:prstGeom>
          <a:solidFill>
            <a:srgbClr val="BB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76,9</a:t>
            </a:r>
          </a:p>
        </p:txBody>
      </p:sp>
      <p:sp>
        <p:nvSpPr>
          <p:cNvPr id="57" name="Heatmap Random Forest r4c3"/>
          <p:cNvSpPr/>
          <p:nvPr/>
        </p:nvSpPr>
        <p:spPr>
          <a:xfrm>
            <a:off x="6368796" y="4251960"/>
            <a:ext cx="516635" cy="516635"/>
          </a:xfrm>
          <a:prstGeom prst="rect">
            <a:avLst/>
          </a:prstGeom>
          <a:solidFill>
            <a:srgbClr val="95C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83,3</a:t>
            </a:r>
          </a:p>
        </p:txBody>
      </p:sp>
      <p:sp>
        <p:nvSpPr>
          <p:cNvPr id="58" name="Heatmap Random Forest r4c4"/>
          <p:cNvSpPr/>
          <p:nvPr/>
        </p:nvSpPr>
        <p:spPr>
          <a:xfrm>
            <a:off x="6917436" y="4251960"/>
            <a:ext cx="516635" cy="516635"/>
          </a:xfrm>
          <a:prstGeom prst="rect">
            <a:avLst/>
          </a:prstGeom>
          <a:solidFill>
            <a:srgbClr val="ACD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22876" y="493776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12263A"/>
                </a:solidFill>
                <a:latin typeface="Arial"/>
              </a:rPr>
              <a:t>12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s &gt; 90%</a:t>
            </a:r>
          </a:p>
          <a:p>
            <a:pPr algn="ctr"/>
            <a:r>
              <a:rPr sz="1200" b="0" i="0" dirty="0" err="1">
                <a:solidFill>
                  <a:srgbClr val="5A6672"/>
                </a:solidFill>
                <a:latin typeface="Arial"/>
              </a:rPr>
              <a:t>Média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87,6%  ·  Mediana 90,0%</a:t>
            </a:r>
          </a:p>
        </p:txBody>
      </p:sp>
      <p:sp>
        <p:nvSpPr>
          <p:cNvPr id="60" name="Header SP-NB Queen"/>
          <p:cNvSpPr/>
          <p:nvPr/>
        </p:nvSpPr>
        <p:spPr>
          <a:xfrm>
            <a:off x="8759952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SP-NB Queen</a:t>
            </a:r>
          </a:p>
        </p:txBody>
      </p:sp>
      <p:sp>
        <p:nvSpPr>
          <p:cNvPr id="61" name="Heatmap SP-NB Queen r0c0"/>
          <p:cNvSpPr/>
          <p:nvPr/>
        </p:nvSpPr>
        <p:spPr>
          <a:xfrm>
            <a:off x="8759952" y="2057400"/>
            <a:ext cx="516635" cy="516635"/>
          </a:xfrm>
          <a:prstGeom prst="rect">
            <a:avLst/>
          </a:prstGeom>
          <a:solidFill>
            <a:srgbClr val="50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93,4</a:t>
            </a:r>
          </a:p>
        </p:txBody>
      </p:sp>
      <p:sp>
        <p:nvSpPr>
          <p:cNvPr id="62" name="Heatmap SP-NB Queen r0c1"/>
          <p:cNvSpPr/>
          <p:nvPr/>
        </p:nvSpPr>
        <p:spPr>
          <a:xfrm>
            <a:off x="9308592" y="2057400"/>
            <a:ext cx="516635" cy="516635"/>
          </a:xfrm>
          <a:prstGeom prst="rect">
            <a:avLst/>
          </a:prstGeom>
          <a:solidFill>
            <a:srgbClr val="41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95,2</a:t>
            </a:r>
          </a:p>
        </p:txBody>
      </p:sp>
      <p:sp>
        <p:nvSpPr>
          <p:cNvPr id="63" name="Heatmap SP-NB Queen r0c2"/>
          <p:cNvSpPr/>
          <p:nvPr/>
        </p:nvSpPr>
        <p:spPr>
          <a:xfrm>
            <a:off x="9857232" y="2057400"/>
            <a:ext cx="516635" cy="516635"/>
          </a:xfrm>
          <a:prstGeom prst="rect">
            <a:avLst/>
          </a:prstGeom>
          <a:solidFill>
            <a:srgbClr val="CCE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72,8</a:t>
            </a:r>
          </a:p>
        </p:txBody>
      </p:sp>
      <p:sp>
        <p:nvSpPr>
          <p:cNvPr id="64" name="Heatmap SP-NB Queen r0c3"/>
          <p:cNvSpPr/>
          <p:nvPr/>
        </p:nvSpPr>
        <p:spPr>
          <a:xfrm>
            <a:off x="10405872" y="2057400"/>
            <a:ext cx="516635" cy="516635"/>
          </a:xfrm>
          <a:prstGeom prst="rect">
            <a:avLst/>
          </a:prstGeom>
          <a:solidFill>
            <a:srgbClr val="2B8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97,9</a:t>
            </a:r>
          </a:p>
        </p:txBody>
      </p:sp>
      <p:sp>
        <p:nvSpPr>
          <p:cNvPr id="65" name="Heatmap SP-NB Queen r0c4"/>
          <p:cNvSpPr/>
          <p:nvPr/>
        </p:nvSpPr>
        <p:spPr>
          <a:xfrm>
            <a:off x="10954512" y="2057400"/>
            <a:ext cx="516635" cy="516635"/>
          </a:xfrm>
          <a:prstGeom prst="rect">
            <a:avLst/>
          </a:prstGeom>
          <a:solidFill>
            <a:srgbClr val="60A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91,5</a:t>
            </a:r>
          </a:p>
        </p:txBody>
      </p:sp>
      <p:sp>
        <p:nvSpPr>
          <p:cNvPr id="66" name="Heatmap SP-NB Queen r1c0"/>
          <p:cNvSpPr/>
          <p:nvPr/>
        </p:nvSpPr>
        <p:spPr>
          <a:xfrm>
            <a:off x="8759952" y="2606040"/>
            <a:ext cx="516635" cy="516635"/>
          </a:xfrm>
          <a:prstGeom prst="rect">
            <a:avLst/>
          </a:prstGeom>
          <a:solidFill>
            <a:srgbClr val="409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95,4</a:t>
            </a:r>
          </a:p>
        </p:txBody>
      </p:sp>
      <p:sp>
        <p:nvSpPr>
          <p:cNvPr id="67" name="Heatmap SP-NB Queen r1c1"/>
          <p:cNvSpPr/>
          <p:nvPr/>
        </p:nvSpPr>
        <p:spPr>
          <a:xfrm>
            <a:off x="9308592" y="2606040"/>
            <a:ext cx="516635" cy="516635"/>
          </a:xfrm>
          <a:prstGeom prst="rect">
            <a:avLst/>
          </a:prstGeom>
          <a:solidFill>
            <a:srgbClr val="A0D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81,5</a:t>
            </a:r>
          </a:p>
        </p:txBody>
      </p:sp>
      <p:sp>
        <p:nvSpPr>
          <p:cNvPr id="68" name="Heatmap SP-NB Queen r1c2"/>
          <p:cNvSpPr/>
          <p:nvPr/>
        </p:nvSpPr>
        <p:spPr>
          <a:xfrm>
            <a:off x="9857232" y="2606040"/>
            <a:ext cx="516635" cy="516635"/>
          </a:xfrm>
          <a:prstGeom prst="rect">
            <a:avLst/>
          </a:prstGeom>
          <a:solidFill>
            <a:srgbClr val="5EA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91,7</a:t>
            </a:r>
          </a:p>
        </p:txBody>
      </p:sp>
      <p:sp>
        <p:nvSpPr>
          <p:cNvPr id="69" name="Heatmap SP-NB Queen r1c3"/>
          <p:cNvSpPr/>
          <p:nvPr/>
        </p:nvSpPr>
        <p:spPr>
          <a:xfrm>
            <a:off x="10405872" y="2606040"/>
            <a:ext cx="516635" cy="516635"/>
          </a:xfrm>
          <a:prstGeom prst="rect">
            <a:avLst/>
          </a:prstGeom>
          <a:solidFill>
            <a:srgbClr val="3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96,3</a:t>
            </a:r>
          </a:p>
        </p:txBody>
      </p:sp>
      <p:sp>
        <p:nvSpPr>
          <p:cNvPr id="70" name="Heatmap SP-NB Queen r1c4"/>
          <p:cNvSpPr/>
          <p:nvPr/>
        </p:nvSpPr>
        <p:spPr>
          <a:xfrm>
            <a:off x="10954512" y="2606040"/>
            <a:ext cx="516635" cy="516635"/>
          </a:xfrm>
          <a:prstGeom prst="rect">
            <a:avLst/>
          </a:prstGeom>
          <a:solidFill>
            <a:srgbClr val="489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94,4</a:t>
            </a:r>
          </a:p>
        </p:txBody>
      </p:sp>
      <p:sp>
        <p:nvSpPr>
          <p:cNvPr id="71" name="Heatmap SP-NB Queen r2c0"/>
          <p:cNvSpPr/>
          <p:nvPr/>
        </p:nvSpPr>
        <p:spPr>
          <a:xfrm>
            <a:off x="8759952" y="3154680"/>
            <a:ext cx="516635" cy="516635"/>
          </a:xfrm>
          <a:prstGeom prst="rect">
            <a:avLst/>
          </a:prstGeom>
          <a:solidFill>
            <a:srgbClr val="72B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89,0</a:t>
            </a:r>
          </a:p>
        </p:txBody>
      </p:sp>
      <p:sp>
        <p:nvSpPr>
          <p:cNvPr id="72" name="Heatmap SP-NB Queen r2c1"/>
          <p:cNvSpPr/>
          <p:nvPr/>
        </p:nvSpPr>
        <p:spPr>
          <a:xfrm>
            <a:off x="9308592" y="3154680"/>
            <a:ext cx="516635" cy="516635"/>
          </a:xfrm>
          <a:prstGeom prst="rect">
            <a:avLst/>
          </a:prstGeom>
          <a:solidFill>
            <a:srgbClr val="74B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88,7</a:t>
            </a:r>
          </a:p>
        </p:txBody>
      </p:sp>
      <p:sp>
        <p:nvSpPr>
          <p:cNvPr id="73" name="Heatmap SP-NB Queen r2c2"/>
          <p:cNvSpPr/>
          <p:nvPr/>
        </p:nvSpPr>
        <p:spPr>
          <a:xfrm>
            <a:off x="9857232" y="3154680"/>
            <a:ext cx="516635" cy="516635"/>
          </a:xfrm>
          <a:prstGeom prst="rect">
            <a:avLst/>
          </a:prstGeom>
          <a:solidFill>
            <a:srgbClr val="EEE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58,6</a:t>
            </a:r>
          </a:p>
        </p:txBody>
      </p:sp>
      <p:sp>
        <p:nvSpPr>
          <p:cNvPr id="74" name="Heatmap SP-NB Queen r2c3"/>
          <p:cNvSpPr/>
          <p:nvPr/>
        </p:nvSpPr>
        <p:spPr>
          <a:xfrm>
            <a:off x="10405872" y="3154680"/>
            <a:ext cx="516635" cy="516635"/>
          </a:xfrm>
          <a:prstGeom prst="rect">
            <a:avLst/>
          </a:prstGeom>
          <a:solidFill>
            <a:srgbClr val="6AB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90,2</a:t>
            </a:r>
          </a:p>
        </p:txBody>
      </p:sp>
      <p:sp>
        <p:nvSpPr>
          <p:cNvPr id="75" name="Heatmap SP-NB Queen r2c4"/>
          <p:cNvSpPr/>
          <p:nvPr/>
        </p:nvSpPr>
        <p:spPr>
          <a:xfrm>
            <a:off x="10954512" y="3154680"/>
            <a:ext cx="516635" cy="516635"/>
          </a:xfrm>
          <a:prstGeom prst="rect">
            <a:avLst/>
          </a:prstGeom>
          <a:solidFill>
            <a:srgbClr val="CDE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72,4</a:t>
            </a:r>
          </a:p>
        </p:txBody>
      </p:sp>
      <p:sp>
        <p:nvSpPr>
          <p:cNvPr id="76" name="Heatmap SP-NB Queen r3c0"/>
          <p:cNvSpPr/>
          <p:nvPr/>
        </p:nvSpPr>
        <p:spPr>
          <a:xfrm>
            <a:off x="8759952" y="3703320"/>
            <a:ext cx="516635" cy="516635"/>
          </a:xfrm>
          <a:prstGeom prst="rect">
            <a:avLst/>
          </a:prstGeom>
          <a:solidFill>
            <a:srgbClr val="3B9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96,0</a:t>
            </a:r>
          </a:p>
        </p:txBody>
      </p:sp>
      <p:sp>
        <p:nvSpPr>
          <p:cNvPr id="77" name="Heatmap SP-NB Queen r3c1"/>
          <p:cNvSpPr/>
          <p:nvPr/>
        </p:nvSpPr>
        <p:spPr>
          <a:xfrm>
            <a:off x="9308592" y="3703320"/>
            <a:ext cx="516635" cy="516635"/>
          </a:xfrm>
          <a:prstGeom prst="rect">
            <a:avLst/>
          </a:prstGeom>
          <a:solidFill>
            <a:srgbClr val="6FB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89,5</a:t>
            </a:r>
          </a:p>
        </p:txBody>
      </p:sp>
      <p:sp>
        <p:nvSpPr>
          <p:cNvPr id="78" name="Heatmap SP-NB Queen r3c2"/>
          <p:cNvSpPr/>
          <p:nvPr/>
        </p:nvSpPr>
        <p:spPr>
          <a:xfrm>
            <a:off x="9857232" y="3703320"/>
            <a:ext cx="516635" cy="516635"/>
          </a:xfrm>
          <a:prstGeom prst="rect">
            <a:avLst/>
          </a:prstGeom>
          <a:solidFill>
            <a:srgbClr val="499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94,3</a:t>
            </a:r>
          </a:p>
        </p:txBody>
      </p:sp>
      <p:sp>
        <p:nvSpPr>
          <p:cNvPr id="79" name="Heatmap SP-NB Queen r3c3"/>
          <p:cNvSpPr/>
          <p:nvPr/>
        </p:nvSpPr>
        <p:spPr>
          <a:xfrm>
            <a:off x="10405872" y="3703320"/>
            <a:ext cx="516635" cy="516635"/>
          </a:xfrm>
          <a:prstGeom prst="rect">
            <a:avLst/>
          </a:prstGeom>
          <a:solidFill>
            <a:srgbClr val="5AA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92,2</a:t>
            </a:r>
          </a:p>
        </p:txBody>
      </p:sp>
      <p:sp>
        <p:nvSpPr>
          <p:cNvPr id="80" name="Heatmap SP-NB Queen r3c4"/>
          <p:cNvSpPr/>
          <p:nvPr/>
        </p:nvSpPr>
        <p:spPr>
          <a:xfrm>
            <a:off x="10954512" y="3703320"/>
            <a:ext cx="516635" cy="516635"/>
          </a:xfrm>
          <a:prstGeom prst="rect">
            <a:avLst/>
          </a:prstGeom>
          <a:solidFill>
            <a:srgbClr val="AE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79,2</a:t>
            </a:r>
          </a:p>
        </p:txBody>
      </p:sp>
      <p:sp>
        <p:nvSpPr>
          <p:cNvPr id="81" name="Heatmap SP-NB Queen r4c0"/>
          <p:cNvSpPr/>
          <p:nvPr/>
        </p:nvSpPr>
        <p:spPr>
          <a:xfrm>
            <a:off x="8759952" y="4251960"/>
            <a:ext cx="516635" cy="516635"/>
          </a:xfrm>
          <a:prstGeom prst="rect">
            <a:avLst/>
          </a:prstGeom>
          <a:solidFill>
            <a:srgbClr val="AE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79,2</a:t>
            </a:r>
          </a:p>
        </p:txBody>
      </p:sp>
      <p:sp>
        <p:nvSpPr>
          <p:cNvPr id="82" name="Heatmap SP-NB Queen r4c1"/>
          <p:cNvSpPr/>
          <p:nvPr/>
        </p:nvSpPr>
        <p:spPr>
          <a:xfrm>
            <a:off x="9308592" y="4251960"/>
            <a:ext cx="516635" cy="516635"/>
          </a:xfrm>
          <a:prstGeom prst="rect">
            <a:avLst/>
          </a:prstGeom>
          <a:solidFill>
            <a:srgbClr val="C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73,6</a:t>
            </a:r>
          </a:p>
        </p:txBody>
      </p:sp>
      <p:sp>
        <p:nvSpPr>
          <p:cNvPr id="83" name="Heatmap SP-NB Queen r4c2"/>
          <p:cNvSpPr/>
          <p:nvPr/>
        </p:nvSpPr>
        <p:spPr>
          <a:xfrm>
            <a:off x="9857232" y="4251960"/>
            <a:ext cx="516635" cy="516635"/>
          </a:xfrm>
          <a:prstGeom prst="rect">
            <a:avLst/>
          </a:prstGeom>
          <a:solidFill>
            <a:srgbClr val="238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98,9</a:t>
            </a:r>
          </a:p>
        </p:txBody>
      </p:sp>
      <p:sp>
        <p:nvSpPr>
          <p:cNvPr id="84" name="Heatmap SP-NB Queen r4c3"/>
          <p:cNvSpPr/>
          <p:nvPr/>
        </p:nvSpPr>
        <p:spPr>
          <a:xfrm>
            <a:off x="10405872" y="4251960"/>
            <a:ext cx="516635" cy="516635"/>
          </a:xfrm>
          <a:prstGeom prst="rect">
            <a:avLst/>
          </a:prstGeom>
          <a:solidFill>
            <a:srgbClr val="69B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90,4</a:t>
            </a:r>
          </a:p>
        </p:txBody>
      </p:sp>
      <p:sp>
        <p:nvSpPr>
          <p:cNvPr id="85" name="Heatmap SP-NB Queen r4c4"/>
          <p:cNvSpPr/>
          <p:nvPr/>
        </p:nvSpPr>
        <p:spPr>
          <a:xfrm>
            <a:off x="10954512" y="4251960"/>
            <a:ext cx="516635" cy="516635"/>
          </a:xfrm>
          <a:prstGeom prst="rect">
            <a:avLst/>
          </a:prstGeom>
          <a:solidFill>
            <a:srgbClr val="5EA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91,7</a:t>
            </a:r>
          </a:p>
        </p:txBody>
      </p:sp>
      <p:sp>
        <p:nvSpPr>
          <p:cNvPr id="86" name="Destaque SP-NB"/>
          <p:cNvSpPr/>
          <p:nvPr/>
        </p:nvSpPr>
        <p:spPr>
          <a:xfrm>
            <a:off x="8705088" y="2002536"/>
            <a:ext cx="2816352" cy="2816352"/>
          </a:xfrm>
          <a:prstGeom prst="rect">
            <a:avLst/>
          </a:prstGeom>
          <a:noFill/>
          <a:ln w="285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759952" y="493776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72B2"/>
                </a:solidFill>
                <a:latin typeface="Arial"/>
              </a:rPr>
              <a:t>15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s &gt; 90%</a:t>
            </a:r>
          </a:p>
          <a:p>
            <a:pPr algn="ctr"/>
            <a:r>
              <a:rPr sz="1200" b="0" i="0" dirty="0" err="1">
                <a:solidFill>
                  <a:srgbClr val="5A6672"/>
                </a:solidFill>
                <a:latin typeface="Arial"/>
              </a:rPr>
              <a:t>Média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87,7%  ·  Mediana 91,5%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5961888"/>
            <a:ext cx="2788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dirty="0" err="1">
                <a:solidFill>
                  <a:srgbClr val="5A6672"/>
                </a:solidFill>
                <a:latin typeface="Arial"/>
              </a:rPr>
              <a:t>Acurácia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5A6672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1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(%), </a:t>
            </a:r>
            <a:r>
              <a:rPr sz="1100" b="0" i="0" dirty="0" err="1">
                <a:solidFill>
                  <a:srgbClr val="5A6672"/>
                </a:solidFill>
                <a:latin typeface="Arial"/>
              </a:rPr>
              <a:t>mesma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5A6672"/>
                </a:solidFill>
                <a:latin typeface="Arial"/>
              </a:rPr>
              <a:t>escala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: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66160" y="5989320"/>
            <a:ext cx="384048" cy="219456"/>
          </a:xfrm>
          <a:prstGeom prst="rect">
            <a:avLst/>
          </a:prstGeom>
          <a:solidFill>
            <a:srgbClr val="F7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950208" y="5989320"/>
            <a:ext cx="384048" cy="219456"/>
          </a:xfrm>
          <a:prstGeom prst="rect">
            <a:avLst/>
          </a:prstGeom>
          <a:solidFill>
            <a:srgbClr val="EBE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334256" y="5989320"/>
            <a:ext cx="384048" cy="219456"/>
          </a:xfrm>
          <a:prstGeom prst="rect">
            <a:avLst/>
          </a:prstGeom>
          <a:solidFill>
            <a:srgbClr val="DFE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718304" y="5989320"/>
            <a:ext cx="384048" cy="219456"/>
          </a:xfrm>
          <a:prstGeom prst="rect">
            <a:avLst/>
          </a:prstGeom>
          <a:solidFill>
            <a:srgbClr val="D3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102352" y="5989320"/>
            <a:ext cx="384048" cy="219456"/>
          </a:xfrm>
          <a:prstGeom prst="rect">
            <a:avLst/>
          </a:prstGeom>
          <a:solidFill>
            <a:srgbClr val="C7E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486400" y="5989320"/>
            <a:ext cx="384048" cy="219456"/>
          </a:xfrm>
          <a:prstGeom prst="rect">
            <a:avLst/>
          </a:prstGeom>
          <a:solidFill>
            <a:srgbClr val="A9D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870448" y="5989320"/>
            <a:ext cx="384048" cy="219456"/>
          </a:xfrm>
          <a:prstGeom prst="rect">
            <a:avLst/>
          </a:prstGeom>
          <a:solidFill>
            <a:srgbClr val="8AC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54496" y="5989320"/>
            <a:ext cx="384048" cy="219456"/>
          </a:xfrm>
          <a:prstGeom prst="rect">
            <a:avLst/>
          </a:prstGeom>
          <a:solidFill>
            <a:srgbClr val="6C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638544" y="5989320"/>
            <a:ext cx="384048" cy="219456"/>
          </a:xfrm>
          <a:prstGeom prst="rect">
            <a:avLst/>
          </a:prstGeom>
          <a:solidFill>
            <a:srgbClr val="439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022592" y="5989320"/>
            <a:ext cx="384048" cy="219456"/>
          </a:xfrm>
          <a:prstGeom prst="rect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474720" y="62179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Arial"/>
              </a:rPr>
              <a:t>≤55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0" y="62179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Arial"/>
              </a:rPr>
              <a:t>100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01000" y="5934456"/>
            <a:ext cx="3502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5A6672"/>
                </a:solidFill>
                <a:latin typeface="Arial"/>
              </a:rPr>
              <a:t>RF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acerta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melhor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algu</a:t>
            </a:r>
            <a:r>
              <a:rPr lang="en-US" sz="1100" b="0" i="1" dirty="0" err="1">
                <a:solidFill>
                  <a:srgbClr val="5A6672"/>
                </a:solidFill>
                <a:latin typeface="Arial"/>
              </a:rPr>
              <a:t>mas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100" b="0" i="1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s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isolados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, mas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erra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mais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no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agregado</a:t>
            </a:r>
            <a:endParaRPr sz="1100" b="0" i="1" dirty="0">
              <a:solidFill>
                <a:srgbClr val="5A6672"/>
              </a:solidFill>
              <a:latin typeface="Arial"/>
            </a:endParaRPr>
          </a:p>
        </p:txBody>
      </p:sp>
      <p:pic>
        <p:nvPicPr>
          <p:cNvPr id="112" name="Graphic 111">
            <a:extLst>
              <a:ext uri="{FF2B5EF4-FFF2-40B4-BE49-F238E27FC236}">
                <a16:creationId xmlns:a16="http://schemas.microsoft.com/office/drawing/2014/main" id="{9AC1B20F-C232-AB5C-12BB-DC8A6D41A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113" name="Slide Number Placeholder 5">
            <a:extLst>
              <a:ext uri="{FF2B5EF4-FFF2-40B4-BE49-F238E27FC236}">
                <a16:creationId xmlns:a16="http://schemas.microsoft.com/office/drawing/2014/main" id="{DCB3E837-0DA3-2752-603B-071E1B0A71A5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14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DA9E-7240-5093-4F22-CDB8AA97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2F7AF065-97A1-6B8E-BBB7-953CA4CC014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808555">
              <a:extLst>
                <a:ext uri="{FF2B5EF4-FFF2-40B4-BE49-F238E27FC236}">
                  <a16:creationId xmlns:a16="http://schemas.microsoft.com/office/drawing/2014/main" id="{76D21273-8B57-9067-9770-F86B1A7173C6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btfpColumnGapBlocker276434">
              <a:extLst>
                <a:ext uri="{FF2B5EF4-FFF2-40B4-BE49-F238E27FC236}">
                  <a16:creationId xmlns:a16="http://schemas.microsoft.com/office/drawing/2014/main" id="{AB1B611C-2A31-5541-3377-63F061FF8E2A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2" name="btfpColumnIndicator690704">
              <a:extLst>
                <a:ext uri="{FF2B5EF4-FFF2-40B4-BE49-F238E27FC236}">
                  <a16:creationId xmlns:a16="http://schemas.microsoft.com/office/drawing/2014/main" id="{C88A2595-7672-028C-63CF-7820214E3857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btfpColumnIndicator581855">
              <a:extLst>
                <a:ext uri="{FF2B5EF4-FFF2-40B4-BE49-F238E27FC236}">
                  <a16:creationId xmlns:a16="http://schemas.microsoft.com/office/drawing/2014/main" id="{0A7526DF-6D47-D598-32C3-91B09A6E6C4D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802A39F9-9376-5087-0D85-6D029EBDB58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998981">
              <a:extLst>
                <a:ext uri="{FF2B5EF4-FFF2-40B4-BE49-F238E27FC236}">
                  <a16:creationId xmlns:a16="http://schemas.microsoft.com/office/drawing/2014/main" id="{2C7BE469-1C48-E955-D286-84B2FFF0D542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btfpColumnGapBlocker511986">
              <a:extLst>
                <a:ext uri="{FF2B5EF4-FFF2-40B4-BE49-F238E27FC236}">
                  <a16:creationId xmlns:a16="http://schemas.microsoft.com/office/drawing/2014/main" id="{CCBCA664-4AE0-F1F2-892F-EF210D5D6ECF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btfpColumnIndicator172346">
              <a:extLst>
                <a:ext uri="{FF2B5EF4-FFF2-40B4-BE49-F238E27FC236}">
                  <a16:creationId xmlns:a16="http://schemas.microsoft.com/office/drawing/2014/main" id="{ADB67DD7-154C-E30C-81AA-FE6298FDEC81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619194">
              <a:extLst>
                <a:ext uri="{FF2B5EF4-FFF2-40B4-BE49-F238E27FC236}">
                  <a16:creationId xmlns:a16="http://schemas.microsoft.com/office/drawing/2014/main" id="{DE5E00F6-E21D-7453-5A03-7225C7D3057C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BC5B3749-B247-FAB2-EC04-0673C10847B6}"/>
              </a:ext>
            </a:extLst>
          </p:cNvPr>
          <p:cNvSpPr txBox="1"/>
          <p:nvPr/>
        </p:nvSpPr>
        <p:spPr>
          <a:xfrm>
            <a:off x="685800" y="297513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0072B2"/>
                </a:solidFill>
                <a:latin typeface="Arial"/>
              </a:rPr>
              <a:t>CONCLUSÃO</a:t>
            </a:r>
          </a:p>
        </p:txBody>
      </p:sp>
      <p:sp>
        <p:nvSpPr>
          <p:cNvPr id="3" name="Action title">
            <a:extLst>
              <a:ext uri="{FF2B5EF4-FFF2-40B4-BE49-F238E27FC236}">
                <a16:creationId xmlns:a16="http://schemas.microsoft.com/office/drawing/2014/main" id="{C3E4C5AC-C57D-2950-ED69-AD69FA9F26A8}"/>
              </a:ext>
            </a:extLst>
          </p:cNvPr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 err="1">
                <a:solidFill>
                  <a:srgbClr val="12263A"/>
                </a:solidFill>
                <a:latin typeface="Arial"/>
              </a:rPr>
              <a:t>Incorporar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dependência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espaço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-temporal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melhorou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previsão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neste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experimento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ainda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que com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ganhos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modestos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4D9A66-1FF4-DC47-466D-A69C4D325D43}"/>
              </a:ext>
            </a:extLst>
          </p:cNvPr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57ED9-D68A-5F90-66B9-1B470735BCA1}"/>
              </a:ext>
            </a:extLst>
          </p:cNvPr>
          <p:cNvSpPr txBox="1"/>
          <p:nvPr/>
        </p:nvSpPr>
        <p:spPr>
          <a:xfrm>
            <a:off x="1417320" y="1746504"/>
            <a:ext cx="60350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 err="1">
                <a:solidFill>
                  <a:srgbClr val="12263A"/>
                </a:solidFill>
                <a:latin typeface="Arial"/>
              </a:rPr>
              <a:t>Modelos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tradicionais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seguem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úteis</a:t>
            </a:r>
            <a:endParaRPr sz="19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21187-5974-27C2-06D7-853F0A06A36D}"/>
              </a:ext>
            </a:extLst>
          </p:cNvPr>
          <p:cNvSpPr txBox="1"/>
          <p:nvPr/>
        </p:nvSpPr>
        <p:spPr>
          <a:xfrm>
            <a:off x="1417320" y="2148840"/>
            <a:ext cx="6035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B1B1B"/>
                </a:solidFill>
                <a:latin typeface="Arial"/>
              </a:rPr>
              <a:t>A NB é um benchmark forte: RMSE </a:t>
            </a:r>
            <a:r>
              <a:rPr lang="pt-BR" sz="14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mês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só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0,4%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acima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do SP-NB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14DD13-65EB-E299-73FB-B151E7836D30}"/>
              </a:ext>
            </a:extLst>
          </p:cNvPr>
          <p:cNvSpPr/>
          <p:nvPr/>
        </p:nvSpPr>
        <p:spPr>
          <a:xfrm>
            <a:off x="685800" y="2807208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CE73E-D9A9-2D72-7216-387935E4F71C}"/>
              </a:ext>
            </a:extLst>
          </p:cNvPr>
          <p:cNvSpPr txBox="1"/>
          <p:nvPr/>
        </p:nvSpPr>
        <p:spPr>
          <a:xfrm>
            <a:off x="1417320" y="2770632"/>
            <a:ext cx="60350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RF traz flexibilidade, mas não bastou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55714-A228-5941-37E4-4CF3B2F9868D}"/>
              </a:ext>
            </a:extLst>
          </p:cNvPr>
          <p:cNvSpPr txBox="1"/>
          <p:nvPr/>
        </p:nvSpPr>
        <p:spPr>
          <a:xfrm>
            <a:off x="1417320" y="3172968"/>
            <a:ext cx="6035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Capta não linearidades, porém teve R² de 0,48 e subestimou o total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C33241-2B4F-8D51-F9F8-07554957B7E9}"/>
              </a:ext>
            </a:extLst>
          </p:cNvPr>
          <p:cNvSpPr/>
          <p:nvPr/>
        </p:nvSpPr>
        <p:spPr>
          <a:xfrm>
            <a:off x="685800" y="3831336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D2EBA-1841-2663-CCBE-1080739AF932}"/>
              </a:ext>
            </a:extLst>
          </p:cNvPr>
          <p:cNvSpPr txBox="1"/>
          <p:nvPr/>
        </p:nvSpPr>
        <p:spPr>
          <a:xfrm>
            <a:off x="1417320" y="3794760"/>
            <a:ext cx="60350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SP-NB Queen liderou todos os critérios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98FD6-8ED6-EE9E-0C51-79AD3DFA3B0C}"/>
              </a:ext>
            </a:extLst>
          </p:cNvPr>
          <p:cNvSpPr txBox="1"/>
          <p:nvPr/>
        </p:nvSpPr>
        <p:spPr>
          <a:xfrm>
            <a:off x="1417320" y="4197096"/>
            <a:ext cx="6035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B1B1B"/>
                </a:solidFill>
                <a:latin typeface="Arial"/>
              </a:rPr>
              <a:t>Ao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incorporar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os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vizinhos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teve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o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menor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erro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e 15 </a:t>
            </a:r>
            <a:r>
              <a:rPr lang="pt-BR" sz="14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s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acima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de 90%</a:t>
            </a:r>
          </a:p>
        </p:txBody>
      </p:sp>
      <p:sp>
        <p:nvSpPr>
          <p:cNvPr id="15" name="Limitação">
            <a:extLst>
              <a:ext uri="{FF2B5EF4-FFF2-40B4-BE49-F238E27FC236}">
                <a16:creationId xmlns:a16="http://schemas.microsoft.com/office/drawing/2014/main" id="{36B0A15A-3681-2084-28C5-D3794FD15334}"/>
              </a:ext>
            </a:extLst>
          </p:cNvPr>
          <p:cNvSpPr/>
          <p:nvPr/>
        </p:nvSpPr>
        <p:spPr>
          <a:xfrm>
            <a:off x="7863840" y="1783080"/>
            <a:ext cx="3639312" cy="2377440"/>
          </a:xfrm>
          <a:prstGeom prst="roundRect">
            <a:avLst>
              <a:gd name="adj" fmla="val 4000"/>
            </a:avLst>
          </a:prstGeom>
          <a:solidFill>
            <a:srgbClr val="1C3550"/>
          </a:solidFill>
          <a:ln w="12700">
            <a:solidFill>
              <a:srgbClr val="2E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4D69B-79BD-4440-93B8-12F010C0289D}"/>
              </a:ext>
            </a:extLst>
          </p:cNvPr>
          <p:cNvSpPr txBox="1"/>
          <p:nvPr/>
        </p:nvSpPr>
        <p:spPr>
          <a:xfrm>
            <a:off x="8092440" y="19385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6B4E9"/>
                </a:solidFill>
                <a:latin typeface="Arial"/>
              </a:rPr>
              <a:t>Limitação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0002F0-C0BC-10A9-CE4D-D6C1EC1C9AFA}"/>
              </a:ext>
            </a:extLst>
          </p:cNvPr>
          <p:cNvSpPr txBox="1"/>
          <p:nvPr/>
        </p:nvSpPr>
        <p:spPr>
          <a:xfrm>
            <a:off x="8092440" y="2331720"/>
            <a:ext cx="3200400" cy="1102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 dirty="0">
                <a:solidFill>
                  <a:srgbClr val="FFFFFF"/>
                </a:solidFill>
                <a:latin typeface="Arial"/>
              </a:rPr>
              <a:t>A base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contém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componente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simulado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(o ψ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verdadeiro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é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conhecido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) e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cobre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uma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única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área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de 25 </a:t>
            </a:r>
            <a:r>
              <a:rPr lang="pt-BR" sz="1300" b="0" i="0" dirty="0">
                <a:solidFill>
                  <a:srgbClr val="FFFFFF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s.</a:t>
            </a:r>
          </a:p>
          <a:p>
            <a:pPr algn="l">
              <a:spcAft>
                <a:spcPts val="800"/>
              </a:spcAft>
            </a:pPr>
            <a:r>
              <a:rPr sz="1300" b="0" i="0" dirty="0" err="1">
                <a:solidFill>
                  <a:srgbClr val="FFFFFF"/>
                </a:solidFill>
                <a:latin typeface="Arial"/>
              </a:rPr>
              <a:t>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resultados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precisam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ser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validados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em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uma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base real de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sinistros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317E3-529B-FC01-863A-790E00C1795E}"/>
              </a:ext>
            </a:extLst>
          </p:cNvPr>
          <p:cNvSpPr txBox="1"/>
          <p:nvPr/>
        </p:nvSpPr>
        <p:spPr>
          <a:xfrm>
            <a:off x="685800" y="5029200"/>
            <a:ext cx="10817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E69F00"/>
                </a:solidFill>
                <a:latin typeface="Arial"/>
              </a:rPr>
              <a:t>Próximo</a:t>
            </a:r>
            <a:r>
              <a:rPr sz="1600" b="1" i="0" dirty="0">
                <a:solidFill>
                  <a:srgbClr val="E69F00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E69F00"/>
                </a:solidFill>
                <a:latin typeface="Arial"/>
              </a:rPr>
              <a:t>passo</a:t>
            </a:r>
            <a:r>
              <a:rPr sz="1600" b="1" i="0" dirty="0">
                <a:solidFill>
                  <a:srgbClr val="E69F00"/>
                </a:solidFill>
                <a:latin typeface="Arial"/>
              </a:rPr>
              <a:t>:</a:t>
            </a:r>
            <a:r>
              <a:rPr sz="1600" b="1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validar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em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dados reais e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testar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outras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definições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de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choque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e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vizinhança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.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C18D7C7-73EB-DB7B-B253-C342048A8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49CA43E8-B8E5-7F8F-E89F-C4A62A8D72A3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15</a:t>
            </a:fld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9759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tfpColumnIndicatorGroup2">
            <a:extLst>
              <a:ext uri="{FF2B5EF4-FFF2-40B4-BE49-F238E27FC236}">
                <a16:creationId xmlns:a16="http://schemas.microsoft.com/office/drawing/2014/main" id="{D4C4836A-6A8D-DED8-8B07-A7A7E8F64A0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3" name="btfpColumnGapBlocker466933">
              <a:extLst>
                <a:ext uri="{FF2B5EF4-FFF2-40B4-BE49-F238E27FC236}">
                  <a16:creationId xmlns:a16="http://schemas.microsoft.com/office/drawing/2014/main" id="{04589C90-D421-07E3-9168-6122D1D8DF9B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btfpColumnGapBlocker307691">
              <a:extLst>
                <a:ext uri="{FF2B5EF4-FFF2-40B4-BE49-F238E27FC236}">
                  <a16:creationId xmlns:a16="http://schemas.microsoft.com/office/drawing/2014/main" id="{7EF6070E-253D-A86B-470D-90CF6FDF1FE0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" name="btfpColumnIndicator953289">
              <a:extLst>
                <a:ext uri="{FF2B5EF4-FFF2-40B4-BE49-F238E27FC236}">
                  <a16:creationId xmlns:a16="http://schemas.microsoft.com/office/drawing/2014/main" id="{C4023318-C799-CF66-952D-4A17BB6439F7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985185">
              <a:extLst>
                <a:ext uri="{FF2B5EF4-FFF2-40B4-BE49-F238E27FC236}">
                  <a16:creationId xmlns:a16="http://schemas.microsoft.com/office/drawing/2014/main" id="{56FEBC5F-9271-27F0-026A-72950BA6FD2E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btfpColumnIndicatorGroup1">
            <a:extLst>
              <a:ext uri="{FF2B5EF4-FFF2-40B4-BE49-F238E27FC236}">
                <a16:creationId xmlns:a16="http://schemas.microsoft.com/office/drawing/2014/main" id="{67B94AE0-D58C-0A85-AA80-1CE0084F775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2" name="btfpColumnGapBlocker409577">
              <a:extLst>
                <a:ext uri="{FF2B5EF4-FFF2-40B4-BE49-F238E27FC236}">
                  <a16:creationId xmlns:a16="http://schemas.microsoft.com/office/drawing/2014/main" id="{994893CB-E705-A5E0-3DE0-3C8C8D22888F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btfpColumnGapBlocker847457">
              <a:extLst>
                <a:ext uri="{FF2B5EF4-FFF2-40B4-BE49-F238E27FC236}">
                  <a16:creationId xmlns:a16="http://schemas.microsoft.com/office/drawing/2014/main" id="{AF53E3A9-54D0-45E5-8FAE-6C47010DCB8C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btfpColumnIndicator120770">
              <a:extLst>
                <a:ext uri="{FF2B5EF4-FFF2-40B4-BE49-F238E27FC236}">
                  <a16:creationId xmlns:a16="http://schemas.microsoft.com/office/drawing/2014/main" id="{18EABC69-3C94-0C67-AF8F-6A36B12EB666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269176">
              <a:extLst>
                <a:ext uri="{FF2B5EF4-FFF2-40B4-BE49-F238E27FC236}">
                  <a16:creationId xmlns:a16="http://schemas.microsoft.com/office/drawing/2014/main" id="{D916AC20-763C-7FC2-A3BD-9EE9257EEA3A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Referências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17352" cy="3785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B1B1B"/>
                </a:solidFill>
                <a:latin typeface="Arial"/>
              </a:rPr>
              <a:t>BOUDREAULT, M.; CLACHER, I.; LI, J. S.-H.; PIGOTT, C.; ZHOU, R. A changing climate for actuarial science. </a:t>
            </a:r>
            <a:r>
              <a:rPr lang="en-US" sz="1400" b="1" dirty="0">
                <a:solidFill>
                  <a:srgbClr val="1B1B1B"/>
                </a:solidFill>
                <a:latin typeface="Arial"/>
              </a:rPr>
              <a:t>Annals of Actuarial Science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, Cambridge, v. 17, p. 415–419, 2023. DOI: 10.1017/S1748499523000222.</a:t>
            </a: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B1B1B"/>
                </a:solidFill>
                <a:latin typeface="Arial"/>
              </a:rPr>
              <a:t>CLIMATE HAZARDS CENTER (CHC). </a:t>
            </a:r>
            <a:r>
              <a:rPr lang="en-US" sz="1400" b="1" dirty="0">
                <a:solidFill>
                  <a:srgbClr val="1B1B1B"/>
                </a:solidFill>
                <a:latin typeface="Arial"/>
              </a:rPr>
              <a:t>CHIRPS: Climate Hazards Group InfraRed Precipitation with Station data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. Santa Barbara: University of California, Santa Barbara. </a:t>
            </a:r>
            <a:r>
              <a:rPr lang="en-US" sz="1400" dirty="0" err="1">
                <a:solidFill>
                  <a:srgbClr val="1B1B1B"/>
                </a:solidFill>
                <a:latin typeface="Arial"/>
              </a:rPr>
              <a:t>Disponível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400" dirty="0" err="1">
                <a:solidFill>
                  <a:srgbClr val="1B1B1B"/>
                </a:solidFill>
                <a:latin typeface="Arial"/>
              </a:rPr>
              <a:t>em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: https://www.chc.ucsb.edu/data/chirps. </a:t>
            </a:r>
            <a:r>
              <a:rPr lang="en-US" sz="1400" dirty="0" err="1">
                <a:solidFill>
                  <a:srgbClr val="1B1B1B"/>
                </a:solidFill>
                <a:latin typeface="Arial"/>
              </a:rPr>
              <a:t>Acesso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400" dirty="0" err="1">
                <a:solidFill>
                  <a:srgbClr val="1B1B1B"/>
                </a:solidFill>
                <a:latin typeface="Arial"/>
              </a:rPr>
              <a:t>em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: [</a:t>
            </a:r>
            <a:r>
              <a:rPr lang="en-US" sz="1400" dirty="0" err="1">
                <a:solidFill>
                  <a:srgbClr val="1B1B1B"/>
                </a:solidFill>
                <a:latin typeface="Arial"/>
              </a:rPr>
              <a:t>dia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400" dirty="0" err="1">
                <a:solidFill>
                  <a:srgbClr val="1B1B1B"/>
                </a:solidFill>
                <a:latin typeface="Arial"/>
              </a:rPr>
              <a:t>mês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400" dirty="0" err="1">
                <a:solidFill>
                  <a:srgbClr val="1B1B1B"/>
                </a:solidFill>
                <a:latin typeface="Arial"/>
              </a:rPr>
              <a:t>ano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].</a:t>
            </a:r>
            <a:endParaRPr lang="en-US" sz="14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1400" b="0" i="0" dirty="0">
                <a:solidFill>
                  <a:srgbClr val="1B1B1B"/>
                </a:solidFill>
                <a:latin typeface="Arial"/>
              </a:rPr>
              <a:t>CRED/UCLOUVAIN. </a:t>
            </a:r>
            <a:r>
              <a:rPr sz="1400" b="1" i="0" dirty="0">
                <a:solidFill>
                  <a:srgbClr val="1B1B1B"/>
                </a:solidFill>
                <a:latin typeface="Arial"/>
              </a:rPr>
              <a:t>EM-DAT: The International Disaster Database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Bruxelas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Disponível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em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: www.emdat.be.</a:t>
            </a:r>
            <a:endParaRPr lang="en-US" sz="14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1400" b="0" i="0" dirty="0">
                <a:solidFill>
                  <a:srgbClr val="1B1B1B"/>
                </a:solidFill>
                <a:latin typeface="Arial"/>
              </a:rPr>
              <a:t>GUDMUNDARSON, R. L.; TZOUGAS, G.; CHRISTOPOULOS, D. Insurance ratemaking for climate-related claim counts using mixed Poisson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spatio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-temporal and temporal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Besag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regression models. </a:t>
            </a:r>
            <a:r>
              <a:rPr sz="1400" b="1" i="0" dirty="0">
                <a:solidFill>
                  <a:srgbClr val="1B1B1B"/>
                </a:solidFill>
                <a:latin typeface="Arial"/>
              </a:rPr>
              <a:t>European Actuarial Journal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, 2026. DOI: 10.1007/s13385-025-00443</a:t>
            </a:r>
            <a:r>
              <a:rPr lang="pt-BR" sz="14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6.</a:t>
            </a:r>
            <a:endParaRPr lang="en-US" sz="1400" dirty="0">
              <a:solidFill>
                <a:srgbClr val="1B1B1B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B1B1B"/>
                </a:solidFill>
                <a:latin typeface="Arial"/>
              </a:rPr>
              <a:t>JESSUP, S.; MAILHOT, M.; PIGEON, M. Impact of combination methods on extreme precipitation projections. </a:t>
            </a:r>
            <a:r>
              <a:rPr lang="en-US" sz="1400" b="1" dirty="0">
                <a:solidFill>
                  <a:srgbClr val="1B1B1B"/>
                </a:solidFill>
                <a:latin typeface="Arial"/>
              </a:rPr>
              <a:t>Annals of Actuarial Science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, Cambridge, v. 17, p. 459–478, 2023. DOI: 10.1017/S174849952300009X.</a:t>
            </a:r>
          </a:p>
          <a:p>
            <a:pPr>
              <a:spcAft>
                <a:spcPts val="1000"/>
              </a:spcAft>
            </a:pPr>
            <a:r>
              <a:rPr lang="pt-BR" sz="1400" dirty="0">
                <a:solidFill>
                  <a:srgbClr val="1B1B1B"/>
                </a:solidFill>
                <a:latin typeface="Arial"/>
              </a:rPr>
              <a:t>TAVARES, G. S. </a:t>
            </a:r>
            <a:r>
              <a:rPr lang="pt-BR" sz="1400" b="1" dirty="0">
                <a:solidFill>
                  <a:srgbClr val="1B1B1B"/>
                </a:solidFill>
                <a:latin typeface="Arial"/>
              </a:rPr>
              <a:t>Teoria dos valores extremos aplicada à precipitação em Taquari/RS</a:t>
            </a:r>
            <a:r>
              <a:rPr lang="pt-BR" sz="1400" dirty="0">
                <a:solidFill>
                  <a:srgbClr val="1B1B1B"/>
                </a:solidFill>
                <a:latin typeface="Arial"/>
              </a:rPr>
              <a:t>. 2026. Trabalho de Conclusão de Curso de Ciências Atuariais – Universidade Federal do Rio de Janeiro, Rio de Janeiro, 2026.</a:t>
            </a:r>
            <a:endParaRPr lang="en-US" sz="1400" dirty="0">
              <a:solidFill>
                <a:srgbClr val="1B1B1B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B1B1B"/>
                </a:solidFill>
                <a:latin typeface="Arial"/>
              </a:rPr>
              <a:t>ZOU, J.; ODENING, M.; OKHRIN, O. Plant growth stages and weather index insurance design. </a:t>
            </a:r>
            <a:r>
              <a:rPr lang="en-US" sz="1400" b="1" dirty="0">
                <a:solidFill>
                  <a:srgbClr val="1B1B1B"/>
                </a:solidFill>
                <a:latin typeface="Arial"/>
              </a:rPr>
              <a:t>Annals of Actuarial Science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, Cambridge, v. 17, p. 438–458, 2023. DOI: 10.1017/S1748499523000167.</a:t>
            </a:r>
            <a:endParaRPr sz="1400" b="0" i="0" dirty="0">
              <a:solidFill>
                <a:srgbClr val="1B1B1B"/>
              </a:solidFill>
              <a:latin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.&quot; ThousandSeparator=&quot;,&quot; NegativeNumberFormat=&quot;1&quot; /&gt;&lt;DateFormat CultureID=&quot;1046&quot; FormatString=&quot;dd/MM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2713</Words>
  <Application>Microsoft Office PowerPoint</Application>
  <PresentationFormat>Widescreen</PresentationFormat>
  <Paragraphs>427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Cambria</vt:lpstr>
      <vt:lpstr>Office Theme</vt:lpstr>
      <vt:lpstr>thinkcell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Segregacao por perfil de risco - SIAc 2026</dc:title>
  <dc:subject>PptxGenJS Presentation</dc:subject>
  <dc:creator>Patrick Oliveira</dc:creator>
  <cp:lastModifiedBy>Oliveira, Patrick</cp:lastModifiedBy>
  <cp:revision>9</cp:revision>
  <dcterms:created xsi:type="dcterms:W3CDTF">2026-08-10T15:16:09Z</dcterms:created>
  <dcterms:modified xsi:type="dcterms:W3CDTF">2026-10-06T03:18:53Z</dcterms:modified>
</cp:coreProperties>
</file>